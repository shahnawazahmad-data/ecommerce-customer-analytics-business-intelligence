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1.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2.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3.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14.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15.xml" ContentType="application/vnd.openxmlformats-officedocument.presentationml.notesSlide+xml"/>
  <Override PartName="/ppt/charts/chart17.xml" ContentType="application/vnd.openxmlformats-officedocument.drawingml.chart+xml"/>
  <Override PartName="/ppt/notesSlides/notesSlide16.xml" ContentType="application/vnd.openxmlformats-officedocument.presentationml.notesSlide+xml"/>
  <Override PartName="/ppt/charts/chart18.xml" ContentType="application/vnd.openxmlformats-officedocument.drawingml.chart+xml"/>
  <Override PartName="/ppt/notesSlides/notesSlide17.xml" ContentType="application/vnd.openxmlformats-officedocument.presentationml.notesSlide+xml"/>
  <Override PartName="/ppt/charts/chart19.xml" ContentType="application/vnd.openxmlformats-officedocument.drawingml.chart+xml"/>
  <Override PartName="/ppt/charts/chart20.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1.xml" ContentType="application/vnd.openxmlformats-officedocument.drawingml.chart+xml"/>
  <Override PartName="/ppt/notesSlides/notesSlide20.xml" ContentType="application/vnd.openxmlformats-officedocument.presentationml.notesSlide+xml"/>
  <Override PartName="/ppt/charts/chart2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67" r:id="rId14"/>
    <p:sldId id="268" r:id="rId15"/>
    <p:sldId id="269"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6256000" cy="9144000"/>
  <p:notesSz cx="9144000" cy="16256000"/>
  <p:embeddedFontLst>
    <p:embeddedFont>
      <p:font typeface="微软雅黑" panose="020B0503020204020204" pitchFamily="34" charset="-122"/>
      <p:regular r:id="rId34"/>
      <p:bold r:id="rId35"/>
    </p:embeddedFont>
    <p:embeddedFont>
      <p:font typeface="Quattrocento Sans" panose="020B0502050000020003"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C58940"/>
    <a:srgbClr val="1A7A7A"/>
    <a:srgbClr val="0B3C3D"/>
    <a:srgbClr val="75B44A"/>
    <a:srgbClr val="007E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62" d="100"/>
          <a:sy n="62" d="100"/>
        </p:scale>
        <p:origin x="696" y="6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2.xml"/><Relationship Id="rId1" Type="http://schemas.microsoft.com/office/2011/relationships/chartStyle" Target="style2.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en-US" sz="1600" b="1" i="0" u="none" strike="noStrike" baseline="0" dirty="0"/>
              <a:t>Quarterly Revenue Trend</a:t>
            </a:r>
            <a:endParaRPr lang="en-US" sz="1600" dirty="0"/>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Revenue (M)</c:v>
                </c:pt>
              </c:strCache>
            </c:strRef>
          </c:tx>
          <c:spPr>
            <a:ln w="19050" cap="rnd" cmpd="sng" algn="ctr">
              <a:solidFill>
                <a:schemeClr val="accent2"/>
              </a:solidFill>
              <a:prstDash val="solid"/>
              <a:round/>
            </a:ln>
            <a:effectLst/>
          </c:spPr>
          <c:marker>
            <c:symbol val="circle"/>
            <c:size val="6"/>
            <c:spPr>
              <a:solidFill>
                <a:schemeClr val="accent2"/>
              </a:solidFill>
              <a:ln w="6350" cap="flat" cmpd="sng" algn="ctr">
                <a:solidFill>
                  <a:schemeClr val="accent2"/>
                </a:solidFill>
                <a:prstDash val="solid"/>
                <a:round/>
              </a:ln>
              <a:effectLst/>
            </c:spPr>
          </c:marker>
          <c:cat>
            <c:strRef>
              <c:f>Sheet1!$A$2:$A$19</c:f>
              <c:strCache>
                <c:ptCount val="18"/>
                <c:pt idx="0">
                  <c:v>2021-Q2</c:v>
                </c:pt>
                <c:pt idx="1">
                  <c:v>2021-Q3</c:v>
                </c:pt>
                <c:pt idx="2">
                  <c:v>2021-Q4</c:v>
                </c:pt>
                <c:pt idx="3">
                  <c:v>2022-Q1</c:v>
                </c:pt>
                <c:pt idx="4">
                  <c:v>2022-Q2</c:v>
                </c:pt>
                <c:pt idx="5">
                  <c:v>2022-Q3</c:v>
                </c:pt>
                <c:pt idx="6">
                  <c:v>2022-Q4</c:v>
                </c:pt>
                <c:pt idx="7">
                  <c:v>2023-Q1</c:v>
                </c:pt>
                <c:pt idx="8">
                  <c:v>2023-Q2</c:v>
                </c:pt>
                <c:pt idx="9">
                  <c:v>2023-Q3</c:v>
                </c:pt>
                <c:pt idx="10">
                  <c:v>2023-Q4</c:v>
                </c:pt>
                <c:pt idx="11">
                  <c:v>2024-Q1</c:v>
                </c:pt>
                <c:pt idx="12">
                  <c:v>2024-Q2</c:v>
                </c:pt>
                <c:pt idx="13">
                  <c:v>2024-Q3</c:v>
                </c:pt>
                <c:pt idx="14">
                  <c:v>2024-Q4</c:v>
                </c:pt>
                <c:pt idx="15">
                  <c:v>2025-Q1</c:v>
                </c:pt>
                <c:pt idx="16">
                  <c:v>2025-Q2</c:v>
                </c:pt>
                <c:pt idx="17">
                  <c:v>2025-Q3</c:v>
                </c:pt>
              </c:strCache>
            </c:strRef>
          </c:cat>
          <c:val>
            <c:numRef>
              <c:f>Sheet1!$B$2:$B$19</c:f>
              <c:numCache>
                <c:formatCode>General</c:formatCode>
                <c:ptCount val="18"/>
                <c:pt idx="0">
                  <c:v>42</c:v>
                </c:pt>
                <c:pt idx="1">
                  <c:v>55</c:v>
                </c:pt>
                <c:pt idx="2">
                  <c:v>92</c:v>
                </c:pt>
                <c:pt idx="3">
                  <c:v>48</c:v>
                </c:pt>
                <c:pt idx="4">
                  <c:v>52</c:v>
                </c:pt>
                <c:pt idx="5">
                  <c:v>60</c:v>
                </c:pt>
                <c:pt idx="6">
                  <c:v>97</c:v>
                </c:pt>
                <c:pt idx="7">
                  <c:v>50</c:v>
                </c:pt>
                <c:pt idx="8">
                  <c:v>55</c:v>
                </c:pt>
                <c:pt idx="9">
                  <c:v>68</c:v>
                </c:pt>
                <c:pt idx="10">
                  <c:v>100</c:v>
                </c:pt>
                <c:pt idx="11">
                  <c:v>52</c:v>
                </c:pt>
                <c:pt idx="12">
                  <c:v>58</c:v>
                </c:pt>
                <c:pt idx="13">
                  <c:v>72</c:v>
                </c:pt>
                <c:pt idx="14">
                  <c:v>105</c:v>
                </c:pt>
                <c:pt idx="15">
                  <c:v>55</c:v>
                </c:pt>
                <c:pt idx="16">
                  <c:v>62</c:v>
                </c:pt>
                <c:pt idx="17">
                  <c:v>70</c:v>
                </c:pt>
              </c:numCache>
            </c:numRef>
          </c:val>
          <c:smooth val="1"/>
          <c:extLst>
            <c:ext xmlns:c16="http://schemas.microsoft.com/office/drawing/2014/chart" uri="{C3380CC4-5D6E-409C-BE32-E72D297353CC}">
              <c16:uniqueId val="{00000000-5149-42AA-B541-39A121D40AC6}"/>
            </c:ext>
          </c:extLst>
        </c:ser>
        <c:dLbls>
          <c:showLegendKey val="0"/>
          <c:showVal val="0"/>
          <c:showCatName val="0"/>
          <c:showSerName val="0"/>
          <c:showPercent val="0"/>
          <c:showBubbleSize val="0"/>
        </c:dLbls>
        <c:marker val="1"/>
        <c:smooth val="0"/>
        <c:axId val="274200640"/>
        <c:axId val="274195744"/>
      </c:lineChart>
      <c:catAx>
        <c:axId val="274200640"/>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r>
                  <a:rPr lang="en-US" sz="1200" b="1" i="0" u="none" strike="noStrike" baseline="0" dirty="0"/>
                  <a:t>Quarter</a:t>
                </a:r>
                <a:endParaRPr lang="en-US" sz="1200" dirty="0"/>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title>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1000" b="0" i="0" u="none" strike="noStrike" kern="1200" baseline="0">
                <a:solidFill>
                  <a:srgbClr val="333333"/>
                </a:solidFill>
                <a:latin typeface="Arial"/>
                <a:ea typeface="+mn-ea"/>
                <a:cs typeface="+mn-cs"/>
              </a:defRPr>
            </a:pPr>
            <a:endParaRPr lang="en-US"/>
          </a:p>
        </c:txPr>
        <c:crossAx val="274195744"/>
        <c:crosses val="autoZero"/>
        <c:auto val="1"/>
        <c:lblAlgn val="ctr"/>
        <c:lblOffset val="100"/>
        <c:noMultiLvlLbl val="1"/>
      </c:catAx>
      <c:valAx>
        <c:axId val="274195744"/>
        <c:scaling>
          <c:orientation val="minMax"/>
        </c:scaling>
        <c:delete val="0"/>
        <c:axPos val="l"/>
        <c:majorGridlines>
          <c:spPr>
            <a:ln w="12700" cap="flat" cmpd="sng" algn="ctr">
              <a:solidFill>
                <a:srgbClr val="E0E0E0"/>
              </a:solidFill>
              <a:prstDash val="dot"/>
              <a:round/>
            </a:ln>
            <a:effectLst/>
          </c:spPr>
        </c:majorGridlines>
        <c:title>
          <c:tx>
            <c:rich>
              <a:bodyPr rot="-5400000" spcFirstLastPara="1" vertOverflow="ellipsis" vert="horz" wrap="square" anchor="ctr" anchorCtr="1"/>
              <a:lstStyle/>
              <a:p>
                <a:pPr>
                  <a:defRPr sz="1200" b="1" i="0" u="none" strike="noStrike" kern="1200" baseline="0">
                    <a:solidFill>
                      <a:schemeClr val="tx1"/>
                    </a:solidFill>
                    <a:latin typeface="+mn-lt"/>
                    <a:ea typeface="+mn-ea"/>
                    <a:cs typeface="+mn-cs"/>
                  </a:defRPr>
                </a:pPr>
                <a:r>
                  <a:rPr lang="en-US" sz="1200" b="1" i="0" u="none" strike="noStrike" baseline="0" dirty="0"/>
                  <a:t>Revenue (M)</a:t>
                </a:r>
                <a:endParaRPr lang="en-US" sz="1200" dirty="0"/>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title>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1100" b="0" i="0" u="none" strike="noStrike" kern="1200" baseline="0">
                <a:solidFill>
                  <a:srgbClr val="333333"/>
                </a:solidFill>
                <a:latin typeface="Arial"/>
                <a:ea typeface="+mn-ea"/>
                <a:cs typeface="+mn-cs"/>
              </a:defRPr>
            </a:pPr>
            <a:endParaRPr lang="en-US"/>
          </a:p>
        </c:txPr>
        <c:crossAx val="274200640"/>
        <c:crosses val="autoZero"/>
        <c:crossBetween val="between"/>
      </c:valAx>
      <c:spPr>
        <a:solidFill>
          <a:srgbClr val="F3F1EC"/>
        </a:solidFill>
        <a:ln>
          <a:noFill/>
        </a:ln>
        <a:effectLst/>
      </c:spPr>
    </c:plotArea>
    <c:plotVisOnly val="1"/>
    <c:dispBlanksAs val="span"/>
    <c:showDLblsOverMax val="1"/>
  </c:chart>
  <c:spPr>
    <a:noFill/>
    <a:ln w="6350" cap="flat" cmpd="sng" algn="ctr">
      <a:noFill/>
      <a:prstDash val="solid"/>
      <a:miter lim="800000"/>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i="0" u="none" strike="noStrike" baseline="0" dirty="0"/>
              <a:t>Customer Segment Distribution</a:t>
            </a:r>
            <a:endParaRPr lang="en-US" sz="1600" dirty="0"/>
          </a:p>
        </c:rich>
      </c:tx>
      <c:overlay val="0"/>
    </c:title>
    <c:autoTitleDeleted val="0"/>
    <c:plotArea>
      <c:layout/>
      <c:doughnutChart>
        <c:varyColors val="1"/>
        <c:ser>
          <c:idx val="0"/>
          <c:order val="0"/>
          <c:tx>
            <c:strRef>
              <c:f>Sheet1!$B$1</c:f>
              <c:strCache>
                <c:ptCount val="1"/>
                <c:pt idx="0">
                  <c:v>count</c:v>
                </c:pt>
              </c:strCache>
            </c:strRef>
          </c:tx>
          <c:spPr>
            <a:solidFill>
              <a:schemeClr val="accent1"/>
            </a:solidFill>
            <a:ln w="9525" cap="flat">
              <a:solidFill>
                <a:srgbClr val="F9F9F9"/>
              </a:solidFill>
              <a:prstDash val="solid"/>
              <a:round/>
            </a:ln>
            <a:effectLst/>
          </c:spPr>
          <c:dPt>
            <c:idx val="0"/>
            <c:bubble3D val="0"/>
            <c:spPr>
              <a:solidFill>
                <a:srgbClr val="0B3C3D"/>
              </a:solidFill>
              <a:effectLst/>
            </c:spPr>
            <c:extLst>
              <c:ext xmlns:c16="http://schemas.microsoft.com/office/drawing/2014/chart" uri="{C3380CC4-5D6E-409C-BE32-E72D297353CC}">
                <c16:uniqueId val="{00000001-1D58-4E10-BAEF-6CB56976D765}"/>
              </c:ext>
            </c:extLst>
          </c:dPt>
          <c:dPt>
            <c:idx val="1"/>
            <c:bubble3D val="0"/>
            <c:spPr>
              <a:solidFill>
                <a:srgbClr val="1A7A7A"/>
              </a:solidFill>
              <a:effectLst/>
            </c:spPr>
            <c:extLst>
              <c:ext xmlns:c16="http://schemas.microsoft.com/office/drawing/2014/chart" uri="{C3380CC4-5D6E-409C-BE32-E72D297353CC}">
                <c16:uniqueId val="{00000003-1D58-4E10-BAEF-6CB56976D765}"/>
              </c:ext>
            </c:extLst>
          </c:dPt>
          <c:dPt>
            <c:idx val="2"/>
            <c:bubble3D val="0"/>
            <c:spPr>
              <a:solidFill>
                <a:srgbClr val="C58940"/>
              </a:solidFill>
              <a:effectLst/>
            </c:spPr>
            <c:extLst>
              <c:ext xmlns:c16="http://schemas.microsoft.com/office/drawing/2014/chart" uri="{C3380CC4-5D6E-409C-BE32-E72D297353CC}">
                <c16:uniqueId val="{00000005-1D58-4E10-BAEF-6CB56976D765}"/>
              </c:ext>
            </c:extLst>
          </c:dPt>
          <c:dLbls>
            <c:dLbl>
              <c:idx val="0"/>
              <c:tx>
                <c:rich>
                  <a:bodyPr/>
                  <a:lstStyle/>
                  <a:p>
                    <a:pPr>
                      <a:defRPr sz="1200" b="0" i="0" u="none" strike="noStrike">
                        <a:solidFill>
                          <a:srgbClr val="333333"/>
                        </a:solidFill>
                        <a:latin typeface="Arial"/>
                      </a:defRPr>
                    </a:pPr>
                    <a:fld id="{7E627176-49B0-4290-8D8E-852C4D9C9AEB}" type="PERCENTAGE">
                      <a:rPr lang="en-US">
                        <a:solidFill>
                          <a:schemeClr val="bg1">
                            <a:lumMod val="85000"/>
                          </a:schemeClr>
                        </a:solidFill>
                      </a:rPr>
                      <a:pPr>
                        <a:defRPr sz="1200" b="0" i="0" u="none" strike="noStrike">
                          <a:solidFill>
                            <a:srgbClr val="333333"/>
                          </a:solidFill>
                          <a:latin typeface="Arial"/>
                        </a:defRPr>
                      </a:pPr>
                      <a:t>[PERCENTAGE]</a:t>
                    </a:fld>
                    <a:endParaRPr lang="en-IN"/>
                  </a:p>
                </c:rich>
              </c:tx>
              <c:numFmt formatCode="0%" sourceLinked="0"/>
              <c:spP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D58-4E10-BAEF-6CB56976D765}"/>
                </c:ext>
              </c:extLst>
            </c:dLbl>
            <c:dLbl>
              <c:idx val="1"/>
              <c:tx>
                <c:rich>
                  <a:bodyPr/>
                  <a:lstStyle/>
                  <a:p>
                    <a:pPr>
                      <a:defRPr sz="1200" b="0" i="0" u="none" strike="noStrike">
                        <a:solidFill>
                          <a:srgbClr val="333333"/>
                        </a:solidFill>
                        <a:latin typeface="Arial"/>
                      </a:defRPr>
                    </a:pPr>
                    <a:fld id="{27B7395E-1AB6-45FE-B651-38DE13A290EF}" type="PERCENTAGE">
                      <a:rPr lang="en-US">
                        <a:solidFill>
                          <a:schemeClr val="bg1">
                            <a:lumMod val="85000"/>
                          </a:schemeClr>
                        </a:solidFill>
                      </a:rPr>
                      <a:pPr>
                        <a:defRPr sz="1200" b="0" i="0" u="none" strike="noStrike">
                          <a:solidFill>
                            <a:srgbClr val="333333"/>
                          </a:solidFill>
                          <a:latin typeface="Arial"/>
                        </a:defRPr>
                      </a:pPr>
                      <a:t>[PERCENTAGE]</a:t>
                    </a:fld>
                    <a:endParaRPr lang="en-IN"/>
                  </a:p>
                </c:rich>
              </c:tx>
              <c:numFmt formatCode="0%" sourceLinked="0"/>
              <c:spP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1D58-4E10-BAEF-6CB56976D765}"/>
                </c:ext>
              </c:extLst>
            </c:dLbl>
            <c:dLbl>
              <c:idx val="2"/>
              <c:tx>
                <c:rich>
                  <a:bodyPr/>
                  <a:lstStyle/>
                  <a:p>
                    <a:pPr>
                      <a:defRPr sz="1200" b="0" i="0" u="none" strike="noStrike">
                        <a:solidFill>
                          <a:srgbClr val="333333"/>
                        </a:solidFill>
                        <a:latin typeface="Arial"/>
                      </a:defRPr>
                    </a:pPr>
                    <a:fld id="{7CD69B78-A395-4095-9A6A-BCEAA16A647A}" type="PERCENTAGE">
                      <a:rPr lang="en-US">
                        <a:solidFill>
                          <a:schemeClr val="bg1">
                            <a:lumMod val="85000"/>
                          </a:schemeClr>
                        </a:solidFill>
                      </a:rPr>
                      <a:pPr>
                        <a:defRPr sz="1200" b="0" i="0" u="none" strike="noStrike">
                          <a:solidFill>
                            <a:srgbClr val="333333"/>
                          </a:solidFill>
                          <a:latin typeface="Arial"/>
                        </a:defRPr>
                      </a:pPr>
                      <a:t>[PERCENTAGE]</a:t>
                    </a:fld>
                    <a:endParaRPr lang="en-IN"/>
                  </a:p>
                </c:rich>
              </c:tx>
              <c:numFmt formatCode="0%" sourceLinked="0"/>
              <c:spP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1D58-4E10-BAEF-6CB56976D765}"/>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New</c:v>
                </c:pt>
                <c:pt idx="1">
                  <c:v>Returning</c:v>
                </c:pt>
                <c:pt idx="2">
                  <c:v>Loyal</c:v>
                </c:pt>
              </c:strCache>
            </c:strRef>
          </c:cat>
          <c:val>
            <c:numRef>
              <c:f>Sheet1!$B$2:$B$4</c:f>
              <c:numCache>
                <c:formatCode>General</c:formatCode>
                <c:ptCount val="3"/>
                <c:pt idx="0">
                  <c:v>26000</c:v>
                </c:pt>
                <c:pt idx="1">
                  <c:v>18000</c:v>
                </c:pt>
                <c:pt idx="2">
                  <c:v>8000</c:v>
                </c:pt>
              </c:numCache>
            </c:numRef>
          </c:val>
          <c:extLst>
            <c:ext xmlns:c16="http://schemas.microsoft.com/office/drawing/2014/chart" uri="{C3380CC4-5D6E-409C-BE32-E72D297353CC}">
              <c16:uniqueId val="{00000006-1D58-4E10-BAEF-6CB56976D765}"/>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legendEntry>
        <c:idx val="0"/>
        <c:txPr>
          <a:bodyPr/>
          <a:lstStyle/>
          <a:p>
            <a:pPr>
              <a:defRPr sz="1400">
                <a:solidFill>
                  <a:srgbClr val="333333"/>
                </a:solidFill>
              </a:defRPr>
            </a:pPr>
            <a:endParaRPr lang="en-US"/>
          </a:p>
        </c:txPr>
      </c:legendEntry>
      <c:legendEntry>
        <c:idx val="1"/>
        <c:txPr>
          <a:bodyPr/>
          <a:lstStyle/>
          <a:p>
            <a:pPr>
              <a:defRPr sz="1400">
                <a:solidFill>
                  <a:srgbClr val="333333"/>
                </a:solidFill>
              </a:defRPr>
            </a:pPr>
            <a:endParaRPr lang="en-US"/>
          </a:p>
        </c:txPr>
      </c:legendEntry>
      <c:legendEntry>
        <c:idx val="2"/>
        <c:txPr>
          <a:bodyPr/>
          <a:lstStyle/>
          <a:p>
            <a:pPr>
              <a:defRPr sz="1400">
                <a:solidFill>
                  <a:srgbClr val="333333"/>
                </a:solidFill>
              </a:defRPr>
            </a:pPr>
            <a:endParaRPr lang="en-US"/>
          </a:p>
        </c:txPr>
      </c:legendEntry>
      <c:layout>
        <c:manualLayout>
          <c:xMode val="edge"/>
          <c:yMode val="edge"/>
          <c:x val="0.26291710411198599"/>
          <c:y val="0.89568110236220477"/>
          <c:w val="0.47416557305336832"/>
          <c:h val="8.4318897637795279E-2"/>
        </c:manualLayout>
      </c:layout>
      <c:overlay val="0"/>
      <c:txPr>
        <a:bodyPr/>
        <a:lstStyle/>
        <a:p>
          <a:pPr>
            <a:defRPr sz="1100">
              <a:solidFill>
                <a:srgbClr val="333333"/>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a:pPr>
            <a:r>
              <a:rPr lang="en-US" sz="1600" b="1" i="0" u="none" strike="noStrike" baseline="0" dirty="0"/>
              <a:t>Repeat Purchase Timing</a:t>
            </a:r>
            <a:endParaRPr lang="en-US" sz="1600" dirty="0"/>
          </a:p>
        </c:rich>
      </c:tx>
      <c:overlay val="0"/>
    </c:title>
    <c:autoTitleDeleted val="0"/>
    <c:plotArea>
      <c:layout/>
      <c:barChart>
        <c:barDir val="col"/>
        <c:grouping val="clustered"/>
        <c:varyColors val="0"/>
        <c:ser>
          <c:idx val="0"/>
          <c:order val="0"/>
          <c:tx>
            <c:strRef>
              <c:f>Sheet1!$B$1</c:f>
              <c:strCache>
                <c:ptCount val="1"/>
                <c:pt idx="0">
                  <c:v>Customers</c:v>
                </c:pt>
              </c:strCache>
            </c:strRef>
          </c:tx>
          <c:spPr>
            <a:gradFill flip="none" rotWithShape="1">
              <a:gsLst>
                <a:gs pos="9000">
                  <a:schemeClr val="accent6">
                    <a:lumMod val="89000"/>
                  </a:schemeClr>
                </a:gs>
                <a:gs pos="25000">
                  <a:schemeClr val="accent6">
                    <a:lumMod val="89000"/>
                  </a:schemeClr>
                </a:gs>
                <a:gs pos="68000">
                  <a:schemeClr val="accent6">
                    <a:lumMod val="75000"/>
                  </a:schemeClr>
                </a:gs>
                <a:gs pos="90000">
                  <a:schemeClr val="accent6">
                    <a:lumMod val="70000"/>
                  </a:schemeClr>
                </a:gs>
              </a:gsLst>
              <a:path path="circle">
                <a:fillToRect l="50000" t="50000" r="50000" b="50000"/>
              </a:path>
              <a:tileRect/>
            </a:gradFill>
            <a:effectLst/>
          </c:spPr>
          <c:invertIfNegative val="0"/>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0-7 Days</c:v>
                </c:pt>
                <c:pt idx="1">
                  <c:v>8-30 Days</c:v>
                </c:pt>
                <c:pt idx="2">
                  <c:v>31-60 Days</c:v>
                </c:pt>
                <c:pt idx="3">
                  <c:v>60+ Days</c:v>
                </c:pt>
              </c:strCache>
            </c:strRef>
          </c:cat>
          <c:val>
            <c:numRef>
              <c:f>Sheet1!$B$2:$B$5</c:f>
              <c:numCache>
                <c:formatCode>General</c:formatCode>
                <c:ptCount val="4"/>
                <c:pt idx="0">
                  <c:v>26000</c:v>
                </c:pt>
                <c:pt idx="1">
                  <c:v>1000</c:v>
                </c:pt>
                <c:pt idx="2">
                  <c:v>1000</c:v>
                </c:pt>
                <c:pt idx="3">
                  <c:v>23000</c:v>
                </c:pt>
              </c:numCache>
            </c:numRef>
          </c:val>
          <c:extLst>
            <c:ext xmlns:c16="http://schemas.microsoft.com/office/drawing/2014/chart" uri="{C3380CC4-5D6E-409C-BE32-E72D297353CC}">
              <c16:uniqueId val="{00000000-E7FC-421B-BA43-43BF0585201F}"/>
            </c:ext>
          </c:extLst>
        </c:ser>
        <c:dLbls>
          <c:showLegendKey val="0"/>
          <c:showVal val="1"/>
          <c:showCatName val="0"/>
          <c:showSerName val="0"/>
          <c:showPercent val="0"/>
          <c:showBubbleSize val="0"/>
        </c:dLbls>
        <c:gapWidth val="90"/>
        <c:axId val="274203904"/>
        <c:axId val="274196832"/>
      </c:barChart>
      <c:catAx>
        <c:axId val="274203904"/>
        <c:scaling>
          <c:orientation val="minMax"/>
        </c:scaling>
        <c:delete val="0"/>
        <c:axPos val="b"/>
        <c:title>
          <c:tx>
            <c:rich>
              <a:bodyPr/>
              <a:lstStyle/>
              <a:p>
                <a:pPr>
                  <a:defRPr sz="1200"/>
                </a:pPr>
                <a:r>
                  <a:rPr lang="en-US" sz="1200" b="1" i="0" u="none" strike="noStrike" baseline="0" dirty="0"/>
                  <a:t>Repurchase Window</a:t>
                </a:r>
                <a:endParaRPr lang="en-US" sz="1200" dirty="0"/>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74196832"/>
        <c:crosses val="autoZero"/>
        <c:auto val="1"/>
        <c:lblAlgn val="ctr"/>
        <c:lblOffset val="100"/>
        <c:noMultiLvlLbl val="1"/>
      </c:catAx>
      <c:valAx>
        <c:axId val="274196832"/>
        <c:scaling>
          <c:orientation val="minMax"/>
        </c:scaling>
        <c:delete val="0"/>
        <c:axPos val="l"/>
        <c:majorGridlines>
          <c:spPr>
            <a:ln w="12700" cap="flat">
              <a:solidFill>
                <a:srgbClr val="E0E0E0"/>
              </a:solidFill>
              <a:prstDash val="dot"/>
              <a:round/>
            </a:ln>
          </c:spPr>
        </c:majorGridlines>
        <c:title>
          <c:tx>
            <c:rich>
              <a:bodyPr/>
              <a:lstStyle/>
              <a:p>
                <a:pPr>
                  <a:defRPr sz="1200"/>
                </a:pPr>
                <a:r>
                  <a:rPr lang="en-US" sz="1200" dirty="0"/>
                  <a:t>Customers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20390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i="0" u="none" strike="noStrike" baseline="0" dirty="0"/>
              <a:t>Repeat Orders by Category</a:t>
            </a:r>
            <a:endParaRPr lang="en-US" sz="1600" dirty="0"/>
          </a:p>
        </c:rich>
      </c:tx>
      <c:overlay val="0"/>
    </c:title>
    <c:autoTitleDeleted val="0"/>
    <c:plotArea>
      <c:layout/>
      <c:barChart>
        <c:barDir val="bar"/>
        <c:grouping val="clustered"/>
        <c:varyColors val="0"/>
        <c:ser>
          <c:idx val="0"/>
          <c:order val="0"/>
          <c:tx>
            <c:strRef>
              <c:f>Sheet1!$B$1</c:f>
              <c:strCache>
                <c:ptCount val="1"/>
                <c:pt idx="0">
                  <c:v>Repeat Customers</c:v>
                </c:pt>
              </c:strCache>
            </c:strRef>
          </c:tx>
          <c:spPr>
            <a:solidFill>
              <a:srgbClr val="1A7A7A"/>
            </a:solidFill>
            <a:effectLst/>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Sheet1!$A$2:$A$11</c:f>
              <c:strCache>
                <c:ptCount val="10"/>
                <c:pt idx="0">
                  <c:v>watches_gifts</c:v>
                </c:pt>
                <c:pt idx="1">
                  <c:v>toys</c:v>
                </c:pt>
                <c:pt idx="2">
                  <c:v>auto</c:v>
                </c:pt>
                <c:pt idx="3">
                  <c:v>fashion_bags</c:v>
                </c:pt>
                <c:pt idx="4">
                  <c:v>stationery</c:v>
                </c:pt>
                <c:pt idx="5">
                  <c:v>perfumery</c:v>
                </c:pt>
                <c:pt idx="6">
                  <c:v>housewares</c:v>
                </c:pt>
                <c:pt idx="7">
                  <c:v>health_beauty</c:v>
                </c:pt>
                <c:pt idx="8">
                  <c:v>sports_leisure</c:v>
                </c:pt>
                <c:pt idx="9">
                  <c:v>bed_bath_table</c:v>
                </c:pt>
              </c:strCache>
            </c:strRef>
          </c:cat>
          <c:val>
            <c:numRef>
              <c:f>Sheet1!$B$2:$B$11</c:f>
              <c:numCache>
                <c:formatCode>General</c:formatCode>
                <c:ptCount val="10"/>
                <c:pt idx="0">
                  <c:v>3500</c:v>
                </c:pt>
                <c:pt idx="1">
                  <c:v>3800</c:v>
                </c:pt>
                <c:pt idx="2">
                  <c:v>3900</c:v>
                </c:pt>
                <c:pt idx="3">
                  <c:v>4100</c:v>
                </c:pt>
                <c:pt idx="4">
                  <c:v>4200</c:v>
                </c:pt>
                <c:pt idx="5">
                  <c:v>4300</c:v>
                </c:pt>
                <c:pt idx="6">
                  <c:v>5600</c:v>
                </c:pt>
                <c:pt idx="7">
                  <c:v>5800</c:v>
                </c:pt>
                <c:pt idx="8">
                  <c:v>6500</c:v>
                </c:pt>
                <c:pt idx="9">
                  <c:v>6800</c:v>
                </c:pt>
              </c:numCache>
            </c:numRef>
          </c:val>
          <c:extLst>
            <c:ext xmlns:c16="http://schemas.microsoft.com/office/drawing/2014/chart" uri="{C3380CC4-5D6E-409C-BE32-E72D297353CC}">
              <c16:uniqueId val="{00000000-49FE-4D1B-AF46-FE66ADC661F8}"/>
            </c:ext>
          </c:extLst>
        </c:ser>
        <c:dLbls>
          <c:dLblPos val="outEnd"/>
          <c:showLegendKey val="0"/>
          <c:showVal val="1"/>
          <c:showCatName val="0"/>
          <c:showSerName val="0"/>
          <c:showPercent val="0"/>
          <c:showBubbleSize val="0"/>
        </c:dLbls>
        <c:gapWidth val="67"/>
        <c:axId val="274201184"/>
        <c:axId val="274204448"/>
      </c:barChart>
      <c:catAx>
        <c:axId val="274201184"/>
        <c:scaling>
          <c:orientation val="minMax"/>
        </c:scaling>
        <c:delete val="0"/>
        <c:axPos val="l"/>
        <c:majorGridlines>
          <c:spPr>
            <a:ln w="12700" cap="flat">
              <a:solidFill>
                <a:srgbClr val="E0E0E0"/>
              </a:solidFill>
              <a:prstDash val="dot"/>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204448"/>
        <c:crosses val="autoZero"/>
        <c:auto val="1"/>
        <c:lblAlgn val="ctr"/>
        <c:lblOffset val="100"/>
        <c:noMultiLvlLbl val="1"/>
      </c:catAx>
      <c:valAx>
        <c:axId val="274204448"/>
        <c:scaling>
          <c:orientation val="minMax"/>
        </c:scaling>
        <c:delete val="0"/>
        <c:axPos val="b"/>
        <c:majorGridlines>
          <c:spPr>
            <a:ln w="12700" cap="flat">
              <a:solidFill>
                <a:srgbClr val="E0E6F1"/>
              </a:solidFill>
              <a:prstDash val="solid"/>
              <a:round/>
            </a:ln>
          </c:spPr>
        </c:majorGridlines>
        <c:title>
          <c:tx>
            <c:rich>
              <a:bodyPr/>
              <a:lstStyle/>
              <a:p>
                <a:pPr>
                  <a:defRPr sz="1200"/>
                </a:pPr>
                <a:r>
                  <a:rPr lang="en-US" sz="1200" b="1" i="0" u="none" strike="noStrike" baseline="0" dirty="0"/>
                  <a:t>Repeat Orders</a:t>
                </a:r>
                <a:endParaRPr lang="en-US" sz="1200" dirty="0"/>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27420118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i="0" u="none" strike="noStrike" baseline="0" dirty="0"/>
              <a:t>Top Categories for First-Time Purchases</a:t>
            </a:r>
            <a:endParaRPr lang="en-US" sz="1600" dirty="0"/>
          </a:p>
        </c:rich>
      </c:tx>
      <c:overlay val="0"/>
    </c:title>
    <c:autoTitleDeleted val="0"/>
    <c:plotArea>
      <c:layout/>
      <c:barChart>
        <c:barDir val="bar"/>
        <c:grouping val="clustered"/>
        <c:varyColors val="0"/>
        <c:ser>
          <c:idx val="0"/>
          <c:order val="0"/>
          <c:tx>
            <c:strRef>
              <c:f>Sheet1!$B$1</c:f>
              <c:strCache>
                <c:ptCount val="1"/>
                <c:pt idx="0">
                  <c:v>First-Time Buyers</c:v>
                </c:pt>
              </c:strCache>
            </c:strRef>
          </c:tx>
          <c:spPr>
            <a:solidFill>
              <a:srgbClr val="0B3C3D"/>
            </a:solidFill>
            <a:effectLst/>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Sheet1!$A$2:$A$16</c:f>
              <c:strCache>
                <c:ptCount val="15"/>
                <c:pt idx="0">
                  <c:v>garden_tools</c:v>
                </c:pt>
                <c:pt idx="1">
                  <c:v>cool_stuff</c:v>
                </c:pt>
                <c:pt idx="2">
                  <c:v>baby</c:v>
                </c:pt>
                <c:pt idx="3">
                  <c:v>pet_shop</c:v>
                </c:pt>
                <c:pt idx="4">
                  <c:v>telephony</c:v>
                </c:pt>
                <c:pt idx="5">
                  <c:v>watches_gifts</c:v>
                </c:pt>
                <c:pt idx="6">
                  <c:v>toys</c:v>
                </c:pt>
                <c:pt idx="7">
                  <c:v>auto</c:v>
                </c:pt>
                <c:pt idx="8">
                  <c:v>fashion_bags</c:v>
                </c:pt>
                <c:pt idx="9">
                  <c:v>stationery</c:v>
                </c:pt>
                <c:pt idx="10">
                  <c:v>perfumery</c:v>
                </c:pt>
                <c:pt idx="11">
                  <c:v>housewares</c:v>
                </c:pt>
                <c:pt idx="12">
                  <c:v>health_beauty</c:v>
                </c:pt>
                <c:pt idx="13">
                  <c:v>sports_leisure</c:v>
                </c:pt>
                <c:pt idx="14">
                  <c:v>bed_bath_table</c:v>
                </c:pt>
              </c:strCache>
            </c:strRef>
          </c:cat>
          <c:val>
            <c:numRef>
              <c:f>Sheet1!$B$2:$B$16</c:f>
              <c:numCache>
                <c:formatCode>General</c:formatCode>
                <c:ptCount val="15"/>
                <c:pt idx="0">
                  <c:v>1800</c:v>
                </c:pt>
                <c:pt idx="1">
                  <c:v>1900</c:v>
                </c:pt>
                <c:pt idx="2">
                  <c:v>2400</c:v>
                </c:pt>
                <c:pt idx="3">
                  <c:v>2500</c:v>
                </c:pt>
                <c:pt idx="4">
                  <c:v>2700</c:v>
                </c:pt>
                <c:pt idx="5">
                  <c:v>3200</c:v>
                </c:pt>
                <c:pt idx="6">
                  <c:v>3700</c:v>
                </c:pt>
                <c:pt idx="7">
                  <c:v>3800</c:v>
                </c:pt>
                <c:pt idx="8">
                  <c:v>3800</c:v>
                </c:pt>
                <c:pt idx="9">
                  <c:v>4100</c:v>
                </c:pt>
                <c:pt idx="10">
                  <c:v>4200</c:v>
                </c:pt>
                <c:pt idx="11">
                  <c:v>5600</c:v>
                </c:pt>
                <c:pt idx="12">
                  <c:v>5700</c:v>
                </c:pt>
                <c:pt idx="13">
                  <c:v>6800</c:v>
                </c:pt>
                <c:pt idx="14">
                  <c:v>7200</c:v>
                </c:pt>
              </c:numCache>
            </c:numRef>
          </c:val>
          <c:extLst>
            <c:ext xmlns:c16="http://schemas.microsoft.com/office/drawing/2014/chart" uri="{C3380CC4-5D6E-409C-BE32-E72D297353CC}">
              <c16:uniqueId val="{00000000-9DE2-496C-B301-7D61A83F626C}"/>
            </c:ext>
          </c:extLst>
        </c:ser>
        <c:dLbls>
          <c:dLblPos val="outEnd"/>
          <c:showLegendKey val="0"/>
          <c:showVal val="1"/>
          <c:showCatName val="0"/>
          <c:showSerName val="0"/>
          <c:showPercent val="0"/>
          <c:showBubbleSize val="0"/>
        </c:dLbls>
        <c:gapWidth val="82"/>
        <c:axId val="274190848"/>
        <c:axId val="274204992"/>
      </c:barChart>
      <c:catAx>
        <c:axId val="274190848"/>
        <c:scaling>
          <c:orientation val="minMax"/>
        </c:scaling>
        <c:delete val="0"/>
        <c:axPos val="l"/>
        <c:majorGridlines>
          <c:spPr>
            <a:ln w="12700" cap="flat">
              <a:solidFill>
                <a:srgbClr val="E0E0E0"/>
              </a:solidFill>
              <a:prstDash val="dot"/>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204992"/>
        <c:crosses val="autoZero"/>
        <c:auto val="1"/>
        <c:lblAlgn val="ctr"/>
        <c:lblOffset val="100"/>
        <c:noMultiLvlLbl val="1"/>
      </c:catAx>
      <c:valAx>
        <c:axId val="274204992"/>
        <c:scaling>
          <c:orientation val="minMax"/>
        </c:scaling>
        <c:delete val="0"/>
        <c:axPos val="b"/>
        <c:majorGridlines>
          <c:spPr>
            <a:ln w="12700" cap="flat">
              <a:solidFill>
                <a:srgbClr val="E0E6F1"/>
              </a:solidFill>
              <a:prstDash val="solid"/>
              <a:round/>
            </a:ln>
          </c:spPr>
        </c:majorGridlines>
        <c:title>
          <c:tx>
            <c:rich>
              <a:bodyPr/>
              <a:lstStyle/>
              <a:p>
                <a:pPr>
                  <a:defRPr sz="1200"/>
                </a:pPr>
                <a:r>
                  <a:rPr lang="en-US" sz="1200" b="1" i="0" u="none" strike="noStrike" baseline="0" dirty="0"/>
                  <a:t>First Purchases</a:t>
                </a:r>
                <a:endParaRPr lang="en-US" sz="1200" dirty="0"/>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27419084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dirty="0"/>
              <a:t>Low Acquisition Categories</a:t>
            </a:r>
          </a:p>
        </c:rich>
      </c:tx>
      <c:overlay val="0"/>
    </c:title>
    <c:autoTitleDeleted val="0"/>
    <c:plotArea>
      <c:layout/>
      <c:barChart>
        <c:barDir val="bar"/>
        <c:grouping val="clustered"/>
        <c:varyColors val="0"/>
        <c:ser>
          <c:idx val="0"/>
          <c:order val="0"/>
          <c:tx>
            <c:strRef>
              <c:f>Sheet1!$B$1</c:f>
              <c:strCache>
                <c:ptCount val="1"/>
                <c:pt idx="0">
                  <c:v>First Purchases</c:v>
                </c:pt>
              </c:strCache>
            </c:strRef>
          </c:tx>
          <c:spPr>
            <a:solidFill>
              <a:srgbClr val="6B8E8E"/>
            </a:solidFill>
            <a:effectLst/>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Sheet1!$A$2:$A$11</c:f>
              <c:strCache>
                <c:ptCount val="10"/>
                <c:pt idx="0">
                  <c:v>security_services</c:v>
                </c:pt>
                <c:pt idx="1">
                  <c:v>cds_dvds</c:v>
                </c:pt>
                <c:pt idx="2">
                  <c:v>home_comfort</c:v>
                </c:pt>
                <c:pt idx="3">
                  <c:v>furniture_mattress</c:v>
                </c:pt>
                <c:pt idx="4">
                  <c:v>diapers_hygiene</c:v>
                </c:pt>
                <c:pt idx="5">
                  <c:v>fashion_children</c:v>
                </c:pt>
                <c:pt idx="6">
                  <c:v>small_appliances</c:v>
                </c:pt>
                <c:pt idx="7">
                  <c:v>flowers</c:v>
                </c:pt>
                <c:pt idx="8">
                  <c:v>tablets_printing</c:v>
                </c:pt>
                <c:pt idx="9">
                  <c:v>la_cuisine</c:v>
                </c:pt>
              </c:strCache>
            </c:strRef>
          </c:cat>
          <c:val>
            <c:numRef>
              <c:f>Sheet1!$B$2:$B$11</c:f>
              <c:numCache>
                <c:formatCode>General</c:formatCode>
                <c:ptCount val="10"/>
                <c:pt idx="0">
                  <c:v>2</c:v>
                </c:pt>
                <c:pt idx="1">
                  <c:v>2</c:v>
                </c:pt>
                <c:pt idx="2">
                  <c:v>3</c:v>
                </c:pt>
                <c:pt idx="3">
                  <c:v>4</c:v>
                </c:pt>
                <c:pt idx="4">
                  <c:v>7</c:v>
                </c:pt>
                <c:pt idx="5">
                  <c:v>9</c:v>
                </c:pt>
                <c:pt idx="6">
                  <c:v>10</c:v>
                </c:pt>
                <c:pt idx="7">
                  <c:v>11</c:v>
                </c:pt>
                <c:pt idx="8">
                  <c:v>11</c:v>
                </c:pt>
                <c:pt idx="9">
                  <c:v>13</c:v>
                </c:pt>
              </c:numCache>
            </c:numRef>
          </c:val>
          <c:extLst>
            <c:ext xmlns:c16="http://schemas.microsoft.com/office/drawing/2014/chart" uri="{C3380CC4-5D6E-409C-BE32-E72D297353CC}">
              <c16:uniqueId val="{00000000-F303-4F7B-BB75-8CA1176B88ED}"/>
            </c:ext>
          </c:extLst>
        </c:ser>
        <c:dLbls>
          <c:showLegendKey val="0"/>
          <c:showVal val="0"/>
          <c:showCatName val="0"/>
          <c:showSerName val="0"/>
          <c:showPercent val="0"/>
          <c:showBubbleSize val="0"/>
        </c:dLbls>
        <c:gapWidth val="82"/>
        <c:axId val="274203360"/>
        <c:axId val="274194112"/>
      </c:barChart>
      <c:catAx>
        <c:axId val="274203360"/>
        <c:scaling>
          <c:orientation val="minMax"/>
        </c:scaling>
        <c:delete val="0"/>
        <c:axPos val="l"/>
        <c:majorGridlines>
          <c:spPr>
            <a:ln w="12700" cap="flat">
              <a:solidFill>
                <a:srgbClr val="E0E0E0"/>
              </a:solidFill>
              <a:prstDash val="dot"/>
              <a:round/>
            </a:ln>
          </c:spPr>
        </c:majorGridlines>
        <c:title>
          <c:overlay val="0"/>
        </c:title>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194112"/>
        <c:crosses val="autoZero"/>
        <c:auto val="1"/>
        <c:lblAlgn val="ctr"/>
        <c:lblOffset val="100"/>
        <c:noMultiLvlLbl val="1"/>
      </c:catAx>
      <c:valAx>
        <c:axId val="274194112"/>
        <c:scaling>
          <c:orientation val="minMax"/>
        </c:scaling>
        <c:delete val="0"/>
        <c:axPos val="b"/>
        <c:majorGridlines>
          <c:spPr>
            <a:ln w="12700" cap="flat">
              <a:solidFill>
                <a:srgbClr val="E0E6F1"/>
              </a:solidFill>
              <a:prstDash val="solid"/>
              <a:round/>
            </a:ln>
          </c:spPr>
        </c:majorGridlines>
        <c:title>
          <c:tx>
            <c:rich>
              <a:bodyPr/>
              <a:lstStyle/>
              <a:p>
                <a:pPr>
                  <a:defRPr sz="1200"/>
                </a:pPr>
                <a:r>
                  <a:rPr lang="en-US" sz="1200" b="1" i="0" u="none" strike="noStrike" baseline="0" dirty="0"/>
                  <a:t>First Purchases</a:t>
                </a:r>
                <a:endParaRPr lang="en-US" sz="1200" dirty="0"/>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274203360"/>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i="0" u="none" strike="noStrike" baseline="0" dirty="0"/>
              <a:t>Revenue by Product Category</a:t>
            </a:r>
            <a:endParaRPr lang="en-US" sz="1600" dirty="0"/>
          </a:p>
        </c:rich>
      </c:tx>
      <c:overlay val="0"/>
    </c:title>
    <c:autoTitleDeleted val="0"/>
    <c:plotArea>
      <c:layout/>
      <c:barChart>
        <c:barDir val="bar"/>
        <c:grouping val="clustered"/>
        <c:varyColors val="0"/>
        <c:ser>
          <c:idx val="0"/>
          <c:order val="0"/>
          <c:tx>
            <c:strRef>
              <c:f>Sheet1!$B$1</c:f>
              <c:strCache>
                <c:ptCount val="1"/>
                <c:pt idx="0">
                  <c:v>Revenue (M)</c:v>
                </c:pt>
              </c:strCache>
            </c:strRef>
          </c:tx>
          <c:spPr>
            <a:solidFill>
              <a:srgbClr val="0B3C3D"/>
            </a:solidFill>
            <a:effectLst/>
          </c:spPr>
          <c:invertIfNegative val="0"/>
          <c:cat>
            <c:strRef>
              <c:f>Sheet1!$A$2:$A$17</c:f>
              <c:strCache>
                <c:ptCount val="16"/>
                <c:pt idx="0">
                  <c:v>garden_tools</c:v>
                </c:pt>
                <c:pt idx="1">
                  <c:v>perfumery</c:v>
                </c:pt>
                <c:pt idx="2">
                  <c:v>pet_shop</c:v>
                </c:pt>
                <c:pt idx="3">
                  <c:v>cool_stuff</c:v>
                </c:pt>
                <c:pt idx="4">
                  <c:v>fashion_bags</c:v>
                </c:pt>
                <c:pt idx="5">
                  <c:v>baby</c:v>
                </c:pt>
                <c:pt idx="6">
                  <c:v>telephony</c:v>
                </c:pt>
                <c:pt idx="7">
                  <c:v>watches_gifts</c:v>
                </c:pt>
                <c:pt idx="8">
                  <c:v>toys</c:v>
                </c:pt>
                <c:pt idx="9">
                  <c:v>auto</c:v>
                </c:pt>
                <c:pt idx="10">
                  <c:v>computers</c:v>
                </c:pt>
                <c:pt idx="11">
                  <c:v>housewares</c:v>
                </c:pt>
                <c:pt idx="12">
                  <c:v>health_beauty</c:v>
                </c:pt>
                <c:pt idx="13">
                  <c:v>sports_leisure</c:v>
                </c:pt>
                <c:pt idx="14">
                  <c:v>bed_bath_table</c:v>
                </c:pt>
                <c:pt idx="15">
                  <c:v>furniture_decor</c:v>
                </c:pt>
              </c:strCache>
            </c:strRef>
          </c:cat>
          <c:val>
            <c:numRef>
              <c:f>Sheet1!$B$2:$B$17</c:f>
              <c:numCache>
                <c:formatCode>General</c:formatCode>
                <c:ptCount val="16"/>
                <c:pt idx="0">
                  <c:v>27</c:v>
                </c:pt>
                <c:pt idx="1">
                  <c:v>28</c:v>
                </c:pt>
                <c:pt idx="2">
                  <c:v>28</c:v>
                </c:pt>
                <c:pt idx="3">
                  <c:v>29</c:v>
                </c:pt>
                <c:pt idx="4">
                  <c:v>32</c:v>
                </c:pt>
                <c:pt idx="5">
                  <c:v>33</c:v>
                </c:pt>
                <c:pt idx="6">
                  <c:v>39</c:v>
                </c:pt>
                <c:pt idx="7">
                  <c:v>46</c:v>
                </c:pt>
                <c:pt idx="8">
                  <c:v>51</c:v>
                </c:pt>
                <c:pt idx="9">
                  <c:v>58</c:v>
                </c:pt>
                <c:pt idx="10">
                  <c:v>66</c:v>
                </c:pt>
                <c:pt idx="11">
                  <c:v>83</c:v>
                </c:pt>
                <c:pt idx="12">
                  <c:v>85</c:v>
                </c:pt>
                <c:pt idx="13">
                  <c:v>102</c:v>
                </c:pt>
                <c:pt idx="14">
                  <c:v>106</c:v>
                </c:pt>
                <c:pt idx="15">
                  <c:v>126</c:v>
                </c:pt>
              </c:numCache>
            </c:numRef>
          </c:val>
          <c:extLst>
            <c:ext xmlns:c16="http://schemas.microsoft.com/office/drawing/2014/chart" uri="{C3380CC4-5D6E-409C-BE32-E72D297353CC}">
              <c16:uniqueId val="{00000000-0BDE-4617-81CF-417731366D5D}"/>
            </c:ext>
          </c:extLst>
        </c:ser>
        <c:dLbls>
          <c:showLegendKey val="0"/>
          <c:showVal val="0"/>
          <c:showCatName val="0"/>
          <c:showSerName val="0"/>
          <c:showPercent val="0"/>
          <c:showBubbleSize val="0"/>
        </c:dLbls>
        <c:gapWidth val="82"/>
        <c:axId val="274205536"/>
        <c:axId val="274197376"/>
      </c:barChart>
      <c:catAx>
        <c:axId val="274205536"/>
        <c:scaling>
          <c:orientation val="minMax"/>
        </c:scaling>
        <c:delete val="0"/>
        <c:axPos val="l"/>
        <c:majorGridlines>
          <c:spPr>
            <a:ln w="12700" cap="flat">
              <a:solidFill>
                <a:srgbClr val="E0E0E0"/>
              </a:solidFill>
              <a:prstDash val="dot"/>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197376"/>
        <c:crosses val="autoZero"/>
        <c:auto val="1"/>
        <c:lblAlgn val="ctr"/>
        <c:lblOffset val="100"/>
        <c:noMultiLvlLbl val="1"/>
      </c:catAx>
      <c:valAx>
        <c:axId val="274197376"/>
        <c:scaling>
          <c:orientation val="minMax"/>
        </c:scaling>
        <c:delete val="0"/>
        <c:axPos val="b"/>
        <c:majorGridlines>
          <c:spPr>
            <a:ln w="12700" cap="flat">
              <a:solidFill>
                <a:srgbClr val="E0E6F1"/>
              </a:solidFill>
              <a:prstDash val="solid"/>
              <a:round/>
            </a:ln>
          </c:spPr>
        </c:majorGridlines>
        <c:title>
          <c:tx>
            <c:rich>
              <a:bodyPr/>
              <a:lstStyle/>
              <a:p>
                <a:pPr>
                  <a:defRPr sz="1200"/>
                </a:pPr>
                <a:r>
                  <a:rPr lang="en-US" sz="1200" b="1" i="0" u="none" strike="noStrike" baseline="0" dirty="0"/>
                  <a:t>Revenue (M)</a:t>
                </a:r>
                <a:endParaRPr lang="en-US" sz="1200" dirty="0"/>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Arial"/>
              </a:defRPr>
            </a:pPr>
            <a:endParaRPr lang="en-US"/>
          </a:p>
        </c:txPr>
        <c:crossAx val="27420553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dirty="0"/>
              <a:t>Profit by Product Category</a:t>
            </a:r>
          </a:p>
        </c:rich>
      </c:tx>
      <c:overlay val="0"/>
    </c:title>
    <c:autoTitleDeleted val="0"/>
    <c:plotArea>
      <c:layout/>
      <c:barChart>
        <c:barDir val="bar"/>
        <c:grouping val="clustered"/>
        <c:varyColors val="0"/>
        <c:ser>
          <c:idx val="0"/>
          <c:order val="0"/>
          <c:tx>
            <c:strRef>
              <c:f>Sheet1!$B$1</c:f>
              <c:strCache>
                <c:ptCount val="1"/>
                <c:pt idx="0">
                  <c:v>Profit (M)</c:v>
                </c:pt>
              </c:strCache>
            </c:strRef>
          </c:tx>
          <c:spPr>
            <a:solidFill>
              <a:srgbClr val="1A7A7A"/>
            </a:solidFill>
            <a:effectLst/>
          </c:spPr>
          <c:invertIfNegative val="0"/>
          <c:cat>
            <c:strRef>
              <c:f>Sheet1!$A$2:$A$15</c:f>
              <c:strCache>
                <c:ptCount val="14"/>
                <c:pt idx="0">
                  <c:v>pet_shop</c:v>
                </c:pt>
                <c:pt idx="1">
                  <c:v>baby</c:v>
                </c:pt>
                <c:pt idx="2">
                  <c:v>computers</c:v>
                </c:pt>
                <c:pt idx="3">
                  <c:v>telephony</c:v>
                </c:pt>
                <c:pt idx="4">
                  <c:v>watches_gifts</c:v>
                </c:pt>
                <c:pt idx="5">
                  <c:v>auto</c:v>
                </c:pt>
                <c:pt idx="6">
                  <c:v>perfumery</c:v>
                </c:pt>
                <c:pt idx="7">
                  <c:v>toys</c:v>
                </c:pt>
                <c:pt idx="8">
                  <c:v>fashion_bags</c:v>
                </c:pt>
                <c:pt idx="9">
                  <c:v>housewares</c:v>
                </c:pt>
                <c:pt idx="10">
                  <c:v>health_beauty</c:v>
                </c:pt>
                <c:pt idx="11">
                  <c:v>sports_leisure</c:v>
                </c:pt>
                <c:pt idx="12">
                  <c:v>bed_bath_table</c:v>
                </c:pt>
                <c:pt idx="13">
                  <c:v>furniture_decor</c:v>
                </c:pt>
              </c:strCache>
            </c:strRef>
          </c:cat>
          <c:val>
            <c:numRef>
              <c:f>Sheet1!$B$2:$B$15</c:f>
              <c:numCache>
                <c:formatCode>General</c:formatCode>
                <c:ptCount val="14"/>
                <c:pt idx="0">
                  <c:v>7</c:v>
                </c:pt>
                <c:pt idx="1">
                  <c:v>7</c:v>
                </c:pt>
                <c:pt idx="2">
                  <c:v>7</c:v>
                </c:pt>
                <c:pt idx="3">
                  <c:v>8</c:v>
                </c:pt>
                <c:pt idx="4">
                  <c:v>9</c:v>
                </c:pt>
                <c:pt idx="5">
                  <c:v>10</c:v>
                </c:pt>
                <c:pt idx="6">
                  <c:v>10</c:v>
                </c:pt>
                <c:pt idx="7">
                  <c:v>10</c:v>
                </c:pt>
                <c:pt idx="8">
                  <c:v>13</c:v>
                </c:pt>
                <c:pt idx="9">
                  <c:v>17</c:v>
                </c:pt>
                <c:pt idx="10">
                  <c:v>17</c:v>
                </c:pt>
                <c:pt idx="11">
                  <c:v>20</c:v>
                </c:pt>
                <c:pt idx="12">
                  <c:v>21</c:v>
                </c:pt>
                <c:pt idx="13">
                  <c:v>28</c:v>
                </c:pt>
              </c:numCache>
            </c:numRef>
          </c:val>
          <c:extLst>
            <c:ext xmlns:c16="http://schemas.microsoft.com/office/drawing/2014/chart" uri="{C3380CC4-5D6E-409C-BE32-E72D297353CC}">
              <c16:uniqueId val="{00000000-B2D9-4AC2-A60E-AC29B09CFE9E}"/>
            </c:ext>
          </c:extLst>
        </c:ser>
        <c:dLbls>
          <c:showLegendKey val="0"/>
          <c:showVal val="0"/>
          <c:showCatName val="0"/>
          <c:showSerName val="0"/>
          <c:showPercent val="0"/>
          <c:showBubbleSize val="0"/>
        </c:dLbls>
        <c:gapWidth val="82"/>
        <c:axId val="274198464"/>
        <c:axId val="274191392"/>
      </c:barChart>
      <c:catAx>
        <c:axId val="274198464"/>
        <c:scaling>
          <c:orientation val="minMax"/>
        </c:scaling>
        <c:delete val="0"/>
        <c:axPos val="l"/>
        <c:majorGridlines>
          <c:spPr>
            <a:ln w="12700" cap="flat">
              <a:solidFill>
                <a:srgbClr val="E0E0E0"/>
              </a:solidFill>
              <a:prstDash val="dot"/>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191392"/>
        <c:crosses val="autoZero"/>
        <c:auto val="1"/>
        <c:lblAlgn val="ctr"/>
        <c:lblOffset val="100"/>
        <c:noMultiLvlLbl val="1"/>
      </c:catAx>
      <c:valAx>
        <c:axId val="274191392"/>
        <c:scaling>
          <c:orientation val="minMax"/>
        </c:scaling>
        <c:delete val="0"/>
        <c:axPos val="b"/>
        <c:majorGridlines>
          <c:spPr>
            <a:ln w="12700" cap="flat">
              <a:solidFill>
                <a:srgbClr val="E0E6F1"/>
              </a:solidFill>
              <a:prstDash val="solid"/>
              <a:round/>
            </a:ln>
          </c:spPr>
        </c:majorGridlines>
        <c:title>
          <c:tx>
            <c:rich>
              <a:bodyPr/>
              <a:lstStyle/>
              <a:p>
                <a:pPr>
                  <a:defRPr sz="1200"/>
                </a:pPr>
                <a:r>
                  <a:rPr lang="en-US" sz="1200" b="1" i="0" u="none" strike="noStrike" baseline="0" dirty="0"/>
                  <a:t>Profit (M)</a:t>
                </a:r>
                <a:endParaRPr lang="en-US" sz="1200" dirty="0"/>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Arial"/>
              </a:defRPr>
            </a:pPr>
            <a:endParaRPr lang="en-US"/>
          </a:p>
        </c:txPr>
        <c:crossAx val="27419846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i="0" u="none" strike="noStrike" baseline="0" dirty="0"/>
              <a:t>Average Selling Price</a:t>
            </a:r>
            <a:endParaRPr lang="en-US" sz="1600" dirty="0"/>
          </a:p>
        </c:rich>
      </c:tx>
      <c:overlay val="0"/>
    </c:title>
    <c:autoTitleDeleted val="0"/>
    <c:plotArea>
      <c:layout/>
      <c:barChart>
        <c:barDir val="col"/>
        <c:grouping val="clustered"/>
        <c:varyColors val="0"/>
        <c:ser>
          <c:idx val="0"/>
          <c:order val="0"/>
          <c:tx>
            <c:strRef>
              <c:f>Sheet1!$B$1</c:f>
              <c:strCache>
                <c:ptCount val="1"/>
                <c:pt idx="0">
                  <c:v>Avg Price</c:v>
                </c:pt>
              </c:strCache>
            </c:strRef>
          </c:tx>
          <c:spPr>
            <a:solidFill>
              <a:srgbClr val="0B3C3D"/>
            </a:solidFill>
            <a:effectLst/>
          </c:spPr>
          <c:invertIfNegative val="0"/>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Loyal</c:v>
                </c:pt>
                <c:pt idx="1">
                  <c:v>New</c:v>
                </c:pt>
                <c:pt idx="2">
                  <c:v>Returning</c:v>
                </c:pt>
              </c:strCache>
            </c:strRef>
          </c:cat>
          <c:val>
            <c:numRef>
              <c:f>Sheet1!$B$2:$B$4</c:f>
              <c:numCache>
                <c:formatCode>General</c:formatCode>
                <c:ptCount val="3"/>
                <c:pt idx="0">
                  <c:v>6650</c:v>
                </c:pt>
                <c:pt idx="1">
                  <c:v>6900</c:v>
                </c:pt>
                <c:pt idx="2">
                  <c:v>6750</c:v>
                </c:pt>
              </c:numCache>
            </c:numRef>
          </c:val>
          <c:extLst>
            <c:ext xmlns:c16="http://schemas.microsoft.com/office/drawing/2014/chart" uri="{C3380CC4-5D6E-409C-BE32-E72D297353CC}">
              <c16:uniqueId val="{00000000-D3B5-463E-8A10-6287B5085B33}"/>
            </c:ext>
          </c:extLst>
        </c:ser>
        <c:dLbls>
          <c:showLegendKey val="0"/>
          <c:showVal val="1"/>
          <c:showCatName val="0"/>
          <c:showSerName val="0"/>
          <c:showPercent val="0"/>
          <c:showBubbleSize val="0"/>
        </c:dLbls>
        <c:gapWidth val="100"/>
        <c:axId val="274195200"/>
        <c:axId val="274194656"/>
      </c:barChart>
      <c:catAx>
        <c:axId val="27419520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74194656"/>
        <c:crosses val="autoZero"/>
        <c:auto val="1"/>
        <c:lblAlgn val="ctr"/>
        <c:lblOffset val="100"/>
        <c:noMultiLvlLbl val="1"/>
      </c:catAx>
      <c:valAx>
        <c:axId val="274194656"/>
        <c:scaling>
          <c:orientation val="minMax"/>
        </c:scaling>
        <c:delete val="0"/>
        <c:axPos val="l"/>
        <c:majorGridlines>
          <c:spPr>
            <a:ln w="12700" cap="flat">
              <a:solidFill>
                <a:srgbClr val="E0E0E0"/>
              </a:solidFill>
              <a:prstDash val="dot"/>
              <a:round/>
            </a:ln>
          </c:spPr>
        </c:majorGridlines>
        <c:title>
          <c:tx>
            <c:rich>
              <a:bodyPr/>
              <a:lstStyle/>
              <a:p>
                <a:pPr>
                  <a:defRPr sz="1200"/>
                </a:pPr>
                <a:r>
                  <a:rPr lang="en-US" sz="1200" b="1" i="0" u="none" strike="noStrike" baseline="0" dirty="0"/>
                  <a:t>Average Price</a:t>
                </a:r>
                <a:endParaRPr lang="en-US" sz="1200" dirty="0"/>
              </a:p>
            </c:rich>
          </c:tx>
          <c:layout>
            <c:manualLayout>
              <c:xMode val="edge"/>
              <c:yMode val="edge"/>
              <c:x val="8.7351502445842076E-3"/>
              <c:y val="0.39469592109444029"/>
            </c:manualLayout>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195200"/>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i="0" u="none" strike="noStrike" baseline="0" dirty="0"/>
              <a:t>Average Profitability</a:t>
            </a:r>
            <a:endParaRPr lang="en-US" sz="1600" dirty="0"/>
          </a:p>
        </c:rich>
      </c:tx>
      <c:overlay val="0"/>
    </c:title>
    <c:autoTitleDeleted val="0"/>
    <c:plotArea>
      <c:layout/>
      <c:barChart>
        <c:barDir val="col"/>
        <c:grouping val="clustered"/>
        <c:varyColors val="0"/>
        <c:ser>
          <c:idx val="0"/>
          <c:order val="0"/>
          <c:tx>
            <c:strRef>
              <c:f>Sheet1!$B$1</c:f>
              <c:strCache>
                <c:ptCount val="1"/>
                <c:pt idx="0">
                  <c:v>Avg Margin</c:v>
                </c:pt>
              </c:strCache>
            </c:strRef>
          </c:tx>
          <c:spPr>
            <a:solidFill>
              <a:srgbClr val="1A7A7A"/>
            </a:solidFill>
            <a:effectLst/>
          </c:spPr>
          <c:invertIfNegative val="0"/>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Loyal</c:v>
                </c:pt>
                <c:pt idx="1">
                  <c:v>New</c:v>
                </c:pt>
                <c:pt idx="2">
                  <c:v>Returning</c:v>
                </c:pt>
              </c:strCache>
            </c:strRef>
          </c:cat>
          <c:val>
            <c:numRef>
              <c:f>Sheet1!$B$2:$B$4</c:f>
              <c:numCache>
                <c:formatCode>General</c:formatCode>
                <c:ptCount val="3"/>
                <c:pt idx="0">
                  <c:v>650</c:v>
                </c:pt>
                <c:pt idx="1">
                  <c:v>680</c:v>
                </c:pt>
                <c:pt idx="2">
                  <c:v>670</c:v>
                </c:pt>
              </c:numCache>
            </c:numRef>
          </c:val>
          <c:extLst>
            <c:ext xmlns:c16="http://schemas.microsoft.com/office/drawing/2014/chart" uri="{C3380CC4-5D6E-409C-BE32-E72D297353CC}">
              <c16:uniqueId val="{00000000-C4B6-4038-B009-CFEE9BA1A7F0}"/>
            </c:ext>
          </c:extLst>
        </c:ser>
        <c:dLbls>
          <c:showLegendKey val="0"/>
          <c:showVal val="1"/>
          <c:showCatName val="0"/>
          <c:showSerName val="0"/>
          <c:showPercent val="0"/>
          <c:showBubbleSize val="0"/>
        </c:dLbls>
        <c:gapWidth val="100"/>
        <c:axId val="274191936"/>
        <c:axId val="274199552"/>
      </c:barChart>
      <c:catAx>
        <c:axId val="27419193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74199552"/>
        <c:crosses val="autoZero"/>
        <c:auto val="1"/>
        <c:lblAlgn val="ctr"/>
        <c:lblOffset val="100"/>
        <c:noMultiLvlLbl val="1"/>
      </c:catAx>
      <c:valAx>
        <c:axId val="274199552"/>
        <c:scaling>
          <c:orientation val="minMax"/>
          <c:max val="700"/>
          <c:min val="630"/>
        </c:scaling>
        <c:delete val="0"/>
        <c:axPos val="l"/>
        <c:majorGridlines>
          <c:spPr>
            <a:ln w="12700" cap="flat">
              <a:solidFill>
                <a:srgbClr val="E0E0E0"/>
              </a:solidFill>
              <a:prstDash val="dot"/>
              <a:round/>
            </a:ln>
          </c:spPr>
        </c:majorGridlines>
        <c:title>
          <c:tx>
            <c:rich>
              <a:bodyPr/>
              <a:lstStyle/>
              <a:p>
                <a:pPr>
                  <a:defRPr sz="1200"/>
                </a:pPr>
                <a:r>
                  <a:rPr lang="en-US" sz="1200" b="1" i="0" baseline="0" dirty="0">
                    <a:effectLst/>
                  </a:rPr>
                  <a:t>Average Profit</a:t>
                </a:r>
                <a:endParaRPr lang="en-US" sz="1200" dirty="0">
                  <a:effectLst/>
                </a:endParaRPr>
              </a:p>
            </c:rich>
          </c:tx>
          <c:layout>
            <c:manualLayout>
              <c:xMode val="edge"/>
              <c:yMode val="edge"/>
              <c:x val="6.5961496145234399E-3"/>
              <c:y val="0.36851195832732947"/>
            </c:manualLayout>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19193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IN" sz="1600" b="1" dirty="0"/>
              <a:t>Brand-wise First Purchases &amp; Average Ratings</a:t>
            </a:r>
          </a:p>
        </c:rich>
      </c:tx>
      <c:overlay val="0"/>
    </c:title>
    <c:autoTitleDeleted val="0"/>
    <c:plotArea>
      <c:layout/>
      <c:barChart>
        <c:barDir val="col"/>
        <c:grouping val="clustered"/>
        <c:varyColors val="0"/>
        <c:ser>
          <c:idx val="0"/>
          <c:order val="0"/>
          <c:tx>
            <c:strRef>
              <c:f>Sheet1!$B$1</c:f>
              <c:strCache>
                <c:ptCount val="1"/>
                <c:pt idx="0">
                  <c:v>First Purchases</c:v>
                </c:pt>
              </c:strCache>
            </c:strRef>
          </c:tx>
          <c:spPr>
            <a:solidFill>
              <a:srgbClr val="007E39"/>
            </a:solidFill>
            <a:ln w="0" cmpd="sng">
              <a:solidFill>
                <a:srgbClr val="E0E0E0"/>
              </a:solidFill>
            </a:ln>
            <a:effectLst/>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Sheet1!$A$2:$A$11</c:f>
              <c:strCache>
                <c:ptCount val="10"/>
                <c:pt idx="0">
                  <c:v>Generic Indian</c:v>
                </c:pt>
                <c:pt idx="1">
                  <c:v>Generic Global</c:v>
                </c:pt>
                <c:pt idx="2">
                  <c:v>Classmate</c:v>
                </c:pt>
                <c:pt idx="3">
                  <c:v>Navneet</c:v>
                </c:pt>
                <c:pt idx="4">
                  <c:v>Camel</c:v>
                </c:pt>
                <c:pt idx="5">
                  <c:v>Himalaya Pet</c:v>
                </c:pt>
                <c:pt idx="6">
                  <c:v>Drools</c:v>
                </c:pt>
                <c:pt idx="7">
                  <c:v>Amaron</c:v>
                </c:pt>
                <c:pt idx="8">
                  <c:v>Bosch India</c:v>
                </c:pt>
                <c:pt idx="9">
                  <c:v>Minda</c:v>
                </c:pt>
              </c:strCache>
            </c:strRef>
          </c:cat>
          <c:val>
            <c:numRef>
              <c:f>Sheet1!$B$2:$B$11</c:f>
              <c:numCache>
                <c:formatCode>General</c:formatCode>
                <c:ptCount val="10"/>
                <c:pt idx="0">
                  <c:v>18000</c:v>
                </c:pt>
                <c:pt idx="1">
                  <c:v>3200</c:v>
                </c:pt>
                <c:pt idx="2">
                  <c:v>600</c:v>
                </c:pt>
                <c:pt idx="3">
                  <c:v>550</c:v>
                </c:pt>
                <c:pt idx="4">
                  <c:v>500</c:v>
                </c:pt>
                <c:pt idx="5">
                  <c:v>450</c:v>
                </c:pt>
                <c:pt idx="6">
                  <c:v>400</c:v>
                </c:pt>
                <c:pt idx="7">
                  <c:v>380</c:v>
                </c:pt>
                <c:pt idx="8">
                  <c:v>350</c:v>
                </c:pt>
                <c:pt idx="9">
                  <c:v>320</c:v>
                </c:pt>
              </c:numCache>
            </c:numRef>
          </c:val>
          <c:extLst>
            <c:ext xmlns:c16="http://schemas.microsoft.com/office/drawing/2014/chart" uri="{C3380CC4-5D6E-409C-BE32-E72D297353CC}">
              <c16:uniqueId val="{00000000-6DF4-4BAA-B707-78241F87B9A1}"/>
            </c:ext>
          </c:extLst>
        </c:ser>
        <c:dLbls>
          <c:showLegendKey val="0"/>
          <c:showVal val="1"/>
          <c:showCatName val="0"/>
          <c:showSerName val="0"/>
          <c:showPercent val="0"/>
          <c:showBubbleSize val="0"/>
        </c:dLbls>
        <c:gapWidth val="82"/>
        <c:axId val="337395744"/>
        <c:axId val="337387040"/>
      </c:barChart>
      <c:lineChart>
        <c:grouping val="standard"/>
        <c:varyColors val="0"/>
        <c:ser>
          <c:idx val="1"/>
          <c:order val="1"/>
          <c:tx>
            <c:strRef>
              <c:f>Sheet1!$C$1</c:f>
              <c:strCache>
                <c:ptCount val="1"/>
                <c:pt idx="0">
                  <c:v>Avg Rating</c:v>
                </c:pt>
              </c:strCache>
            </c:strRef>
          </c:tx>
          <c:spPr>
            <a:ln w="25400"/>
            <a:effectLst/>
          </c:spPr>
          <c:marker>
            <c:symbol val="none"/>
          </c:marker>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Sheet1!$A$2:$A$11</c:f>
              <c:strCache>
                <c:ptCount val="10"/>
                <c:pt idx="0">
                  <c:v>Generic Indian</c:v>
                </c:pt>
                <c:pt idx="1">
                  <c:v>Generic Global</c:v>
                </c:pt>
                <c:pt idx="2">
                  <c:v>Classmate</c:v>
                </c:pt>
                <c:pt idx="3">
                  <c:v>Navneet</c:v>
                </c:pt>
                <c:pt idx="4">
                  <c:v>Camel</c:v>
                </c:pt>
                <c:pt idx="5">
                  <c:v>Himalaya Pet</c:v>
                </c:pt>
                <c:pt idx="6">
                  <c:v>Drools</c:v>
                </c:pt>
                <c:pt idx="7">
                  <c:v>Amaron</c:v>
                </c:pt>
                <c:pt idx="8">
                  <c:v>Bosch India</c:v>
                </c:pt>
                <c:pt idx="9">
                  <c:v>Minda</c:v>
                </c:pt>
              </c:strCache>
            </c:strRef>
          </c:cat>
          <c:val>
            <c:numRef>
              <c:f>Sheet1!$C$2:$C$11</c:f>
              <c:numCache>
                <c:formatCode>General</c:formatCode>
                <c:ptCount val="10"/>
                <c:pt idx="0">
                  <c:v>4.09</c:v>
                </c:pt>
                <c:pt idx="1">
                  <c:v>4.1100000000000003</c:v>
                </c:pt>
                <c:pt idx="2">
                  <c:v>4</c:v>
                </c:pt>
                <c:pt idx="3">
                  <c:v>4.08</c:v>
                </c:pt>
                <c:pt idx="4">
                  <c:v>4.12</c:v>
                </c:pt>
                <c:pt idx="5">
                  <c:v>4</c:v>
                </c:pt>
                <c:pt idx="6">
                  <c:v>4.0999999999999996</c:v>
                </c:pt>
                <c:pt idx="7">
                  <c:v>4.05</c:v>
                </c:pt>
                <c:pt idx="8">
                  <c:v>4.0599999999999996</c:v>
                </c:pt>
                <c:pt idx="9">
                  <c:v>4.04</c:v>
                </c:pt>
              </c:numCache>
            </c:numRef>
          </c:val>
          <c:smooth val="0"/>
          <c:extLst>
            <c:ext xmlns:c16="http://schemas.microsoft.com/office/drawing/2014/chart" uri="{C3380CC4-5D6E-409C-BE32-E72D297353CC}">
              <c16:uniqueId val="{00000001-6DF4-4BAA-B707-78241F87B9A1}"/>
            </c:ext>
          </c:extLst>
        </c:ser>
        <c:dLbls>
          <c:showLegendKey val="0"/>
          <c:showVal val="1"/>
          <c:showCatName val="0"/>
          <c:showSerName val="0"/>
          <c:showPercent val="0"/>
          <c:showBubbleSize val="0"/>
        </c:dLbls>
        <c:marker val="1"/>
        <c:smooth val="0"/>
        <c:axId val="1917672976"/>
        <c:axId val="1917672496"/>
      </c:lineChart>
      <c:catAx>
        <c:axId val="337395744"/>
        <c:scaling>
          <c:orientation val="minMax"/>
        </c:scaling>
        <c:delete val="0"/>
        <c:axPos val="b"/>
        <c:majorGridlines>
          <c:spPr>
            <a:ln w="12700" cap="flat">
              <a:solidFill>
                <a:srgbClr val="E0E0E0"/>
              </a:solidFill>
              <a:prstDash val="dot"/>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337387040"/>
        <c:crosses val="autoZero"/>
        <c:auto val="1"/>
        <c:lblAlgn val="ctr"/>
        <c:lblOffset val="100"/>
        <c:noMultiLvlLbl val="1"/>
      </c:catAx>
      <c:valAx>
        <c:axId val="337387040"/>
        <c:scaling>
          <c:orientation val="minMax"/>
        </c:scaling>
        <c:delete val="0"/>
        <c:axPos val="l"/>
        <c:majorGridlines>
          <c:spPr>
            <a:ln w="12700" cap="flat">
              <a:solidFill>
                <a:srgbClr val="E0E6F1"/>
              </a:solidFill>
              <a:prstDash val="solid"/>
              <a:round/>
            </a:ln>
          </c:spPr>
        </c:majorGridlines>
        <c:title>
          <c:tx>
            <c:rich>
              <a:bodyPr/>
              <a:lstStyle/>
              <a:p>
                <a:pPr>
                  <a:defRPr sz="1200"/>
                </a:pPr>
                <a:r>
                  <a:rPr lang="en-IN" sz="1200" b="1" i="0" u="none" strike="noStrike" baseline="0" dirty="0"/>
                  <a:t>First Purchases</a:t>
                </a:r>
                <a:endParaRPr lang="en-IN" sz="1200" dirty="0"/>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337395744"/>
        <c:crosses val="autoZero"/>
        <c:crossBetween val="between"/>
      </c:valAx>
      <c:valAx>
        <c:axId val="1917672496"/>
        <c:scaling>
          <c:orientation val="minMax"/>
          <c:max val="5"/>
          <c:min val="1"/>
        </c:scaling>
        <c:delete val="0"/>
        <c:axPos val="r"/>
        <c:title>
          <c:tx>
            <c:rich>
              <a:bodyPr/>
              <a:lstStyle/>
              <a:p>
                <a:pPr>
                  <a:defRPr sz="1200"/>
                </a:pPr>
                <a:r>
                  <a:rPr lang="en-IN" sz="1200" b="1" i="0" u="none" strike="noStrike" baseline="0" dirty="0"/>
                  <a:t>Average Rating</a:t>
                </a:r>
                <a:endParaRPr lang="en-IN" sz="1200" dirty="0"/>
              </a:p>
            </c:rich>
          </c:tx>
          <c:overlay val="0"/>
        </c:title>
        <c:numFmt formatCode="General" sourceLinked="1"/>
        <c:majorTickMark val="out"/>
        <c:minorTickMark val="none"/>
        <c:tickLblPos val="nextTo"/>
        <c:crossAx val="1917672976"/>
        <c:crosses val="max"/>
        <c:crossBetween val="between"/>
      </c:valAx>
      <c:catAx>
        <c:axId val="1917672976"/>
        <c:scaling>
          <c:orientation val="minMax"/>
        </c:scaling>
        <c:delete val="1"/>
        <c:axPos val="b"/>
        <c:numFmt formatCode="General" sourceLinked="1"/>
        <c:majorTickMark val="out"/>
        <c:minorTickMark val="none"/>
        <c:tickLblPos val="nextTo"/>
        <c:crossAx val="1917672496"/>
        <c:crosses val="autoZero"/>
        <c:auto val="1"/>
        <c:lblAlgn val="ctr"/>
        <c:lblOffset val="100"/>
        <c:noMultiLvlLbl val="0"/>
      </c:catAx>
      <c:spPr>
        <a:noFill/>
        <a:ln>
          <a:noFill/>
        </a:ln>
        <a:effectLst/>
      </c:spPr>
    </c:plotArea>
    <c:legend>
      <c:legendPos val="t"/>
      <c:legendEntry>
        <c:idx val="0"/>
        <c:txPr>
          <a:bodyPr/>
          <a:lstStyle/>
          <a:p>
            <a:pPr>
              <a:defRPr sz="1200">
                <a:solidFill>
                  <a:srgbClr val="333333"/>
                </a:solidFill>
              </a:defRPr>
            </a:pPr>
            <a:endParaRPr lang="en-US"/>
          </a:p>
        </c:txPr>
      </c:legendEntry>
      <c:legendEntry>
        <c:idx val="1"/>
        <c:txPr>
          <a:bodyPr/>
          <a:lstStyle/>
          <a:p>
            <a:pPr>
              <a:defRPr sz="1200">
                <a:solidFill>
                  <a:srgbClr val="333333"/>
                </a:solidFill>
              </a:defRPr>
            </a:pPr>
            <a:endParaRPr lang="en-US"/>
          </a:p>
        </c:txPr>
      </c:legendEntry>
      <c:overlay val="0"/>
      <c:txPr>
        <a:bodyPr/>
        <a:lstStyle/>
        <a:p>
          <a:pPr>
            <a:defRPr sz="1100">
              <a:solidFill>
                <a:srgbClr val="333333"/>
              </a:solidFill>
            </a:defRPr>
          </a:pPr>
          <a:endParaRPr lang="en-US"/>
        </a:p>
      </c:txPr>
    </c:legend>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IN" sz="1600" b="1" i="0" u="none" strike="noStrike" kern="1200" spc="0" baseline="0" dirty="0" smtClean="0">
                <a:solidFill>
                  <a:srgbClr val="000000"/>
                </a:solidFill>
                <a:latin typeface="+mn-lt"/>
                <a:ea typeface="+mn-ea"/>
                <a:cs typeface="+mn-cs"/>
              </a:defRPr>
            </a:pPr>
            <a:r>
              <a:rPr lang="en-IN" sz="1600" b="1" i="0" u="none" strike="noStrike" kern="1200" baseline="0" dirty="0">
                <a:solidFill>
                  <a:srgbClr val="000000"/>
                </a:solidFill>
                <a:latin typeface="+mn-lt"/>
                <a:ea typeface="+mn-ea"/>
                <a:cs typeface="+mn-cs"/>
              </a:rPr>
              <a:t>Top Categories for Generic Indian Brand</a:t>
            </a:r>
          </a:p>
        </c:rich>
      </c:tx>
      <c:overlay val="0"/>
      <c:spPr>
        <a:noFill/>
        <a:ln>
          <a:noFill/>
        </a:ln>
        <a:effectLst/>
      </c:spPr>
      <c:txPr>
        <a:bodyPr rot="0" spcFirstLastPara="1" vertOverflow="ellipsis" vert="horz" wrap="square" anchor="ctr" anchorCtr="1"/>
        <a:lstStyle/>
        <a:p>
          <a:pPr algn="ctr" rtl="0">
            <a:defRPr lang="en-IN" sz="1600" b="1" i="0" u="none" strike="noStrike" kern="1200" spc="0" baseline="0" dirty="0" smtClean="0">
              <a:solidFill>
                <a:srgbClr val="000000"/>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Orders</c:v>
                </c:pt>
              </c:strCache>
            </c:strRef>
          </c:tx>
          <c:spPr>
            <a:solidFill>
              <a:srgbClr val="0B3C3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bed_bath_table</c:v>
                </c:pt>
                <c:pt idx="1">
                  <c:v>sports_leisure</c:v>
                </c:pt>
                <c:pt idx="2">
                  <c:v>health_beauty</c:v>
                </c:pt>
                <c:pt idx="3">
                  <c:v>housewares</c:v>
                </c:pt>
                <c:pt idx="4">
                  <c:v>toys</c:v>
                </c:pt>
                <c:pt idx="5">
                  <c:v>watches_gifts</c:v>
                </c:pt>
                <c:pt idx="6">
                  <c:v>telephony</c:v>
                </c:pt>
                <c:pt idx="7">
                  <c:v>baby</c:v>
                </c:pt>
                <c:pt idx="8">
                  <c:v>cool_stuff</c:v>
                </c:pt>
                <c:pt idx="9">
                  <c:v>garden_tools</c:v>
                </c:pt>
              </c:strCache>
            </c:strRef>
          </c:cat>
          <c:val>
            <c:numRef>
              <c:f>Sheet1!$B$2:$B$11</c:f>
              <c:numCache>
                <c:formatCode>General</c:formatCode>
                <c:ptCount val="10"/>
                <c:pt idx="0">
                  <c:v>2758</c:v>
                </c:pt>
                <c:pt idx="1">
                  <c:v>2608</c:v>
                </c:pt>
                <c:pt idx="2">
                  <c:v>2260</c:v>
                </c:pt>
                <c:pt idx="3">
                  <c:v>2163</c:v>
                </c:pt>
                <c:pt idx="4">
                  <c:v>1372</c:v>
                </c:pt>
                <c:pt idx="5">
                  <c:v>1193</c:v>
                </c:pt>
                <c:pt idx="6">
                  <c:v>968</c:v>
                </c:pt>
                <c:pt idx="7">
                  <c:v>873</c:v>
                </c:pt>
                <c:pt idx="8">
                  <c:v>722</c:v>
                </c:pt>
                <c:pt idx="9">
                  <c:v>645</c:v>
                </c:pt>
              </c:numCache>
            </c:numRef>
          </c:val>
          <c:extLst>
            <c:ext xmlns:c16="http://schemas.microsoft.com/office/drawing/2014/chart" uri="{C3380CC4-5D6E-409C-BE32-E72D297353CC}">
              <c16:uniqueId val="{00000000-5E48-4115-AF32-4DE735A25223}"/>
            </c:ext>
          </c:extLst>
        </c:ser>
        <c:dLbls>
          <c:dLblPos val="outEnd"/>
          <c:showLegendKey val="0"/>
          <c:showVal val="1"/>
          <c:showCatName val="0"/>
          <c:showSerName val="0"/>
          <c:showPercent val="0"/>
          <c:showBubbleSize val="0"/>
        </c:dLbls>
        <c:gapWidth val="182"/>
        <c:axId val="504221520"/>
        <c:axId val="504212880"/>
      </c:barChart>
      <c:catAx>
        <c:axId val="50422152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rgbClr val="333333"/>
                </a:solidFill>
                <a:latin typeface="Arial"/>
                <a:ea typeface="+mn-ea"/>
                <a:cs typeface="+mn-cs"/>
              </a:defRPr>
            </a:pPr>
            <a:endParaRPr lang="en-US"/>
          </a:p>
        </c:txPr>
        <c:crossAx val="504212880"/>
        <c:crosses val="autoZero"/>
        <c:auto val="1"/>
        <c:lblAlgn val="ctr"/>
        <c:lblOffset val="100"/>
        <c:noMultiLvlLbl val="0"/>
      </c:catAx>
      <c:valAx>
        <c:axId val="504212880"/>
        <c:scaling>
          <c:orientation val="minMax"/>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lgn="ctr" rtl="0">
                  <a:defRPr lang="en-IN" sz="1200" b="1" i="0" u="none" strike="noStrike" kern="1200" baseline="0">
                    <a:solidFill>
                      <a:srgbClr val="000000"/>
                    </a:solidFill>
                    <a:latin typeface="+mn-lt"/>
                    <a:ea typeface="+mn-ea"/>
                    <a:cs typeface="+mn-cs"/>
                  </a:defRPr>
                </a:pPr>
                <a:r>
                  <a:rPr lang="en-IN" sz="1200" b="1" i="0" u="none" strike="noStrike" baseline="0" dirty="0"/>
                  <a:t>Number of First Purchase Orders</a:t>
                </a:r>
                <a:endParaRPr lang="en-IN" sz="1200" b="1" i="0" u="none" strike="noStrike" kern="1200" baseline="0" dirty="0">
                  <a:solidFill>
                    <a:srgbClr val="000000"/>
                  </a:solidFill>
                  <a:latin typeface="+mn-lt"/>
                  <a:ea typeface="+mn-ea"/>
                  <a:cs typeface="+mn-cs"/>
                </a:endParaRPr>
              </a:p>
            </c:rich>
          </c:tx>
          <c:overlay val="0"/>
          <c:spPr>
            <a:noFill/>
            <a:ln>
              <a:noFill/>
            </a:ln>
            <a:effectLst/>
          </c:spPr>
          <c:txPr>
            <a:bodyPr rot="0" spcFirstLastPara="1" vertOverflow="ellipsis" vert="horz" wrap="square" anchor="ctr" anchorCtr="1"/>
            <a:lstStyle/>
            <a:p>
              <a:pPr algn="ctr" rtl="0">
                <a:defRPr lang="en-IN" sz="1200" b="1" i="0" u="none" strike="noStrike" kern="1200" baseline="0">
                  <a:solidFill>
                    <a:srgbClr val="000000"/>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rgbClr val="333333"/>
                </a:solidFill>
                <a:latin typeface="Arial"/>
                <a:ea typeface="+mn-ea"/>
                <a:cs typeface="+mn-cs"/>
              </a:defRPr>
            </a:pPr>
            <a:endParaRPr lang="en-US"/>
          </a:p>
        </c:txPr>
        <c:crossAx val="504221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i="0" u="none" strike="noStrike" baseline="0" dirty="0"/>
              <a:t>Revenue &amp; First Purchases by Discount Band</a:t>
            </a:r>
            <a:endParaRPr lang="en-US" sz="1600" dirty="0"/>
          </a:p>
        </c:rich>
      </c:tx>
      <c:overlay val="0"/>
    </c:title>
    <c:autoTitleDeleted val="0"/>
    <c:plotArea>
      <c:layout>
        <c:manualLayout>
          <c:layoutTarget val="inner"/>
          <c:xMode val="edge"/>
          <c:yMode val="edge"/>
          <c:x val="0.12812949020058623"/>
          <c:y val="0.14947380435302388"/>
          <c:w val="0.77217009598252773"/>
          <c:h val="0.68939795169863205"/>
        </c:manualLayout>
      </c:layout>
      <c:barChart>
        <c:barDir val="col"/>
        <c:grouping val="clustered"/>
        <c:varyColors val="0"/>
        <c:ser>
          <c:idx val="1"/>
          <c:order val="0"/>
          <c:tx>
            <c:strRef>
              <c:f>Sheet1!$C$1</c:f>
              <c:strCache>
                <c:ptCount val="1"/>
                <c:pt idx="0">
                  <c:v>First Purchases</c:v>
                </c:pt>
              </c:strCache>
            </c:strRef>
          </c:tx>
          <c:spPr>
            <a:solidFill>
              <a:srgbClr val="C58940"/>
            </a:solidFill>
            <a:effectLst/>
          </c:spPr>
          <c:invertIfNegative val="0"/>
          <c:cat>
            <c:strRef>
              <c:f>Sheet1!$A$2:$A$6</c:f>
              <c:strCache>
                <c:ptCount val="5"/>
                <c:pt idx="0">
                  <c:v>No Discount</c:v>
                </c:pt>
                <c:pt idx="1">
                  <c:v>Low (1-10%)</c:v>
                </c:pt>
                <c:pt idx="2">
                  <c:v>Medium (11-25%)</c:v>
                </c:pt>
                <c:pt idx="3">
                  <c:v>High (26-50%)</c:v>
                </c:pt>
                <c:pt idx="4">
                  <c:v>Very High (50%+)</c:v>
                </c:pt>
              </c:strCache>
            </c:strRef>
          </c:cat>
          <c:val>
            <c:numRef>
              <c:f>Sheet1!$C$2:$C$6</c:f>
              <c:numCache>
                <c:formatCode>General</c:formatCode>
                <c:ptCount val="5"/>
                <c:pt idx="0">
                  <c:v>500</c:v>
                </c:pt>
                <c:pt idx="1">
                  <c:v>10000</c:v>
                </c:pt>
                <c:pt idx="2">
                  <c:v>15500</c:v>
                </c:pt>
                <c:pt idx="3">
                  <c:v>5200</c:v>
                </c:pt>
                <c:pt idx="4">
                  <c:v>300</c:v>
                </c:pt>
              </c:numCache>
            </c:numRef>
          </c:val>
          <c:extLst>
            <c:ext xmlns:c16="http://schemas.microsoft.com/office/drawing/2014/chart" uri="{C3380CC4-5D6E-409C-BE32-E72D297353CC}">
              <c16:uniqueId val="{00000000-EC59-480C-9184-A76776C77553}"/>
            </c:ext>
          </c:extLst>
        </c:ser>
        <c:dLbls>
          <c:showLegendKey val="0"/>
          <c:showVal val="0"/>
          <c:showCatName val="0"/>
          <c:showSerName val="0"/>
          <c:showPercent val="0"/>
          <c:showBubbleSize val="0"/>
        </c:dLbls>
        <c:gapWidth val="67"/>
        <c:axId val="166913136"/>
        <c:axId val="166908784"/>
      </c:barChart>
      <c:lineChart>
        <c:grouping val="standard"/>
        <c:varyColors val="0"/>
        <c:ser>
          <c:idx val="0"/>
          <c:order val="1"/>
          <c:tx>
            <c:strRef>
              <c:f>Sheet1!$B$1</c:f>
              <c:strCache>
                <c:ptCount val="1"/>
                <c:pt idx="0">
                  <c:v>Revenue (M)</c:v>
                </c:pt>
              </c:strCache>
            </c:strRef>
          </c:tx>
          <c:spPr>
            <a:ln cmpd="sng">
              <a:solidFill>
                <a:schemeClr val="accent1">
                  <a:lumMod val="50000"/>
                </a:schemeClr>
              </a:solidFill>
              <a:prstDash val="sysDash"/>
            </a:ln>
            <a:effectLst/>
          </c:spPr>
          <c:marker>
            <c:symbol val="none"/>
          </c:marker>
          <c:cat>
            <c:strRef>
              <c:f>Sheet1!$A$2:$A$6</c:f>
              <c:strCache>
                <c:ptCount val="5"/>
                <c:pt idx="0">
                  <c:v>No Discount</c:v>
                </c:pt>
                <c:pt idx="1">
                  <c:v>Low (1-10%)</c:v>
                </c:pt>
                <c:pt idx="2">
                  <c:v>Medium (11-25%)</c:v>
                </c:pt>
                <c:pt idx="3">
                  <c:v>High (26-50%)</c:v>
                </c:pt>
                <c:pt idx="4">
                  <c:v>Very High (50%+)</c:v>
                </c:pt>
              </c:strCache>
            </c:strRef>
          </c:cat>
          <c:val>
            <c:numRef>
              <c:f>Sheet1!$B$2:$B$6</c:f>
              <c:numCache>
                <c:formatCode>General</c:formatCode>
                <c:ptCount val="5"/>
                <c:pt idx="0">
                  <c:v>5</c:v>
                </c:pt>
                <c:pt idx="1">
                  <c:v>45</c:v>
                </c:pt>
                <c:pt idx="2">
                  <c:v>145</c:v>
                </c:pt>
                <c:pt idx="3">
                  <c:v>128</c:v>
                </c:pt>
                <c:pt idx="4">
                  <c:v>6</c:v>
                </c:pt>
              </c:numCache>
            </c:numRef>
          </c:val>
          <c:smooth val="0"/>
          <c:extLst>
            <c:ext xmlns:c16="http://schemas.microsoft.com/office/drawing/2014/chart" uri="{C3380CC4-5D6E-409C-BE32-E72D297353CC}">
              <c16:uniqueId val="{00000001-EC59-480C-9184-A76776C77553}"/>
            </c:ext>
          </c:extLst>
        </c:ser>
        <c:dLbls>
          <c:showLegendKey val="0"/>
          <c:showVal val="0"/>
          <c:showCatName val="0"/>
          <c:showSerName val="0"/>
          <c:showPercent val="0"/>
          <c:showBubbleSize val="0"/>
        </c:dLbls>
        <c:marker val="1"/>
        <c:smooth val="0"/>
        <c:axId val="166915312"/>
        <c:axId val="166914768"/>
      </c:lineChart>
      <c:catAx>
        <c:axId val="166913136"/>
        <c:scaling>
          <c:orientation val="minMax"/>
        </c:scaling>
        <c:delete val="0"/>
        <c:axPos val="b"/>
        <c:title>
          <c:tx>
            <c:rich>
              <a:bodyPr/>
              <a:lstStyle/>
              <a:p>
                <a:pPr>
                  <a:defRPr sz="1200"/>
                </a:pPr>
                <a:r>
                  <a:rPr lang="en-US" sz="1200" b="1" i="0" u="none" strike="noStrike" baseline="0" dirty="0"/>
                  <a:t>Discount Band</a:t>
                </a:r>
                <a:endParaRPr lang="en-US" sz="1200" dirty="0"/>
              </a:p>
            </c:rich>
          </c:tx>
          <c:layout>
            <c:manualLayout>
              <c:xMode val="edge"/>
              <c:yMode val="edge"/>
              <c:x val="0.4473945341686304"/>
              <c:y val="0.9391708087731756"/>
            </c:manualLayout>
          </c:layout>
          <c:overlay val="0"/>
        </c:title>
        <c:numFmt formatCode="General" sourceLinked="1"/>
        <c:majorTickMark val="out"/>
        <c:minorTickMark val="none"/>
        <c:tickLblPos val="low"/>
        <c:spPr>
          <a:ln w="12700" cap="flat">
            <a:solidFill>
              <a:srgbClr val="888888"/>
            </a:solidFill>
            <a:prstDash val="solid"/>
            <a:round/>
          </a:ln>
        </c:spPr>
        <c:txPr>
          <a:bodyPr rot="-900000"/>
          <a:lstStyle/>
          <a:p>
            <a:pPr>
              <a:defRPr sz="1100" b="0" i="0" u="none" strike="noStrike">
                <a:solidFill>
                  <a:srgbClr val="333333"/>
                </a:solidFill>
                <a:latin typeface="Arial"/>
              </a:defRPr>
            </a:pPr>
            <a:endParaRPr lang="en-US"/>
          </a:p>
        </c:txPr>
        <c:crossAx val="166908784"/>
        <c:crosses val="autoZero"/>
        <c:auto val="1"/>
        <c:lblAlgn val="ctr"/>
        <c:lblOffset val="100"/>
        <c:tickMarkSkip val="1"/>
        <c:noMultiLvlLbl val="1"/>
      </c:catAx>
      <c:valAx>
        <c:axId val="166908784"/>
        <c:scaling>
          <c:orientation val="minMax"/>
        </c:scaling>
        <c:delete val="0"/>
        <c:axPos val="l"/>
        <c:majorGridlines>
          <c:spPr>
            <a:ln w="12700" cap="flat">
              <a:solidFill>
                <a:srgbClr val="E0E0E0"/>
              </a:solidFill>
              <a:prstDash val="dot"/>
              <a:round/>
            </a:ln>
          </c:spPr>
        </c:majorGridlines>
        <c:title>
          <c:tx>
            <c:rich>
              <a:bodyPr/>
              <a:lstStyle/>
              <a:p>
                <a:pPr>
                  <a:defRPr sz="1200"/>
                </a:pPr>
                <a:r>
                  <a:rPr lang="en-US" sz="1200" b="1" i="0" u="none" strike="noStrike" baseline="0" dirty="0">
                    <a:solidFill>
                      <a:schemeClr val="tx1"/>
                    </a:solidFill>
                  </a:rPr>
                  <a:t>First Purchases</a:t>
                </a:r>
                <a:endParaRPr lang="en-US" sz="1200" dirty="0">
                  <a:solidFill>
                    <a:schemeClr val="tx1"/>
                  </a:solidFill>
                </a:endParaRPr>
              </a:p>
            </c:rich>
          </c:tx>
          <c:layout>
            <c:manualLayout>
              <c:xMode val="edge"/>
              <c:yMode val="edge"/>
              <c:x val="1.9230769230769232E-3"/>
              <c:y val="0.38745189469658758"/>
            </c:manualLayout>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166913136"/>
        <c:crosses val="autoZero"/>
        <c:crossBetween val="between"/>
      </c:valAx>
      <c:valAx>
        <c:axId val="166914768"/>
        <c:scaling>
          <c:orientation val="minMax"/>
        </c:scaling>
        <c:delete val="0"/>
        <c:axPos val="r"/>
        <c:title>
          <c:tx>
            <c:rich>
              <a:bodyPr/>
              <a:lstStyle/>
              <a:p>
                <a:pPr>
                  <a:defRPr sz="1200"/>
                </a:pPr>
                <a:r>
                  <a:rPr lang="en-US" sz="1200" b="1" i="0" u="none" strike="noStrike" baseline="0" dirty="0"/>
                  <a:t>Revenue (M)</a:t>
                </a:r>
                <a:endParaRPr lang="en-US" sz="1200" dirty="0"/>
              </a:p>
            </c:rich>
          </c:tx>
          <c:overlay val="0"/>
        </c:title>
        <c:numFmt formatCode="General" sourceLinked="1"/>
        <c:majorTickMark val="out"/>
        <c:minorTickMark val="none"/>
        <c:tickLblPos val="nextTo"/>
        <c:crossAx val="166915312"/>
        <c:crosses val="max"/>
        <c:crossBetween val="between"/>
      </c:valAx>
      <c:catAx>
        <c:axId val="166915312"/>
        <c:scaling>
          <c:orientation val="minMax"/>
        </c:scaling>
        <c:delete val="1"/>
        <c:axPos val="b"/>
        <c:numFmt formatCode="General" sourceLinked="1"/>
        <c:majorTickMark val="out"/>
        <c:minorTickMark val="none"/>
        <c:tickLblPos val="nextTo"/>
        <c:crossAx val="166914768"/>
        <c:crosses val="autoZero"/>
        <c:auto val="1"/>
        <c:lblAlgn val="ctr"/>
        <c:lblOffset val="100"/>
        <c:noMultiLvlLbl val="0"/>
      </c:catAx>
      <c:spPr>
        <a:noFill/>
        <a:ln>
          <a:noFill/>
        </a:ln>
        <a:effectLst/>
      </c:spPr>
    </c:plotArea>
    <c:legend>
      <c:legendPos val="t"/>
      <c:legendEntry>
        <c:idx val="0"/>
        <c:txPr>
          <a:bodyPr/>
          <a:lstStyle/>
          <a:p>
            <a:pPr>
              <a:defRPr sz="1200">
                <a:solidFill>
                  <a:srgbClr val="333333"/>
                </a:solidFill>
              </a:defRPr>
            </a:pPr>
            <a:endParaRPr lang="en-US"/>
          </a:p>
        </c:txPr>
      </c:legendEntry>
      <c:legendEntry>
        <c:idx val="1"/>
        <c:txPr>
          <a:bodyPr/>
          <a:lstStyle/>
          <a:p>
            <a:pPr>
              <a:defRPr sz="1200">
                <a:solidFill>
                  <a:srgbClr val="333333"/>
                </a:solidFill>
              </a:defRPr>
            </a:pPr>
            <a:endParaRPr lang="en-US"/>
          </a:p>
        </c:txPr>
      </c:legendEntry>
      <c:overlay val="0"/>
      <c:txPr>
        <a:bodyPr/>
        <a:lstStyle/>
        <a:p>
          <a:pPr>
            <a:defRPr sz="1100">
              <a:solidFill>
                <a:srgbClr val="333333"/>
              </a:solidFill>
            </a:defRPr>
          </a:pPr>
          <a:endParaRPr lang="en-US"/>
        </a:p>
      </c:txPr>
    </c:legend>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US" sz="1600" b="1" i="0" u="none" strike="noStrike" baseline="0" dirty="0"/>
              <a:t>Average Order Value by Discount Band</a:t>
            </a:r>
            <a:endParaRPr lang="en-US" sz="1600" dirty="0"/>
          </a:p>
        </c:rich>
      </c:tx>
      <c:overlay val="0"/>
    </c:title>
    <c:autoTitleDeleted val="0"/>
    <c:plotArea>
      <c:layout/>
      <c:barChart>
        <c:barDir val="col"/>
        <c:grouping val="clustered"/>
        <c:varyColors val="0"/>
        <c:ser>
          <c:idx val="0"/>
          <c:order val="0"/>
          <c:tx>
            <c:strRef>
              <c:f>Sheet1!$B$1</c:f>
              <c:strCache>
                <c:ptCount val="1"/>
                <c:pt idx="0">
                  <c:v>AOV</c:v>
                </c:pt>
              </c:strCache>
            </c:strRef>
          </c:tx>
          <c:spPr>
            <a:solidFill>
              <a:srgbClr val="1A7A7A"/>
            </a:solidFill>
            <a:effectLst/>
          </c:spPr>
          <c:invertIfNegative val="0"/>
          <c:dLbls>
            <c:numFmt formatCode="#,##0" sourceLinked="0"/>
            <c:spPr>
              <a:noFill/>
              <a:ln>
                <a:noFill/>
              </a:ln>
              <a:effectLst/>
            </c:spPr>
            <c:txPr>
              <a:bodyPr/>
              <a:lstStyle/>
              <a:p>
                <a:pPr>
                  <a:defRPr sz="11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 Discount</c:v>
                </c:pt>
                <c:pt idx="1">
                  <c:v>Low (1-10%)</c:v>
                </c:pt>
                <c:pt idx="2">
                  <c:v>Medium (11-25%)</c:v>
                </c:pt>
                <c:pt idx="3">
                  <c:v>High (26-50%)</c:v>
                </c:pt>
                <c:pt idx="4">
                  <c:v>Very High (50%+)</c:v>
                </c:pt>
              </c:strCache>
            </c:strRef>
          </c:cat>
          <c:val>
            <c:numRef>
              <c:f>Sheet1!$B$2:$B$6</c:f>
              <c:numCache>
                <c:formatCode>General</c:formatCode>
                <c:ptCount val="5"/>
                <c:pt idx="0">
                  <c:v>3500</c:v>
                </c:pt>
                <c:pt idx="1">
                  <c:v>6000</c:v>
                </c:pt>
                <c:pt idx="2">
                  <c:v>11000</c:v>
                </c:pt>
                <c:pt idx="3">
                  <c:v>24000</c:v>
                </c:pt>
                <c:pt idx="4">
                  <c:v>50000</c:v>
                </c:pt>
              </c:numCache>
            </c:numRef>
          </c:val>
          <c:extLst>
            <c:ext xmlns:c16="http://schemas.microsoft.com/office/drawing/2014/chart" uri="{C3380CC4-5D6E-409C-BE32-E72D297353CC}">
              <c16:uniqueId val="{00000000-7915-403A-87CB-55EA257A6E2E}"/>
            </c:ext>
          </c:extLst>
        </c:ser>
        <c:dLbls>
          <c:showLegendKey val="0"/>
          <c:showVal val="1"/>
          <c:showCatName val="0"/>
          <c:showSerName val="0"/>
          <c:showPercent val="0"/>
          <c:showBubbleSize val="0"/>
        </c:dLbls>
        <c:gapWidth val="100"/>
        <c:axId val="166915856"/>
        <c:axId val="274202272"/>
      </c:barChart>
      <c:catAx>
        <c:axId val="166915856"/>
        <c:scaling>
          <c:orientation val="minMax"/>
        </c:scaling>
        <c:delete val="0"/>
        <c:axPos val="b"/>
        <c:title>
          <c:tx>
            <c:rich>
              <a:bodyPr/>
              <a:lstStyle/>
              <a:p>
                <a:pPr>
                  <a:defRPr sz="1200"/>
                </a:pPr>
                <a:r>
                  <a:rPr lang="en-US" sz="1200" b="1" i="0" u="none" strike="noStrike" baseline="0" dirty="0"/>
                  <a:t>Discount Band</a:t>
                </a:r>
                <a:endParaRPr lang="en-US" sz="1200" dirty="0"/>
              </a:p>
            </c:rich>
          </c:tx>
          <c:layout>
            <c:manualLayout>
              <c:xMode val="edge"/>
              <c:yMode val="edge"/>
              <c:x val="0.48133496062992132"/>
              <c:y val="0.92484756097560972"/>
            </c:manualLayout>
          </c:layout>
          <c:overlay val="0"/>
        </c:title>
        <c:numFmt formatCode="General" sourceLinked="1"/>
        <c:majorTickMark val="out"/>
        <c:minorTickMark val="none"/>
        <c:tickLblPos val="low"/>
        <c:spPr>
          <a:ln w="12700" cap="flat">
            <a:solidFill>
              <a:srgbClr val="888888"/>
            </a:solidFill>
            <a:prstDash val="solid"/>
            <a:round/>
          </a:ln>
        </c:spPr>
        <c:txPr>
          <a:bodyPr rot="-660000"/>
          <a:lstStyle/>
          <a:p>
            <a:pPr>
              <a:defRPr sz="1100" b="0" i="0" u="none" strike="noStrike">
                <a:solidFill>
                  <a:srgbClr val="333333"/>
                </a:solidFill>
                <a:latin typeface="Arial"/>
              </a:defRPr>
            </a:pPr>
            <a:endParaRPr lang="en-US"/>
          </a:p>
        </c:txPr>
        <c:crossAx val="274202272"/>
        <c:crosses val="autoZero"/>
        <c:auto val="1"/>
        <c:lblAlgn val="ctr"/>
        <c:lblOffset val="100"/>
        <c:noMultiLvlLbl val="1"/>
      </c:catAx>
      <c:valAx>
        <c:axId val="274202272"/>
        <c:scaling>
          <c:orientation val="minMax"/>
        </c:scaling>
        <c:delete val="0"/>
        <c:axPos val="l"/>
        <c:majorGridlines>
          <c:spPr>
            <a:ln w="12700" cap="flat">
              <a:solidFill>
                <a:srgbClr val="E0E0E0"/>
              </a:solidFill>
              <a:prstDash val="dot"/>
              <a:round/>
            </a:ln>
          </c:spPr>
        </c:majorGridlines>
        <c:title>
          <c:tx>
            <c:rich>
              <a:bodyPr/>
              <a:lstStyle/>
              <a:p>
                <a:pPr>
                  <a:defRPr sz="1200"/>
                </a:pPr>
                <a:r>
                  <a:rPr lang="en-US" sz="1200" b="1" i="0" u="none" strike="noStrike" baseline="0" dirty="0"/>
                  <a:t>Average Order Value</a:t>
                </a:r>
                <a:endParaRPr lang="en-US" sz="1200"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16691585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IN" sz="1600" b="1" i="0" u="none" strike="noStrike" baseline="0" dirty="0"/>
              <a:t>Revenue by Price Band</a:t>
            </a:r>
            <a:endParaRPr lang="en-IN" sz="1600" dirty="0"/>
          </a:p>
        </c:rich>
      </c:tx>
      <c:overlay val="0"/>
    </c:title>
    <c:autoTitleDeleted val="0"/>
    <c:plotArea>
      <c:layout/>
      <c:barChart>
        <c:barDir val="col"/>
        <c:grouping val="clustered"/>
        <c:varyColors val="0"/>
        <c:ser>
          <c:idx val="0"/>
          <c:order val="0"/>
          <c:tx>
            <c:strRef>
              <c:f>Sheet1!$B$1</c:f>
              <c:strCache>
                <c:ptCount val="1"/>
                <c:pt idx="0">
                  <c:v>Revenue (M)</c:v>
                </c:pt>
              </c:strCache>
            </c:strRef>
          </c:tx>
          <c:spPr>
            <a:solidFill>
              <a:srgbClr val="0B3C3D"/>
            </a:solidFill>
            <a:effectLst/>
          </c:spPr>
          <c:invertIfNegative val="0"/>
          <c:dPt>
            <c:idx val="1"/>
            <c:invertIfNegative val="0"/>
            <c:bubble3D val="0"/>
            <c:spPr>
              <a:solidFill>
                <a:srgbClr val="1A7A7A"/>
              </a:solidFill>
              <a:effectLst/>
            </c:spPr>
            <c:extLst>
              <c:ext xmlns:c16="http://schemas.microsoft.com/office/drawing/2014/chart" uri="{C3380CC4-5D6E-409C-BE32-E72D297353CC}">
                <c16:uniqueId val="{00000000-51A9-45B3-AD33-CF853EB6075F}"/>
              </c:ext>
            </c:extLst>
          </c:dPt>
          <c:dPt>
            <c:idx val="2"/>
            <c:invertIfNegative val="0"/>
            <c:bubble3D val="0"/>
            <c:spPr>
              <a:solidFill>
                <a:srgbClr val="C58940"/>
              </a:solidFill>
              <a:effectLst/>
            </c:spPr>
            <c:extLst>
              <c:ext xmlns:c16="http://schemas.microsoft.com/office/drawing/2014/chart" uri="{C3380CC4-5D6E-409C-BE32-E72D297353CC}">
                <c16:uniqueId val="{00000001-51A9-45B3-AD33-CF853EB6075F}"/>
              </c:ext>
            </c:extLst>
          </c:dPt>
          <c:dPt>
            <c:idx val="3"/>
            <c:invertIfNegative val="0"/>
            <c:bubble3D val="0"/>
            <c:spPr>
              <a:solidFill>
                <a:srgbClr val="7F7F7F"/>
              </a:solidFill>
              <a:effectLst/>
            </c:spPr>
            <c:extLst>
              <c:ext xmlns:c16="http://schemas.microsoft.com/office/drawing/2014/chart" uri="{C3380CC4-5D6E-409C-BE32-E72D297353CC}">
                <c16:uniqueId val="{00000002-51A9-45B3-AD33-CF853EB6075F}"/>
              </c:ext>
            </c:extLst>
          </c:dPt>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&lt;5000</c:v>
                </c:pt>
                <c:pt idx="1">
                  <c:v>5000-15000</c:v>
                </c:pt>
                <c:pt idx="2">
                  <c:v>15000-30000</c:v>
                </c:pt>
                <c:pt idx="3">
                  <c:v>30000+</c:v>
                </c:pt>
              </c:strCache>
            </c:strRef>
          </c:cat>
          <c:val>
            <c:numRef>
              <c:f>Sheet1!$B$2:$B$5</c:f>
              <c:numCache>
                <c:formatCode>General</c:formatCode>
                <c:ptCount val="4"/>
                <c:pt idx="0">
                  <c:v>36</c:v>
                </c:pt>
                <c:pt idx="1">
                  <c:v>132</c:v>
                </c:pt>
                <c:pt idx="2">
                  <c:v>28</c:v>
                </c:pt>
                <c:pt idx="3">
                  <c:v>125</c:v>
                </c:pt>
              </c:numCache>
            </c:numRef>
          </c:val>
          <c:extLst>
            <c:ext xmlns:c16="http://schemas.microsoft.com/office/drawing/2014/chart" uri="{C3380CC4-5D6E-409C-BE32-E72D297353CC}">
              <c16:uniqueId val="{00000000-186F-4B25-84B6-7EEE15E96E2E}"/>
            </c:ext>
          </c:extLst>
        </c:ser>
        <c:dLbls>
          <c:showLegendKey val="0"/>
          <c:showVal val="1"/>
          <c:showCatName val="0"/>
          <c:showSerName val="0"/>
          <c:showPercent val="0"/>
          <c:showBubbleSize val="0"/>
        </c:dLbls>
        <c:gapWidth val="100"/>
        <c:axId val="274192480"/>
        <c:axId val="274197920"/>
      </c:barChart>
      <c:catAx>
        <c:axId val="274192480"/>
        <c:scaling>
          <c:orientation val="minMax"/>
        </c:scaling>
        <c:delete val="0"/>
        <c:axPos val="b"/>
        <c:title>
          <c:tx>
            <c:rich>
              <a:bodyPr/>
              <a:lstStyle/>
              <a:p>
                <a:pPr>
                  <a:defRPr sz="1200"/>
                </a:pPr>
                <a:r>
                  <a:rPr lang="en-IN" sz="1200" b="1" i="0" u="none" strike="noStrike" baseline="0" dirty="0"/>
                  <a:t>Price Band</a:t>
                </a:r>
                <a:endParaRPr lang="en-IN" sz="1200" dirty="0"/>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74197920"/>
        <c:crosses val="autoZero"/>
        <c:auto val="1"/>
        <c:lblAlgn val="ctr"/>
        <c:lblOffset val="100"/>
        <c:noMultiLvlLbl val="1"/>
      </c:catAx>
      <c:valAx>
        <c:axId val="274197920"/>
        <c:scaling>
          <c:orientation val="minMax"/>
        </c:scaling>
        <c:delete val="0"/>
        <c:axPos val="l"/>
        <c:majorGridlines>
          <c:spPr>
            <a:ln w="12700" cap="flat">
              <a:solidFill>
                <a:srgbClr val="E0E0E0"/>
              </a:solidFill>
              <a:prstDash val="dot"/>
              <a:round/>
            </a:ln>
          </c:spPr>
        </c:majorGridlines>
        <c:title>
          <c:tx>
            <c:rich>
              <a:bodyPr/>
              <a:lstStyle/>
              <a:p>
                <a:pPr>
                  <a:defRPr sz="1200"/>
                </a:pPr>
                <a:r>
                  <a:rPr lang="en-IN" sz="1200" b="1" i="0" u="none" strike="noStrike" baseline="0" dirty="0"/>
                  <a:t>Revenue (M)</a:t>
                </a:r>
                <a:endParaRPr lang="en-IN" sz="1200"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192480"/>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IN" sz="1600" b="1" i="0" u="none" strike="noStrike" baseline="0" dirty="0"/>
              <a:t>Average Discount by Price Band</a:t>
            </a:r>
            <a:endParaRPr lang="en-IN" sz="1600" dirty="0"/>
          </a:p>
        </c:rich>
      </c:tx>
      <c:overlay val="0"/>
    </c:title>
    <c:autoTitleDeleted val="0"/>
    <c:plotArea>
      <c:layout/>
      <c:barChart>
        <c:barDir val="col"/>
        <c:grouping val="clustered"/>
        <c:varyColors val="0"/>
        <c:ser>
          <c:idx val="0"/>
          <c:order val="0"/>
          <c:tx>
            <c:strRef>
              <c:f>Sheet1!$B$1</c:f>
              <c:strCache>
                <c:ptCount val="1"/>
                <c:pt idx="0">
                  <c:v>count</c:v>
                </c:pt>
              </c:strCache>
            </c:strRef>
          </c:tx>
          <c:spPr>
            <a:solidFill>
              <a:schemeClr val="accent1"/>
            </a:solidFill>
            <a:ln w="9525" cap="flat">
              <a:solidFill>
                <a:srgbClr val="F9F9F9"/>
              </a:solidFill>
              <a:prstDash val="solid"/>
              <a:round/>
            </a:ln>
            <a:effectLst/>
          </c:spPr>
          <c:invertIfNegative val="0"/>
          <c:dPt>
            <c:idx val="0"/>
            <c:invertIfNegative val="0"/>
            <c:bubble3D val="0"/>
            <c:spPr>
              <a:solidFill>
                <a:srgbClr val="0B3C3D"/>
              </a:solidFill>
              <a:effectLst/>
            </c:spPr>
            <c:extLst>
              <c:ext xmlns:c16="http://schemas.microsoft.com/office/drawing/2014/chart" uri="{C3380CC4-5D6E-409C-BE32-E72D297353CC}">
                <c16:uniqueId val="{00000001-7BCE-4C5A-8DC7-7F877114656B}"/>
              </c:ext>
            </c:extLst>
          </c:dPt>
          <c:dPt>
            <c:idx val="1"/>
            <c:invertIfNegative val="0"/>
            <c:bubble3D val="0"/>
            <c:spPr>
              <a:solidFill>
                <a:srgbClr val="1A7A7A"/>
              </a:solidFill>
              <a:effectLst/>
            </c:spPr>
            <c:extLst>
              <c:ext xmlns:c16="http://schemas.microsoft.com/office/drawing/2014/chart" uri="{C3380CC4-5D6E-409C-BE32-E72D297353CC}">
                <c16:uniqueId val="{00000003-7BCE-4C5A-8DC7-7F877114656B}"/>
              </c:ext>
            </c:extLst>
          </c:dPt>
          <c:dPt>
            <c:idx val="2"/>
            <c:invertIfNegative val="0"/>
            <c:bubble3D val="0"/>
            <c:spPr>
              <a:solidFill>
                <a:srgbClr val="C58940"/>
              </a:solidFill>
              <a:effectLst/>
            </c:spPr>
            <c:extLst>
              <c:ext xmlns:c16="http://schemas.microsoft.com/office/drawing/2014/chart" uri="{C3380CC4-5D6E-409C-BE32-E72D297353CC}">
                <c16:uniqueId val="{00000005-7BCE-4C5A-8DC7-7F877114656B}"/>
              </c:ext>
            </c:extLst>
          </c:dPt>
          <c:dPt>
            <c:idx val="3"/>
            <c:invertIfNegative val="0"/>
            <c:bubble3D val="0"/>
            <c:spPr>
              <a:solidFill>
                <a:schemeClr val="bg1">
                  <a:lumMod val="50000"/>
                </a:schemeClr>
              </a:solidFill>
              <a:ln w="9525" cap="flat">
                <a:solidFill>
                  <a:srgbClr val="F9F9F9"/>
                </a:solidFill>
                <a:prstDash val="solid"/>
                <a:round/>
              </a:ln>
              <a:effectLst/>
            </c:spPr>
            <c:extLst>
              <c:ext xmlns:c16="http://schemas.microsoft.com/office/drawing/2014/chart" uri="{C3380CC4-5D6E-409C-BE32-E72D297353CC}">
                <c16:uniqueId val="{00000006-C5D4-414B-BD05-DF06D7F20B31}"/>
              </c:ext>
            </c:extLst>
          </c:dPt>
          <c:dLbls>
            <c:spPr>
              <a:noFill/>
              <a:ln>
                <a:noFill/>
              </a:ln>
              <a:effectLst/>
            </c:spPr>
            <c:txPr>
              <a:bodyPr wrap="square" lIns="38100" tIns="19050" rIns="38100" bIns="19050" anchor="ctr">
                <a:spAutoFit/>
              </a:bodyPr>
              <a:lstStyle/>
              <a:p>
                <a:pPr>
                  <a:defRPr sz="1200" b="1">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&lt;5000 </c:v>
                </c:pt>
                <c:pt idx="1">
                  <c:v>5000-15000</c:v>
                </c:pt>
                <c:pt idx="2">
                  <c:v>15000-30000</c:v>
                </c:pt>
                <c:pt idx="3">
                  <c:v>30000+</c:v>
                </c:pt>
              </c:strCache>
            </c:strRef>
          </c:cat>
          <c:val>
            <c:numRef>
              <c:f>Sheet1!$B$2:$B$5</c:f>
              <c:numCache>
                <c:formatCode>0%</c:formatCode>
                <c:ptCount val="4"/>
                <c:pt idx="0">
                  <c:v>0.1</c:v>
                </c:pt>
                <c:pt idx="1">
                  <c:v>0.17</c:v>
                </c:pt>
                <c:pt idx="2">
                  <c:v>0.33</c:v>
                </c:pt>
                <c:pt idx="3">
                  <c:v>0.33</c:v>
                </c:pt>
              </c:numCache>
            </c:numRef>
          </c:val>
          <c:extLst>
            <c:ext xmlns:c16="http://schemas.microsoft.com/office/drawing/2014/chart" uri="{C3380CC4-5D6E-409C-BE32-E72D297353CC}">
              <c16:uniqueId val="{00000006-7BCE-4C5A-8DC7-7F877114656B}"/>
            </c:ext>
          </c:extLst>
        </c:ser>
        <c:dLbls>
          <c:showLegendKey val="0"/>
          <c:showVal val="0"/>
          <c:showCatName val="0"/>
          <c:showSerName val="0"/>
          <c:showPercent val="0"/>
          <c:showBubbleSize val="0"/>
        </c:dLbls>
        <c:gapWidth val="100"/>
        <c:axId val="1090500303"/>
        <c:axId val="1090501263"/>
      </c:barChart>
      <c:catAx>
        <c:axId val="1090500303"/>
        <c:scaling>
          <c:orientation val="minMax"/>
        </c:scaling>
        <c:delete val="0"/>
        <c:axPos val="b"/>
        <c:title>
          <c:tx>
            <c:rich>
              <a:bodyPr/>
              <a:lstStyle/>
              <a:p>
                <a:pPr algn="ctr" rtl="0">
                  <a:defRPr lang="en-IN" sz="1200" b="1" i="0" u="none" strike="noStrike" kern="1200" baseline="0">
                    <a:solidFill>
                      <a:srgbClr val="000000"/>
                    </a:solidFill>
                    <a:latin typeface="+mn-lt"/>
                    <a:ea typeface="+mn-ea"/>
                    <a:cs typeface="+mn-cs"/>
                  </a:defRPr>
                </a:pPr>
                <a:r>
                  <a:rPr lang="en-IN" sz="1200" b="1" i="0" u="none" strike="noStrike" kern="1200" baseline="0" dirty="0">
                    <a:solidFill>
                      <a:srgbClr val="000000"/>
                    </a:solidFill>
                  </a:rPr>
                  <a:t>Price Band</a:t>
                </a:r>
              </a:p>
            </c:rich>
          </c:tx>
          <c:overlay val="0"/>
        </c:title>
        <c:numFmt formatCode="General" sourceLinked="1"/>
        <c:majorTickMark val="out"/>
        <c:minorTickMark val="none"/>
        <c:tickLblPos val="nextTo"/>
        <c:txPr>
          <a:bodyPr/>
          <a:lstStyle/>
          <a:p>
            <a:pPr algn="ctr">
              <a:defRPr lang="en-US" sz="1200" b="0" i="0" u="none" strike="noStrike" kern="1200" baseline="0">
                <a:solidFill>
                  <a:srgbClr val="333333"/>
                </a:solidFill>
                <a:latin typeface="Arial"/>
                <a:ea typeface="+mn-ea"/>
                <a:cs typeface="+mn-cs"/>
              </a:defRPr>
            </a:pPr>
            <a:endParaRPr lang="en-US"/>
          </a:p>
        </c:txPr>
        <c:crossAx val="1090501263"/>
        <c:crosses val="autoZero"/>
        <c:auto val="1"/>
        <c:lblAlgn val="ctr"/>
        <c:lblOffset val="100"/>
        <c:noMultiLvlLbl val="0"/>
      </c:catAx>
      <c:valAx>
        <c:axId val="1090501263"/>
        <c:scaling>
          <c:orientation val="minMax"/>
        </c:scaling>
        <c:delete val="0"/>
        <c:axPos val="l"/>
        <c:numFmt formatCode="0%" sourceLinked="1"/>
        <c:majorTickMark val="out"/>
        <c:minorTickMark val="none"/>
        <c:tickLblPos val="nextTo"/>
        <c:txPr>
          <a:bodyPr/>
          <a:lstStyle/>
          <a:p>
            <a:pPr algn="ctr">
              <a:defRPr lang="en-US" sz="1100" b="0" i="0" u="none" strike="noStrike" kern="1200" baseline="0">
                <a:solidFill>
                  <a:srgbClr val="333333"/>
                </a:solidFill>
                <a:latin typeface="Arial"/>
                <a:ea typeface="+mn-ea"/>
                <a:cs typeface="+mn-cs"/>
              </a:defRPr>
            </a:pPr>
            <a:endParaRPr lang="en-US"/>
          </a:p>
        </c:txPr>
        <c:crossAx val="1090500303"/>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IN" sz="1600" b="1" i="0" u="none" strike="noStrike" baseline="0" dirty="0"/>
              <a:t>First Purchases by Region</a:t>
            </a:r>
            <a:endParaRPr lang="en-US" sz="1600" dirty="0"/>
          </a:p>
        </c:rich>
      </c:tx>
      <c:overlay val="0"/>
    </c:title>
    <c:autoTitleDeleted val="0"/>
    <c:plotArea>
      <c:layout/>
      <c:barChart>
        <c:barDir val="bar"/>
        <c:grouping val="clustered"/>
        <c:varyColors val="0"/>
        <c:ser>
          <c:idx val="0"/>
          <c:order val="0"/>
          <c:tx>
            <c:strRef>
              <c:f>Sheet1!$B$1</c:f>
              <c:strCache>
                <c:ptCount val="1"/>
                <c:pt idx="0">
                  <c:v>First Purchases</c:v>
                </c:pt>
              </c:strCache>
            </c:strRef>
          </c:tx>
          <c:spPr>
            <a:solidFill>
              <a:srgbClr val="0B3C3D"/>
            </a:solidFill>
            <a:effectLst/>
          </c:spPr>
          <c:invertIfNegative val="0"/>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Northeast</c:v>
                </c:pt>
                <c:pt idx="1">
                  <c:v>Central</c:v>
                </c:pt>
                <c:pt idx="2">
                  <c:v>West</c:v>
                </c:pt>
                <c:pt idx="3">
                  <c:v>East</c:v>
                </c:pt>
                <c:pt idx="4">
                  <c:v>North</c:v>
                </c:pt>
                <c:pt idx="5">
                  <c:v>South</c:v>
                </c:pt>
              </c:strCache>
            </c:strRef>
          </c:cat>
          <c:val>
            <c:numRef>
              <c:f>Sheet1!$B$2:$B$7</c:f>
              <c:numCache>
                <c:formatCode>General</c:formatCode>
                <c:ptCount val="6"/>
                <c:pt idx="0">
                  <c:v>2000</c:v>
                </c:pt>
                <c:pt idx="1">
                  <c:v>3000</c:v>
                </c:pt>
                <c:pt idx="2">
                  <c:v>6500</c:v>
                </c:pt>
                <c:pt idx="3">
                  <c:v>8500</c:v>
                </c:pt>
                <c:pt idx="4">
                  <c:v>12500</c:v>
                </c:pt>
                <c:pt idx="5">
                  <c:v>14500</c:v>
                </c:pt>
              </c:numCache>
            </c:numRef>
          </c:val>
          <c:extLst>
            <c:ext xmlns:c16="http://schemas.microsoft.com/office/drawing/2014/chart" uri="{C3380CC4-5D6E-409C-BE32-E72D297353CC}">
              <c16:uniqueId val="{00000000-1BC2-40B3-9C0B-A814D6923A7E}"/>
            </c:ext>
          </c:extLst>
        </c:ser>
        <c:dLbls>
          <c:showLegendKey val="0"/>
          <c:showVal val="1"/>
          <c:showCatName val="0"/>
          <c:showSerName val="0"/>
          <c:showPercent val="0"/>
          <c:showBubbleSize val="0"/>
        </c:dLbls>
        <c:gapWidth val="82"/>
        <c:axId val="274199008"/>
        <c:axId val="274193024"/>
      </c:barChart>
      <c:catAx>
        <c:axId val="274199008"/>
        <c:scaling>
          <c:orientation val="minMax"/>
        </c:scaling>
        <c:delete val="0"/>
        <c:axPos val="l"/>
        <c:majorGridlines>
          <c:spPr>
            <a:ln w="12700" cap="flat">
              <a:solidFill>
                <a:srgbClr val="E0E0E0"/>
              </a:solidFill>
              <a:prstDash val="dot"/>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74193024"/>
        <c:crosses val="autoZero"/>
        <c:auto val="1"/>
        <c:lblAlgn val="ctr"/>
        <c:lblOffset val="100"/>
        <c:noMultiLvlLbl val="1"/>
      </c:catAx>
      <c:valAx>
        <c:axId val="274193024"/>
        <c:scaling>
          <c:orientation val="minMax"/>
        </c:scaling>
        <c:delete val="0"/>
        <c:axPos val="b"/>
        <c:majorGridlines>
          <c:spPr>
            <a:ln w="12700" cap="flat">
              <a:solidFill>
                <a:srgbClr val="E0E6F1"/>
              </a:solidFill>
              <a:prstDash val="solid"/>
              <a:round/>
            </a:ln>
          </c:spPr>
        </c:majorGridlines>
        <c:title>
          <c:tx>
            <c:rich>
              <a:bodyPr/>
              <a:lstStyle/>
              <a:p>
                <a:pPr>
                  <a:defRPr sz="1200"/>
                </a:pPr>
                <a:r>
                  <a:rPr lang="en-IN" sz="1200" b="1" i="0" u="none" strike="noStrike" baseline="0" dirty="0"/>
                  <a:t>First Purchases</a:t>
                </a:r>
                <a:endParaRPr lang="en-IN" sz="1200" dirty="0"/>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7419900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IN" sz="1600" b="1" i="0" u="none" strike="noStrike" baseline="0" dirty="0"/>
              <a:t>First Purchases by Age Group</a:t>
            </a:r>
            <a:endParaRPr lang="en-US" sz="1600" dirty="0"/>
          </a:p>
        </c:rich>
      </c:tx>
      <c:overlay val="0"/>
    </c:title>
    <c:autoTitleDeleted val="0"/>
    <c:plotArea>
      <c:layout/>
      <c:barChart>
        <c:barDir val="bar"/>
        <c:grouping val="clustered"/>
        <c:varyColors val="0"/>
        <c:ser>
          <c:idx val="0"/>
          <c:order val="0"/>
          <c:tx>
            <c:strRef>
              <c:f>Sheet1!$B$1</c:f>
              <c:strCache>
                <c:ptCount val="1"/>
                <c:pt idx="0">
                  <c:v>First Purchases</c:v>
                </c:pt>
              </c:strCache>
            </c:strRef>
          </c:tx>
          <c:spPr>
            <a:solidFill>
              <a:srgbClr val="0B3C3D"/>
            </a:solidFill>
            <a:effectLst/>
          </c:spPr>
          <c:invertIfNegative val="0"/>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65+</c:v>
                </c:pt>
                <c:pt idx="1">
                  <c:v>56-65</c:v>
                </c:pt>
                <c:pt idx="2">
                  <c:v>18-25</c:v>
                </c:pt>
                <c:pt idx="3">
                  <c:v>46-55</c:v>
                </c:pt>
                <c:pt idx="4">
                  <c:v>26-35</c:v>
                </c:pt>
                <c:pt idx="5">
                  <c:v>36-45</c:v>
                </c:pt>
              </c:strCache>
            </c:strRef>
          </c:cat>
          <c:val>
            <c:numRef>
              <c:f>Sheet1!$B$2:$B$7</c:f>
              <c:numCache>
                <c:formatCode>General</c:formatCode>
                <c:ptCount val="6"/>
                <c:pt idx="0">
                  <c:v>1000</c:v>
                </c:pt>
                <c:pt idx="1">
                  <c:v>3000</c:v>
                </c:pt>
                <c:pt idx="2">
                  <c:v>5500</c:v>
                </c:pt>
                <c:pt idx="3">
                  <c:v>8500</c:v>
                </c:pt>
                <c:pt idx="4">
                  <c:v>11500</c:v>
                </c:pt>
                <c:pt idx="5">
                  <c:v>17000</c:v>
                </c:pt>
              </c:numCache>
            </c:numRef>
          </c:val>
          <c:extLst>
            <c:ext xmlns:c16="http://schemas.microsoft.com/office/drawing/2014/chart" uri="{C3380CC4-5D6E-409C-BE32-E72D297353CC}">
              <c16:uniqueId val="{00000000-6F16-4EB2-BBF2-97F1BCF4D2F3}"/>
            </c:ext>
          </c:extLst>
        </c:ser>
        <c:dLbls>
          <c:showLegendKey val="0"/>
          <c:showVal val="1"/>
          <c:showCatName val="0"/>
          <c:showSerName val="0"/>
          <c:showPercent val="0"/>
          <c:showBubbleSize val="0"/>
        </c:dLbls>
        <c:gapWidth val="82"/>
        <c:axId val="274193568"/>
        <c:axId val="274200096"/>
      </c:barChart>
      <c:catAx>
        <c:axId val="274193568"/>
        <c:scaling>
          <c:orientation val="minMax"/>
        </c:scaling>
        <c:delete val="0"/>
        <c:axPos val="l"/>
        <c:majorGridlines>
          <c:spPr>
            <a:ln w="12700" cap="flat">
              <a:solidFill>
                <a:srgbClr val="E0E0E0"/>
              </a:solidFill>
              <a:prstDash val="dot"/>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74200096"/>
        <c:crosses val="autoZero"/>
        <c:auto val="1"/>
        <c:lblAlgn val="ctr"/>
        <c:lblOffset val="100"/>
        <c:noMultiLvlLbl val="1"/>
      </c:catAx>
      <c:valAx>
        <c:axId val="274200096"/>
        <c:scaling>
          <c:orientation val="minMax"/>
        </c:scaling>
        <c:delete val="0"/>
        <c:axPos val="b"/>
        <c:majorGridlines>
          <c:spPr>
            <a:ln w="12700" cap="flat">
              <a:solidFill>
                <a:srgbClr val="E0E6F1"/>
              </a:solidFill>
              <a:prstDash val="solid"/>
              <a:round/>
            </a:ln>
          </c:spPr>
        </c:majorGridlines>
        <c:title>
          <c:tx>
            <c:rich>
              <a:bodyPr/>
              <a:lstStyle/>
              <a:p>
                <a:pPr>
                  <a:defRPr sz="1200"/>
                </a:pPr>
                <a:r>
                  <a:rPr lang="en-IN" sz="1200" b="1" i="0" u="none" strike="noStrike" baseline="0" dirty="0"/>
                  <a:t>First Purchases</a:t>
                </a:r>
                <a:endParaRPr lang="en-IN" sz="1200" dirty="0"/>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7419356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IN" sz="1600" b="1" dirty="0"/>
              <a:t>Delay Probability by Region</a:t>
            </a:r>
          </a:p>
        </c:rich>
      </c:tx>
      <c:overlay val="0"/>
    </c:title>
    <c:autoTitleDeleted val="0"/>
    <c:plotArea>
      <c:layout/>
      <c:barChart>
        <c:barDir val="col"/>
        <c:grouping val="clustered"/>
        <c:varyColors val="0"/>
        <c:ser>
          <c:idx val="0"/>
          <c:order val="0"/>
          <c:tx>
            <c:strRef>
              <c:f>Sheet1!$B$1</c:f>
              <c:strCache>
                <c:ptCount val="1"/>
                <c:pt idx="0">
                  <c:v>Delay Rate</c:v>
                </c:pt>
              </c:strCache>
            </c:strRef>
          </c:tx>
          <c:spPr>
            <a:solidFill>
              <a:srgbClr val="C58940"/>
            </a:solidFill>
            <a:effectLst/>
          </c:spPr>
          <c:invertIfNegative val="0"/>
          <c:dLbls>
            <c:numFmt formatCode="#,##0.00" sourceLinked="0"/>
            <c:spPr>
              <a:noFill/>
              <a:ln>
                <a:noFill/>
              </a:ln>
              <a:effectLst/>
            </c:spPr>
            <c:txPr>
              <a:bodyPr/>
              <a:lstStyle/>
              <a:p>
                <a:pPr>
                  <a:defRPr sz="11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Central</c:v>
                </c:pt>
                <c:pt idx="1">
                  <c:v>Northeast</c:v>
                </c:pt>
                <c:pt idx="2">
                  <c:v>North</c:v>
                </c:pt>
                <c:pt idx="3">
                  <c:v>South</c:v>
                </c:pt>
                <c:pt idx="4">
                  <c:v>East</c:v>
                </c:pt>
                <c:pt idx="5">
                  <c:v>West</c:v>
                </c:pt>
              </c:strCache>
            </c:strRef>
          </c:cat>
          <c:val>
            <c:numRef>
              <c:f>Sheet1!$B$2:$B$7</c:f>
              <c:numCache>
                <c:formatCode>General</c:formatCode>
                <c:ptCount val="6"/>
                <c:pt idx="0">
                  <c:v>0.66</c:v>
                </c:pt>
                <c:pt idx="1">
                  <c:v>0.66</c:v>
                </c:pt>
                <c:pt idx="2">
                  <c:v>0.67</c:v>
                </c:pt>
                <c:pt idx="3">
                  <c:v>0.67</c:v>
                </c:pt>
                <c:pt idx="4">
                  <c:v>0.67</c:v>
                </c:pt>
                <c:pt idx="5">
                  <c:v>0.67</c:v>
                </c:pt>
              </c:numCache>
            </c:numRef>
          </c:val>
          <c:extLst>
            <c:ext xmlns:c16="http://schemas.microsoft.com/office/drawing/2014/chart" uri="{C3380CC4-5D6E-409C-BE32-E72D297353CC}">
              <c16:uniqueId val="{00000000-200F-4F4F-AEDF-FA63C77D8D70}"/>
            </c:ext>
          </c:extLst>
        </c:ser>
        <c:dLbls>
          <c:showLegendKey val="0"/>
          <c:showVal val="1"/>
          <c:showCatName val="0"/>
          <c:showSerName val="0"/>
          <c:showPercent val="0"/>
          <c:showBubbleSize val="0"/>
        </c:dLbls>
        <c:gapWidth val="100"/>
        <c:axId val="274201728"/>
        <c:axId val="337390848"/>
      </c:barChart>
      <c:catAx>
        <c:axId val="274201728"/>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337390848"/>
        <c:crosses val="autoZero"/>
        <c:auto val="1"/>
        <c:lblAlgn val="ctr"/>
        <c:lblOffset val="100"/>
        <c:noMultiLvlLbl val="1"/>
      </c:catAx>
      <c:valAx>
        <c:axId val="337390848"/>
        <c:scaling>
          <c:orientation val="minMax"/>
          <c:max val="1"/>
          <c:min val="0"/>
        </c:scaling>
        <c:delete val="0"/>
        <c:axPos val="l"/>
        <c:majorGridlines>
          <c:spPr>
            <a:ln w="12700" cap="flat">
              <a:solidFill>
                <a:srgbClr val="E0E0E0"/>
              </a:solidFill>
              <a:prstDash val="dot"/>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7420172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IN" sz="1600" b="1" i="0" u="none" strike="noStrike" baseline="0" dirty="0"/>
              <a:t>Customer Rating Distribution</a:t>
            </a:r>
            <a:endParaRPr lang="en-IN" sz="1600" dirty="0"/>
          </a:p>
        </c:rich>
      </c:tx>
      <c:overlay val="0"/>
    </c:title>
    <c:autoTitleDeleted val="0"/>
    <c:plotArea>
      <c:layout/>
      <c:barChart>
        <c:barDir val="col"/>
        <c:grouping val="clustered"/>
        <c:varyColors val="0"/>
        <c:ser>
          <c:idx val="0"/>
          <c:order val="0"/>
          <c:tx>
            <c:strRef>
              <c:f>Sheet1!$B$1</c:f>
              <c:strCache>
                <c:ptCount val="1"/>
                <c:pt idx="0">
                  <c:v>Review Count</c:v>
                </c:pt>
              </c:strCache>
            </c:strRef>
          </c:tx>
          <c:spPr>
            <a:solidFill>
              <a:srgbClr val="0B3C3D"/>
            </a:solidFill>
            <a:effectLst/>
          </c:spPr>
          <c:invertIfNegative val="0"/>
          <c:dLbls>
            <c:numFmt formatCode="#,##0" sourceLinked="0"/>
            <c:spPr>
              <a:noFill/>
              <a:ln>
                <a:noFill/>
              </a:ln>
              <a:effectLst/>
            </c:spPr>
            <c:txPr>
              <a:bodyPr/>
              <a:lstStyle/>
              <a:p>
                <a:pPr>
                  <a:defRPr sz="11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Star</c:v>
                </c:pt>
                <c:pt idx="1">
                  <c:v>2 Stars</c:v>
                </c:pt>
                <c:pt idx="2">
                  <c:v>3 Stars</c:v>
                </c:pt>
                <c:pt idx="3">
                  <c:v>4 Stars</c:v>
                </c:pt>
                <c:pt idx="4">
                  <c:v>5 Stars</c:v>
                </c:pt>
              </c:strCache>
            </c:strRef>
          </c:cat>
          <c:val>
            <c:numRef>
              <c:f>Sheet1!$B$2:$B$6</c:f>
              <c:numCache>
                <c:formatCode>General</c:formatCode>
                <c:ptCount val="5"/>
                <c:pt idx="0">
                  <c:v>3000</c:v>
                </c:pt>
                <c:pt idx="1">
                  <c:v>1000</c:v>
                </c:pt>
                <c:pt idx="2">
                  <c:v>2000</c:v>
                </c:pt>
                <c:pt idx="3">
                  <c:v>5000</c:v>
                </c:pt>
                <c:pt idx="4">
                  <c:v>16000</c:v>
                </c:pt>
              </c:numCache>
            </c:numRef>
          </c:val>
          <c:extLst>
            <c:ext xmlns:c16="http://schemas.microsoft.com/office/drawing/2014/chart" uri="{C3380CC4-5D6E-409C-BE32-E72D297353CC}">
              <c16:uniqueId val="{00000000-CF54-4276-9119-010307F898F8}"/>
            </c:ext>
          </c:extLst>
        </c:ser>
        <c:dLbls>
          <c:showLegendKey val="0"/>
          <c:showVal val="1"/>
          <c:showCatName val="0"/>
          <c:showSerName val="0"/>
          <c:showPercent val="0"/>
          <c:showBubbleSize val="0"/>
        </c:dLbls>
        <c:gapWidth val="100"/>
        <c:axId val="337386496"/>
        <c:axId val="337391392"/>
      </c:barChart>
      <c:catAx>
        <c:axId val="3373864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337391392"/>
        <c:crosses val="autoZero"/>
        <c:auto val="1"/>
        <c:lblAlgn val="ctr"/>
        <c:lblOffset val="100"/>
        <c:noMultiLvlLbl val="1"/>
      </c:catAx>
      <c:valAx>
        <c:axId val="337391392"/>
        <c:scaling>
          <c:orientation val="minMax"/>
        </c:scaling>
        <c:delete val="0"/>
        <c:axPos val="l"/>
        <c:majorGridlines>
          <c:spPr>
            <a:ln w="12700" cap="flat">
              <a:solidFill>
                <a:srgbClr val="E0E0E0"/>
              </a:solidFill>
              <a:prstDash val="dot"/>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33738649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IN" sz="1600" b="1" i="0" u="none" strike="noStrike" baseline="0" dirty="0"/>
              <a:t>Profitability by Inventory Type</a:t>
            </a:r>
            <a:endParaRPr lang="en-IN" sz="1600" dirty="0"/>
          </a:p>
        </c:rich>
      </c:tx>
      <c:overlay val="0"/>
    </c:title>
    <c:autoTitleDeleted val="0"/>
    <c:plotArea>
      <c:layout/>
      <c:barChart>
        <c:barDir val="col"/>
        <c:grouping val="clustered"/>
        <c:varyColors val="0"/>
        <c:ser>
          <c:idx val="0"/>
          <c:order val="0"/>
          <c:tx>
            <c:strRef>
              <c:f>Sheet1!$B$1</c:f>
              <c:strCache>
                <c:ptCount val="1"/>
                <c:pt idx="0">
                  <c:v>Avg Profit Margin</c:v>
                </c:pt>
              </c:strCache>
            </c:strRef>
          </c:tx>
          <c:spPr>
            <a:solidFill>
              <a:srgbClr val="0B3C3D"/>
            </a:solidFill>
            <a:effectLst/>
          </c:spPr>
          <c:invertIfNegative val="0"/>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Available on Demand</c:v>
                </c:pt>
                <c:pt idx="1">
                  <c:v>In Stock</c:v>
                </c:pt>
                <c:pt idx="2">
                  <c:v>Limited Edition</c:v>
                </c:pt>
                <c:pt idx="3">
                  <c:v>Low Stock</c:v>
                </c:pt>
                <c:pt idx="4">
                  <c:v>Preorder</c:v>
                </c:pt>
              </c:strCache>
            </c:strRef>
          </c:cat>
          <c:val>
            <c:numRef>
              <c:f>Sheet1!$B$2:$B$6</c:f>
              <c:numCache>
                <c:formatCode>General</c:formatCode>
                <c:ptCount val="5"/>
                <c:pt idx="0">
                  <c:v>640</c:v>
                </c:pt>
                <c:pt idx="1">
                  <c:v>670</c:v>
                </c:pt>
                <c:pt idx="2">
                  <c:v>750</c:v>
                </c:pt>
                <c:pt idx="3">
                  <c:v>580</c:v>
                </c:pt>
                <c:pt idx="4">
                  <c:v>690</c:v>
                </c:pt>
              </c:numCache>
            </c:numRef>
          </c:val>
          <c:extLst>
            <c:ext xmlns:c16="http://schemas.microsoft.com/office/drawing/2014/chart" uri="{C3380CC4-5D6E-409C-BE32-E72D297353CC}">
              <c16:uniqueId val="{00000000-FF3A-4AFA-BEB7-24F629736ED3}"/>
            </c:ext>
          </c:extLst>
        </c:ser>
        <c:dLbls>
          <c:showLegendKey val="0"/>
          <c:showVal val="1"/>
          <c:showCatName val="0"/>
          <c:showSerName val="0"/>
          <c:showPercent val="0"/>
          <c:showBubbleSize val="0"/>
        </c:dLbls>
        <c:gapWidth val="100"/>
        <c:axId val="337391936"/>
        <c:axId val="337398464"/>
      </c:barChart>
      <c:catAx>
        <c:axId val="337391936"/>
        <c:scaling>
          <c:orientation val="minMax"/>
        </c:scaling>
        <c:delete val="0"/>
        <c:axPos val="b"/>
        <c:title>
          <c:tx>
            <c:rich>
              <a:bodyPr/>
              <a:lstStyle/>
              <a:p>
                <a:pPr>
                  <a:defRPr sz="1200"/>
                </a:pPr>
                <a:r>
                  <a:rPr lang="en-IN" sz="1200" b="1" i="0" u="none" strike="noStrike" baseline="0" dirty="0"/>
                  <a:t>Inventory Category</a:t>
                </a:r>
                <a:endParaRPr lang="en-IN" sz="1200" dirty="0"/>
              </a:p>
            </c:rich>
          </c:tx>
          <c:layout>
            <c:manualLayout>
              <c:xMode val="edge"/>
              <c:yMode val="edge"/>
              <c:x val="0.45600506551895548"/>
              <c:y val="0.94152898487829439"/>
            </c:manualLayout>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337398464"/>
        <c:crosses val="autoZero"/>
        <c:auto val="1"/>
        <c:lblAlgn val="ctr"/>
        <c:lblOffset val="100"/>
        <c:noMultiLvlLbl val="1"/>
      </c:catAx>
      <c:valAx>
        <c:axId val="337398464"/>
        <c:scaling>
          <c:orientation val="minMax"/>
        </c:scaling>
        <c:delete val="0"/>
        <c:axPos val="l"/>
        <c:majorGridlines>
          <c:spPr>
            <a:ln w="12700" cap="flat">
              <a:solidFill>
                <a:srgbClr val="E0E0E0"/>
              </a:solidFill>
              <a:prstDash val="dot"/>
              <a:round/>
            </a:ln>
          </c:spPr>
        </c:majorGridlines>
        <c:title>
          <c:tx>
            <c:rich>
              <a:bodyPr/>
              <a:lstStyle/>
              <a:p>
                <a:pPr>
                  <a:defRPr sz="1200"/>
                </a:pPr>
                <a:r>
                  <a:rPr lang="en-IN" sz="1200" b="1" i="0" u="none" strike="noStrike" baseline="0" dirty="0"/>
                  <a:t>Average Profit Margin</a:t>
                </a:r>
                <a:endParaRPr lang="en-IN" sz="1200"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33739193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a:pPr>
            <a:r>
              <a:rPr lang="en-IN" sz="1600" b="1" i="0" u="none" strike="noStrike" baseline="0" dirty="0"/>
              <a:t>Quarterly Revenue Forecast</a:t>
            </a:r>
            <a:endParaRPr lang="en-US" sz="1600" dirty="0"/>
          </a:p>
        </c:rich>
      </c:tx>
      <c:overlay val="0"/>
    </c:title>
    <c:autoTitleDeleted val="0"/>
    <c:plotArea>
      <c:layout/>
      <c:lineChart>
        <c:grouping val="standard"/>
        <c:varyColors val="0"/>
        <c:ser>
          <c:idx val="0"/>
          <c:order val="0"/>
          <c:tx>
            <c:strRef>
              <c:f>Sheet1!$B$1</c:f>
              <c:strCache>
                <c:ptCount val="1"/>
                <c:pt idx="0">
                  <c:v>Actual</c:v>
                </c:pt>
              </c:strCache>
            </c:strRef>
          </c:tx>
          <c:spPr>
            <a:ln w="31750" cap="flat">
              <a:solidFill>
                <a:srgbClr val="0B3C3D"/>
              </a:solidFill>
              <a:prstDash val="solid"/>
              <a:round/>
            </a:ln>
            <a:effectLst/>
          </c:spPr>
          <c:marker>
            <c:symbol val="circle"/>
            <c:size val="6"/>
            <c:spPr>
              <a:solidFill>
                <a:srgbClr val="0B3C3D"/>
              </a:solidFill>
              <a:ln w="9525" cap="flat">
                <a:solidFill>
                  <a:srgbClr val="0B3C3D"/>
                </a:solidFill>
                <a:prstDash val="solid"/>
                <a:round/>
              </a:ln>
              <a:effectLst/>
            </c:spPr>
          </c:marker>
          <c:cat>
            <c:strRef>
              <c:f>Sheet1!$A$2:$A$21</c:f>
              <c:strCache>
                <c:ptCount val="20"/>
                <c:pt idx="0">
                  <c:v>2022-Q1</c:v>
                </c:pt>
                <c:pt idx="1">
                  <c:v>2022-Q2</c:v>
                </c:pt>
                <c:pt idx="2">
                  <c:v>2022-Q3</c:v>
                </c:pt>
                <c:pt idx="3">
                  <c:v>2022-Q4</c:v>
                </c:pt>
                <c:pt idx="4">
                  <c:v>2023-Q1</c:v>
                </c:pt>
                <c:pt idx="5">
                  <c:v>2023-Q2</c:v>
                </c:pt>
                <c:pt idx="6">
                  <c:v>2023-Q3</c:v>
                </c:pt>
                <c:pt idx="7">
                  <c:v>2023-Q4</c:v>
                </c:pt>
                <c:pt idx="8">
                  <c:v>2024-Q1</c:v>
                </c:pt>
                <c:pt idx="9">
                  <c:v>2024-Q2</c:v>
                </c:pt>
                <c:pt idx="10">
                  <c:v>2024-Q3</c:v>
                </c:pt>
                <c:pt idx="11">
                  <c:v>2024-Q4</c:v>
                </c:pt>
                <c:pt idx="12">
                  <c:v>2025-Q1</c:v>
                </c:pt>
                <c:pt idx="13">
                  <c:v>2025-Q2</c:v>
                </c:pt>
                <c:pt idx="14">
                  <c:v>2025-Q3</c:v>
                </c:pt>
                <c:pt idx="15">
                  <c:v>2025-Q4</c:v>
                </c:pt>
                <c:pt idx="16">
                  <c:v>2026-Q1</c:v>
                </c:pt>
                <c:pt idx="17">
                  <c:v>2026-Q2</c:v>
                </c:pt>
                <c:pt idx="18">
                  <c:v>2026-Q3</c:v>
                </c:pt>
                <c:pt idx="19">
                  <c:v>2026-Q4</c:v>
                </c:pt>
              </c:strCache>
            </c:strRef>
          </c:cat>
          <c:val>
            <c:numRef>
              <c:f>Sheet1!$B$2:$B$21</c:f>
              <c:numCache>
                <c:formatCode>General</c:formatCode>
                <c:ptCount val="20"/>
                <c:pt idx="0">
                  <c:v>0.4</c:v>
                </c:pt>
                <c:pt idx="1">
                  <c:v>0.3</c:v>
                </c:pt>
                <c:pt idx="2">
                  <c:v>0.4</c:v>
                </c:pt>
                <c:pt idx="3">
                  <c:v>1.9</c:v>
                </c:pt>
                <c:pt idx="4">
                  <c:v>0.3</c:v>
                </c:pt>
                <c:pt idx="5">
                  <c:v>0.4</c:v>
                </c:pt>
                <c:pt idx="6">
                  <c:v>0.5</c:v>
                </c:pt>
                <c:pt idx="7">
                  <c:v>2.5</c:v>
                </c:pt>
                <c:pt idx="8">
                  <c:v>0.4</c:v>
                </c:pt>
                <c:pt idx="9">
                  <c:v>0.5</c:v>
                </c:pt>
                <c:pt idx="10">
                  <c:v>0.5</c:v>
                </c:pt>
                <c:pt idx="11">
                  <c:v>2.2000000000000002</c:v>
                </c:pt>
                <c:pt idx="12">
                  <c:v>0.5</c:v>
                </c:pt>
                <c:pt idx="13">
                  <c:v>0.5</c:v>
                </c:pt>
                <c:pt idx="14">
                  <c:v>0.9</c:v>
                </c:pt>
                <c:pt idx="15">
                  <c:v>2.2000000000000002</c:v>
                </c:pt>
              </c:numCache>
            </c:numRef>
          </c:val>
          <c:smooth val="1"/>
          <c:extLst>
            <c:ext xmlns:c16="http://schemas.microsoft.com/office/drawing/2014/chart" uri="{C3380CC4-5D6E-409C-BE32-E72D297353CC}">
              <c16:uniqueId val="{00000000-0DAB-4798-A26D-D5FC60D9CBCC}"/>
            </c:ext>
          </c:extLst>
        </c:ser>
        <c:ser>
          <c:idx val="1"/>
          <c:order val="1"/>
          <c:tx>
            <c:strRef>
              <c:f>Sheet1!$C$1</c:f>
              <c:strCache>
                <c:ptCount val="1"/>
                <c:pt idx="0">
                  <c:v>Forecast</c:v>
                </c:pt>
              </c:strCache>
            </c:strRef>
          </c:tx>
          <c:spPr>
            <a:ln w="31750" cmpd="sng">
              <a:prstDash val="sysDash"/>
            </a:ln>
          </c:spPr>
          <c:cat>
            <c:strRef>
              <c:f>Sheet1!$A$2:$A$21</c:f>
              <c:strCache>
                <c:ptCount val="20"/>
                <c:pt idx="0">
                  <c:v>2022-Q1</c:v>
                </c:pt>
                <c:pt idx="1">
                  <c:v>2022-Q2</c:v>
                </c:pt>
                <c:pt idx="2">
                  <c:v>2022-Q3</c:v>
                </c:pt>
                <c:pt idx="3">
                  <c:v>2022-Q4</c:v>
                </c:pt>
                <c:pt idx="4">
                  <c:v>2023-Q1</c:v>
                </c:pt>
                <c:pt idx="5">
                  <c:v>2023-Q2</c:v>
                </c:pt>
                <c:pt idx="6">
                  <c:v>2023-Q3</c:v>
                </c:pt>
                <c:pt idx="7">
                  <c:v>2023-Q4</c:v>
                </c:pt>
                <c:pt idx="8">
                  <c:v>2024-Q1</c:v>
                </c:pt>
                <c:pt idx="9">
                  <c:v>2024-Q2</c:v>
                </c:pt>
                <c:pt idx="10">
                  <c:v>2024-Q3</c:v>
                </c:pt>
                <c:pt idx="11">
                  <c:v>2024-Q4</c:v>
                </c:pt>
                <c:pt idx="12">
                  <c:v>2025-Q1</c:v>
                </c:pt>
                <c:pt idx="13">
                  <c:v>2025-Q2</c:v>
                </c:pt>
                <c:pt idx="14">
                  <c:v>2025-Q3</c:v>
                </c:pt>
                <c:pt idx="15">
                  <c:v>2025-Q4</c:v>
                </c:pt>
                <c:pt idx="16">
                  <c:v>2026-Q1</c:v>
                </c:pt>
                <c:pt idx="17">
                  <c:v>2026-Q2</c:v>
                </c:pt>
                <c:pt idx="18">
                  <c:v>2026-Q3</c:v>
                </c:pt>
                <c:pt idx="19">
                  <c:v>2026-Q4</c:v>
                </c:pt>
              </c:strCache>
            </c:strRef>
          </c:cat>
          <c:val>
            <c:numRef>
              <c:f>Sheet1!$C$2:$C$21</c:f>
              <c:numCache>
                <c:formatCode>General</c:formatCode>
                <c:ptCount val="20"/>
                <c:pt idx="15">
                  <c:v>2.2000000000000002</c:v>
                </c:pt>
                <c:pt idx="16">
                  <c:v>0.5</c:v>
                </c:pt>
                <c:pt idx="17">
                  <c:v>0.6</c:v>
                </c:pt>
                <c:pt idx="18">
                  <c:v>0.7</c:v>
                </c:pt>
                <c:pt idx="19">
                  <c:v>2.2999999999999998</c:v>
                </c:pt>
              </c:numCache>
            </c:numRef>
          </c:val>
          <c:smooth val="1"/>
          <c:extLst>
            <c:ext xmlns:c16="http://schemas.microsoft.com/office/drawing/2014/chart" uri="{C3380CC4-5D6E-409C-BE32-E72D297353CC}">
              <c16:uniqueId val="{00000000-50AB-4431-B7F2-B55425F3E233}"/>
            </c:ext>
          </c:extLst>
        </c:ser>
        <c:dLbls>
          <c:showLegendKey val="0"/>
          <c:showVal val="0"/>
          <c:showCatName val="0"/>
          <c:showSerName val="0"/>
          <c:showPercent val="0"/>
          <c:showBubbleSize val="0"/>
        </c:dLbls>
        <c:marker val="1"/>
        <c:smooth val="0"/>
        <c:axId val="337387584"/>
        <c:axId val="337397376"/>
      </c:lineChart>
      <c:catAx>
        <c:axId val="337387584"/>
        <c:scaling>
          <c:orientation val="minMax"/>
        </c:scaling>
        <c:delete val="0"/>
        <c:axPos val="b"/>
        <c:title>
          <c:tx>
            <c:rich>
              <a:bodyPr/>
              <a:lstStyle/>
              <a:p>
                <a:pPr>
                  <a:defRPr sz="1200"/>
                </a:pPr>
                <a:r>
                  <a:rPr lang="en-IN" sz="1200" b="1" i="0" u="none" strike="noStrike" baseline="0" dirty="0"/>
                  <a:t>Quarter</a:t>
                </a:r>
                <a:endParaRPr lang="en-IN" sz="1200" dirty="0"/>
              </a:p>
            </c:rich>
          </c:tx>
          <c:overlay val="0"/>
        </c:title>
        <c:numFmt formatCode="General" sourceLinked="1"/>
        <c:majorTickMark val="out"/>
        <c:minorTickMark val="none"/>
        <c:tickLblPos val="low"/>
        <c:spPr>
          <a:ln w="12700" cap="flat">
            <a:solidFill>
              <a:srgbClr val="888888"/>
            </a:solidFill>
            <a:prstDash val="solid"/>
            <a:round/>
          </a:ln>
        </c:spPr>
        <c:txPr>
          <a:bodyPr rot="-1860000"/>
          <a:lstStyle/>
          <a:p>
            <a:pPr>
              <a:defRPr sz="1100" b="0" i="0" u="none" strike="noStrike">
                <a:solidFill>
                  <a:schemeClr val="tx1"/>
                </a:solidFill>
                <a:latin typeface="Arial"/>
              </a:defRPr>
            </a:pPr>
            <a:endParaRPr lang="en-US"/>
          </a:p>
        </c:txPr>
        <c:crossAx val="337397376"/>
        <c:crosses val="autoZero"/>
        <c:auto val="1"/>
        <c:lblAlgn val="ctr"/>
        <c:lblOffset val="100"/>
        <c:noMultiLvlLbl val="1"/>
      </c:catAx>
      <c:valAx>
        <c:axId val="337397376"/>
        <c:scaling>
          <c:orientation val="minMax"/>
        </c:scaling>
        <c:delete val="0"/>
        <c:axPos val="l"/>
        <c:majorGridlines>
          <c:spPr>
            <a:ln w="12700" cap="flat">
              <a:solidFill>
                <a:srgbClr val="E0E0E0"/>
              </a:solidFill>
              <a:prstDash val="dot"/>
              <a:round/>
            </a:ln>
          </c:spPr>
        </c:majorGridlines>
        <c:title>
          <c:tx>
            <c:rich>
              <a:bodyPr/>
              <a:lstStyle/>
              <a:p>
                <a:pPr>
                  <a:defRPr sz="1200"/>
                </a:pPr>
                <a:r>
                  <a:rPr lang="en-IN" sz="1200" b="1" i="0" u="none" strike="noStrike" baseline="0" dirty="0"/>
                  <a:t>Revenue (M)</a:t>
                </a:r>
                <a:endParaRPr lang="en-IN" sz="1200"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337387584"/>
        <c:crosses val="autoZero"/>
        <c:crossBetween val="between"/>
      </c:valAx>
      <c:spPr>
        <a:noFill/>
        <a:ln>
          <a:noFill/>
        </a:ln>
        <a:effectLst/>
      </c:spPr>
    </c:plotArea>
    <c:legend>
      <c:legendPos val="r"/>
      <c:layout>
        <c:manualLayout>
          <c:xMode val="edge"/>
          <c:yMode val="edge"/>
          <c:x val="0.82489407934585102"/>
          <c:y val="1.7524596625427876E-2"/>
          <c:w val="0.100105920654149"/>
          <c:h val="0.14719862778269416"/>
        </c:manualLayout>
      </c:layout>
      <c:overlay val="0"/>
      <c:txPr>
        <a:bodyPr/>
        <a:lstStyle/>
        <a:p>
          <a:pPr>
            <a:defRPr sz="1400"/>
          </a:pPr>
          <a:endParaRPr lang="en-US"/>
        </a:p>
      </c:txPr>
    </c:legend>
    <c:plotVisOnly val="1"/>
    <c:dispBlanksAs val="span"/>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0761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1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1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6.xml"/></Relationships>
</file>

<file path=ppt/slides/_rels/slide15.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1371600"/>
            <a:ext cx="16256000" cy="3302000"/>
          </a:xfrm>
          <a:prstGeom prst="rect">
            <a:avLst/>
          </a:prstGeom>
          <a:gradFill flip="none" rotWithShape="1">
            <a:gsLst>
              <a:gs pos="0">
                <a:srgbClr val="082828"/>
              </a:gs>
              <a:gs pos="50000">
                <a:srgbClr val="0B3C3D"/>
              </a:gs>
              <a:gs pos="100000">
                <a:srgbClr val="1A5C5C"/>
              </a:gs>
            </a:gsLst>
            <a:lin ang="5400000" scaled="1"/>
          </a:gradFill>
          <a:ln/>
        </p:spPr>
        <p:txBody>
          <a:bodyPr/>
          <a:lstStyle/>
          <a:p>
            <a:endParaRPr lang="en-IN"/>
          </a:p>
        </p:txBody>
      </p:sp>
      <p:sp>
        <p:nvSpPr>
          <p:cNvPr id="3" name="Text 1"/>
          <p:cNvSpPr/>
          <p:nvPr/>
        </p:nvSpPr>
        <p:spPr>
          <a:xfrm>
            <a:off x="762000" y="1752600"/>
            <a:ext cx="13970000" cy="889000"/>
          </a:xfrm>
          <a:prstGeom prst="rect">
            <a:avLst/>
          </a:prstGeom>
          <a:noFill/>
          <a:ln/>
        </p:spPr>
        <p:txBody>
          <a:bodyPr wrap="none" lIns="0" tIns="0" rIns="0" bIns="0" rtlCol="0" anchor="ctr"/>
          <a:lstStyle/>
          <a:p>
            <a:pPr>
              <a:lnSpc>
                <a:spcPct val="100000"/>
              </a:lnSpc>
            </a:pPr>
            <a:r>
              <a:rPr lang="en-US" sz="4000" b="1" dirty="0">
                <a:solidFill>
                  <a:srgbClr val="FFFFFF"/>
                </a:solidFill>
                <a:latin typeface="Aptos" panose="020B0004020202020204" pitchFamily="34" charset="0"/>
                <a:ea typeface="QuattrocentoSans" pitchFamily="34" charset="-122"/>
                <a:cs typeface="QuattrocentoSans" pitchFamily="34" charset="-120"/>
              </a:rPr>
              <a:t>E-COMMERCE CUSTOMER BEHAVIOR</a:t>
            </a:r>
            <a:endParaRPr lang="en-US" sz="4000" dirty="0"/>
          </a:p>
        </p:txBody>
      </p:sp>
      <p:sp>
        <p:nvSpPr>
          <p:cNvPr id="4" name="Text 2"/>
          <p:cNvSpPr/>
          <p:nvPr/>
        </p:nvSpPr>
        <p:spPr>
          <a:xfrm>
            <a:off x="762000" y="2641600"/>
            <a:ext cx="13970000" cy="635000"/>
          </a:xfrm>
          <a:prstGeom prst="rect">
            <a:avLst/>
          </a:prstGeom>
          <a:noFill/>
          <a:ln/>
        </p:spPr>
        <p:txBody>
          <a:bodyPr wrap="none" lIns="0" tIns="0" rIns="0" bIns="0" rtlCol="0" anchor="ctr"/>
          <a:lstStyle/>
          <a:p>
            <a:pPr>
              <a:lnSpc>
                <a:spcPct val="100000"/>
              </a:lnSpc>
            </a:pPr>
            <a:r>
              <a:rPr lang="en-US" sz="4000" b="1" dirty="0">
                <a:solidFill>
                  <a:srgbClr val="FFFFFF"/>
                </a:solidFill>
                <a:latin typeface="Aptos" panose="020B0004020202020204" pitchFamily="34" charset="0"/>
                <a:ea typeface="QuattrocentoSans" pitchFamily="34" charset="-122"/>
                <a:cs typeface="QuattrocentoSans" pitchFamily="34" charset="-120"/>
              </a:rPr>
              <a:t>&amp; RETENTION ANALYSIS</a:t>
            </a:r>
            <a:endParaRPr lang="en-US" sz="4000" dirty="0"/>
          </a:p>
        </p:txBody>
      </p:sp>
      <p:sp>
        <p:nvSpPr>
          <p:cNvPr id="5" name="Text 3"/>
          <p:cNvSpPr/>
          <p:nvPr/>
        </p:nvSpPr>
        <p:spPr>
          <a:xfrm>
            <a:off x="762000" y="3403600"/>
            <a:ext cx="12700000" cy="355600"/>
          </a:xfrm>
          <a:prstGeom prst="rect">
            <a:avLst/>
          </a:prstGeom>
          <a:noFill/>
          <a:ln/>
        </p:spPr>
        <p:txBody>
          <a:bodyPr wrap="none" lIns="0" tIns="0" rIns="0" bIns="0" rtlCol="0" anchor="ctr"/>
          <a:lstStyle/>
          <a:p>
            <a:pPr>
              <a:lnSpc>
                <a:spcPct val="100000"/>
              </a:lnSpc>
            </a:pPr>
            <a:r>
              <a:rPr lang="en-US" sz="1600" kern="0" spc="200" dirty="0">
                <a:solidFill>
                  <a:srgbClr val="FFFFFF">
                    <a:alpha val="80000"/>
                  </a:srgbClr>
                </a:solidFill>
                <a:latin typeface="Quattrocento Sans" pitchFamily="34" charset="0"/>
                <a:ea typeface="Quattrocento Sans" pitchFamily="34" charset="-122"/>
                <a:cs typeface="Quattrocento Sans" pitchFamily="34" charset="-120"/>
              </a:rPr>
              <a:t>DATA SCIENCE &amp; MACHINE LEARNING PROJECT</a:t>
            </a:r>
            <a:endParaRPr lang="en-US" sz="1600" dirty="0"/>
          </a:p>
        </p:txBody>
      </p:sp>
      <p:sp>
        <p:nvSpPr>
          <p:cNvPr id="6" name="Shape 4"/>
          <p:cNvSpPr/>
          <p:nvPr/>
        </p:nvSpPr>
        <p:spPr>
          <a:xfrm>
            <a:off x="660400" y="5080000"/>
            <a:ext cx="177800" cy="177800"/>
          </a:xfrm>
          <a:prstGeom prst="diamond">
            <a:avLst/>
          </a:prstGeom>
          <a:solidFill>
            <a:srgbClr val="C58940"/>
          </a:solidFill>
          <a:ln/>
        </p:spPr>
        <p:txBody>
          <a:bodyPr/>
          <a:lstStyle/>
          <a:p>
            <a:endParaRPr lang="en-IN"/>
          </a:p>
        </p:txBody>
      </p:sp>
      <p:sp>
        <p:nvSpPr>
          <p:cNvPr id="7" name="Text 5"/>
          <p:cNvSpPr/>
          <p:nvPr/>
        </p:nvSpPr>
        <p:spPr>
          <a:xfrm>
            <a:off x="1016000" y="5257800"/>
            <a:ext cx="5080000" cy="355600"/>
          </a:xfrm>
          <a:prstGeom prst="rect">
            <a:avLst/>
          </a:prstGeom>
          <a:noFill/>
          <a:ln/>
        </p:spPr>
        <p:txBody>
          <a:bodyPr wrap="none" lIns="0" tIns="0" rIns="0" bIns="0" rtlCol="0" anchor="ctr"/>
          <a:lstStyle/>
          <a:p>
            <a:pPr>
              <a:lnSpc>
                <a:spcPct val="100000"/>
              </a:lnSpc>
            </a:pPr>
            <a:r>
              <a:rPr lang="en-US" sz="1800" b="1" dirty="0">
                <a:solidFill>
                  <a:srgbClr val="2D2D2D"/>
                </a:solidFill>
                <a:latin typeface="Quattrocento Sans" pitchFamily="34" charset="0"/>
                <a:ea typeface="Quattrocento Sans" pitchFamily="34" charset="-122"/>
                <a:cs typeface="Quattrocento Sans" pitchFamily="34" charset="-120"/>
              </a:rPr>
              <a:t>Prepared by</a:t>
            </a:r>
          </a:p>
          <a:p>
            <a:pPr>
              <a:lnSpc>
                <a:spcPct val="100000"/>
              </a:lnSpc>
            </a:pPr>
            <a:endParaRPr lang="en-US" b="1" dirty="0">
              <a:solidFill>
                <a:srgbClr val="2D2D2D"/>
              </a:solidFill>
              <a:latin typeface="Quattrocento Sans" pitchFamily="34" charset="0"/>
              <a:ea typeface="Quattrocento Sans" pitchFamily="34" charset="-122"/>
              <a:cs typeface="Quattrocento Sans" pitchFamily="34" charset="-120"/>
            </a:endParaRPr>
          </a:p>
          <a:p>
            <a:pPr>
              <a:lnSpc>
                <a:spcPct val="100000"/>
              </a:lnSpc>
            </a:pPr>
            <a:r>
              <a:rPr lang="en-US" sz="1800" b="1" dirty="0">
                <a:solidFill>
                  <a:srgbClr val="2D2D2D"/>
                </a:solidFill>
                <a:latin typeface="Quattrocento Sans" pitchFamily="34" charset="0"/>
                <a:ea typeface="Quattrocento Sans" pitchFamily="34" charset="-122"/>
                <a:cs typeface="Quattrocento Sans" pitchFamily="34" charset="-120"/>
              </a:rPr>
              <a:t>Shahnawaz Ahmad</a:t>
            </a:r>
            <a:endParaRPr lang="en-US" sz="1600" dirty="0"/>
          </a:p>
        </p:txBody>
      </p:sp>
      <p:sp>
        <p:nvSpPr>
          <p:cNvPr id="12" name="Shape 10"/>
          <p:cNvSpPr/>
          <p:nvPr/>
        </p:nvSpPr>
        <p:spPr>
          <a:xfrm>
            <a:off x="12192000" y="4953000"/>
            <a:ext cx="3556000" cy="3556000"/>
          </a:xfrm>
          <a:prstGeom prst="rect">
            <a:avLst/>
          </a:prstGeom>
          <a:solidFill>
            <a:srgbClr val="0B3C3D">
              <a:alpha val="3137"/>
            </a:srgbClr>
          </a:solidFill>
          <a:ln w="12700">
            <a:solidFill>
              <a:srgbClr val="0B3C3D">
                <a:alpha val="18824"/>
              </a:srgbClr>
            </a:solidFill>
            <a:prstDash val="solid"/>
          </a:ln>
        </p:spPr>
        <p:txBody>
          <a:bodyPr/>
          <a:lstStyle/>
          <a:p>
            <a:endParaRPr lang="en-IN"/>
          </a:p>
        </p:txBody>
      </p:sp>
      <p:sp>
        <p:nvSpPr>
          <p:cNvPr id="13" name="Shape 11"/>
          <p:cNvSpPr/>
          <p:nvPr/>
        </p:nvSpPr>
        <p:spPr>
          <a:xfrm>
            <a:off x="12700000" y="5461000"/>
            <a:ext cx="2540000" cy="2540000"/>
          </a:xfrm>
          <a:prstGeom prst="rect">
            <a:avLst/>
          </a:prstGeom>
          <a:solidFill>
            <a:srgbClr val="0B3C3D">
              <a:alpha val="1961"/>
            </a:srgbClr>
          </a:solidFill>
          <a:ln w="12700">
            <a:solidFill>
              <a:srgbClr val="0B3C3D">
                <a:alpha val="27059"/>
              </a:srgbClr>
            </a:solidFill>
            <a:prstDash val="solid"/>
          </a:ln>
        </p:spPr>
        <p:txBody>
          <a:bodyPr/>
          <a:lstStyle/>
          <a:p>
            <a:endParaRPr lang="en-IN"/>
          </a:p>
        </p:txBody>
      </p:sp>
      <p:sp>
        <p:nvSpPr>
          <p:cNvPr id="14" name="Shape 12"/>
          <p:cNvSpPr/>
          <p:nvPr/>
        </p:nvSpPr>
        <p:spPr>
          <a:xfrm>
            <a:off x="13208000" y="5969000"/>
            <a:ext cx="1524000" cy="1524000"/>
          </a:xfrm>
          <a:prstGeom prst="rect">
            <a:avLst/>
          </a:prstGeom>
          <a:solidFill>
            <a:srgbClr val="0B3C3D">
              <a:alpha val="3922"/>
            </a:srgbClr>
          </a:solidFill>
          <a:ln w="25400">
            <a:solidFill>
              <a:srgbClr val="0B3C3D">
                <a:alpha val="37647"/>
              </a:srgbClr>
            </a:solidFill>
            <a:prstDash val="solid"/>
          </a:ln>
        </p:spPr>
        <p:txBody>
          <a:bodyPr/>
          <a:lstStyle/>
          <a:p>
            <a:endParaRPr lang="en-IN"/>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1371600"/>
            <a:ext cx="16256000" cy="1016000"/>
          </a:xfrm>
          <a:prstGeom prst="rect">
            <a:avLst/>
          </a:prstGeom>
          <a:gradFill flip="none" rotWithShape="1">
            <a:gsLst>
              <a:gs pos="0">
                <a:srgbClr val="082828"/>
              </a:gs>
              <a:gs pos="50000">
                <a:srgbClr val="0B3C3D"/>
              </a:gs>
              <a:gs pos="100000">
                <a:srgbClr val="1A5C5C"/>
              </a:gs>
            </a:gsLst>
            <a:lin ang="5400000" scaled="1"/>
          </a:gradFill>
          <a:ln/>
        </p:spPr>
        <p:txBody>
          <a:bodyPr/>
          <a:lstStyle/>
          <a:p>
            <a:endParaRPr lang="en-IN"/>
          </a:p>
        </p:txBody>
      </p:sp>
      <p:sp>
        <p:nvSpPr>
          <p:cNvPr id="3" name="Text 1"/>
          <p:cNvSpPr/>
          <p:nvPr/>
        </p:nvSpPr>
        <p:spPr>
          <a:xfrm>
            <a:off x="762000" y="1498600"/>
            <a:ext cx="5080000" cy="762000"/>
          </a:xfrm>
          <a:prstGeom prst="rect">
            <a:avLst/>
          </a:prstGeom>
          <a:noFill/>
          <a:ln/>
        </p:spPr>
        <p:txBody>
          <a:bodyPr wrap="none" lIns="0" tIns="0" rIns="0" bIns="0" rtlCol="0" anchor="ctr"/>
          <a:lstStyle/>
          <a:p>
            <a:pPr>
              <a:lnSpc>
                <a:spcPct val="100000"/>
              </a:lnSpc>
            </a:pPr>
            <a:r>
              <a:rPr lang="en-US" sz="4000" b="1" dirty="0">
                <a:solidFill>
                  <a:srgbClr val="FFFFFF"/>
                </a:solidFill>
                <a:latin typeface="Aptos" panose="020B0004020202020204" pitchFamily="34" charset="0"/>
                <a:ea typeface="QuattrocentoSans" pitchFamily="34" charset="-122"/>
                <a:cs typeface="QuattrocentoSans" pitchFamily="34" charset="-120"/>
              </a:rPr>
              <a:t>AGENDA</a:t>
            </a:r>
            <a:endParaRPr lang="en-US" sz="4000" dirty="0"/>
          </a:p>
        </p:txBody>
      </p:sp>
      <p:sp>
        <p:nvSpPr>
          <p:cNvPr id="4" name="Text 2"/>
          <p:cNvSpPr/>
          <p:nvPr/>
        </p:nvSpPr>
        <p:spPr>
          <a:xfrm>
            <a:off x="1016000" y="2921000"/>
            <a:ext cx="762000" cy="508000"/>
          </a:xfrm>
          <a:prstGeom prst="rect">
            <a:avLst/>
          </a:prstGeom>
          <a:noFill/>
          <a:ln/>
        </p:spPr>
        <p:txBody>
          <a:bodyPr wrap="none" lIns="0" tIns="0" rIns="0" bIns="0" rtlCol="0" anchor="ctr"/>
          <a:lstStyle/>
          <a:p>
            <a:pPr>
              <a:lnSpc>
                <a:spcPct val="100000"/>
              </a:lnSpc>
            </a:pPr>
            <a:r>
              <a:rPr lang="en-US" sz="2800" b="1" dirty="0">
                <a:solidFill>
                  <a:srgbClr val="C58940"/>
                </a:solidFill>
                <a:latin typeface="Quattrocento Sans" pitchFamily="34" charset="0"/>
                <a:ea typeface="Quattrocento Sans" pitchFamily="34" charset="-122"/>
                <a:cs typeface="Quattrocento Sans" pitchFamily="34" charset="-120"/>
              </a:rPr>
              <a:t>01</a:t>
            </a:r>
            <a:endParaRPr lang="en-US" sz="1600" dirty="0"/>
          </a:p>
        </p:txBody>
      </p:sp>
      <p:sp>
        <p:nvSpPr>
          <p:cNvPr id="5" name="Text 3"/>
          <p:cNvSpPr/>
          <p:nvPr/>
        </p:nvSpPr>
        <p:spPr>
          <a:xfrm>
            <a:off x="1778000" y="2895600"/>
            <a:ext cx="5080000" cy="381000"/>
          </a:xfrm>
          <a:prstGeom prst="rect">
            <a:avLst/>
          </a:prstGeom>
          <a:noFill/>
          <a:ln/>
        </p:spPr>
        <p:txBody>
          <a:bodyPr wrap="none" lIns="0" tIns="0" rIns="0" bIns="0" rtlCol="0" anchor="ctr"/>
          <a:lstStyle/>
          <a:p>
            <a:pPr>
              <a:lnSpc>
                <a:spcPct val="100000"/>
              </a:lnSpc>
            </a:pPr>
            <a:r>
              <a:rPr lang="en-US" sz="2000" b="1" dirty="0">
                <a:solidFill>
                  <a:srgbClr val="2D2D2D"/>
                </a:solidFill>
                <a:latin typeface="Quattrocento Sans" pitchFamily="34" charset="0"/>
                <a:ea typeface="Quattrocento Sans" pitchFamily="34" charset="-122"/>
                <a:cs typeface="Quattrocento Sans" pitchFamily="34" charset="-120"/>
              </a:rPr>
              <a:t>Project Overview</a:t>
            </a:r>
            <a:endParaRPr lang="en-US" sz="1600" dirty="0"/>
          </a:p>
        </p:txBody>
      </p:sp>
      <p:sp>
        <p:nvSpPr>
          <p:cNvPr id="6" name="Text 4"/>
          <p:cNvSpPr/>
          <p:nvPr/>
        </p:nvSpPr>
        <p:spPr>
          <a:xfrm>
            <a:off x="1778000" y="3276600"/>
            <a:ext cx="7620000" cy="279400"/>
          </a:xfrm>
          <a:prstGeom prst="rect">
            <a:avLst/>
          </a:prstGeom>
          <a:noFill/>
          <a:ln/>
        </p:spPr>
        <p:txBody>
          <a:bodyPr wrap="none" lIns="0" tIns="0" rIns="0" bIns="0" rtlCol="0" anchor="ctr"/>
          <a:lstStyle/>
          <a:p>
            <a:pPr>
              <a:lnSpc>
                <a:spcPct val="100000"/>
              </a:lnSpc>
            </a:pPr>
            <a:r>
              <a:rPr lang="en-US" sz="1400" dirty="0">
                <a:solidFill>
                  <a:srgbClr val="8A8A8A"/>
                </a:solidFill>
                <a:latin typeface="Quattrocento Sans" pitchFamily="34" charset="0"/>
                <a:ea typeface="Quattrocento Sans" pitchFamily="34" charset="-122"/>
                <a:cs typeface="Quattrocento Sans" pitchFamily="34" charset="-120"/>
              </a:rPr>
              <a:t>Problem statement, objectives, and dataset framework</a:t>
            </a:r>
            <a:endParaRPr lang="en-US" sz="1600" dirty="0"/>
          </a:p>
        </p:txBody>
      </p:sp>
      <p:sp>
        <p:nvSpPr>
          <p:cNvPr id="7" name="Shape 5"/>
          <p:cNvSpPr/>
          <p:nvPr/>
        </p:nvSpPr>
        <p:spPr>
          <a:xfrm>
            <a:off x="1016000" y="3746500"/>
            <a:ext cx="14224000" cy="12700"/>
          </a:xfrm>
          <a:prstGeom prst="rect">
            <a:avLst/>
          </a:prstGeom>
          <a:solidFill>
            <a:srgbClr val="E8E6E1"/>
          </a:solidFill>
          <a:ln/>
        </p:spPr>
        <p:txBody>
          <a:bodyPr/>
          <a:lstStyle/>
          <a:p>
            <a:endParaRPr lang="en-IN"/>
          </a:p>
        </p:txBody>
      </p:sp>
      <p:sp>
        <p:nvSpPr>
          <p:cNvPr id="8" name="Text 6"/>
          <p:cNvSpPr/>
          <p:nvPr/>
        </p:nvSpPr>
        <p:spPr>
          <a:xfrm>
            <a:off x="1016000" y="4000500"/>
            <a:ext cx="762000" cy="508000"/>
          </a:xfrm>
          <a:prstGeom prst="rect">
            <a:avLst/>
          </a:prstGeom>
          <a:noFill/>
          <a:ln/>
        </p:spPr>
        <p:txBody>
          <a:bodyPr wrap="none" lIns="0" tIns="0" rIns="0" bIns="0" rtlCol="0" anchor="ctr"/>
          <a:lstStyle/>
          <a:p>
            <a:pPr>
              <a:lnSpc>
                <a:spcPct val="100000"/>
              </a:lnSpc>
            </a:pPr>
            <a:r>
              <a:rPr lang="en-US" sz="2800" b="1" dirty="0">
                <a:solidFill>
                  <a:srgbClr val="C58940"/>
                </a:solidFill>
                <a:latin typeface="Quattrocento Sans" pitchFamily="34" charset="0"/>
                <a:ea typeface="Quattrocento Sans" pitchFamily="34" charset="-122"/>
                <a:cs typeface="Quattrocento Sans" pitchFamily="34" charset="-120"/>
              </a:rPr>
              <a:t>02</a:t>
            </a:r>
            <a:endParaRPr lang="en-US" sz="1600" dirty="0"/>
          </a:p>
        </p:txBody>
      </p:sp>
      <p:sp>
        <p:nvSpPr>
          <p:cNvPr id="9" name="Text 7"/>
          <p:cNvSpPr/>
          <p:nvPr/>
        </p:nvSpPr>
        <p:spPr>
          <a:xfrm>
            <a:off x="1778000" y="3975100"/>
            <a:ext cx="6350000" cy="381000"/>
          </a:xfrm>
          <a:prstGeom prst="rect">
            <a:avLst/>
          </a:prstGeom>
          <a:noFill/>
          <a:ln/>
        </p:spPr>
        <p:txBody>
          <a:bodyPr wrap="none" lIns="0" tIns="0" rIns="0" bIns="0" rtlCol="0" anchor="ctr"/>
          <a:lstStyle/>
          <a:p>
            <a:pPr>
              <a:lnSpc>
                <a:spcPct val="100000"/>
              </a:lnSpc>
            </a:pPr>
            <a:r>
              <a:rPr lang="en-US" sz="2000" b="1" dirty="0">
                <a:solidFill>
                  <a:srgbClr val="2D2D2D"/>
                </a:solidFill>
                <a:latin typeface="Quattrocento Sans" pitchFamily="34" charset="0"/>
                <a:ea typeface="Quattrocento Sans" pitchFamily="34" charset="-122"/>
                <a:cs typeface="Quattrocento Sans" pitchFamily="34" charset="-120"/>
              </a:rPr>
              <a:t>Customer &amp; Business Analytics</a:t>
            </a:r>
            <a:endParaRPr lang="en-US" sz="1600" dirty="0"/>
          </a:p>
        </p:txBody>
      </p:sp>
      <p:sp>
        <p:nvSpPr>
          <p:cNvPr id="10" name="Text 8"/>
          <p:cNvSpPr/>
          <p:nvPr/>
        </p:nvSpPr>
        <p:spPr>
          <a:xfrm>
            <a:off x="1778000" y="4356100"/>
            <a:ext cx="8890000" cy="279400"/>
          </a:xfrm>
          <a:prstGeom prst="rect">
            <a:avLst/>
          </a:prstGeom>
          <a:noFill/>
          <a:ln/>
        </p:spPr>
        <p:txBody>
          <a:bodyPr wrap="none" lIns="0" tIns="0" rIns="0" bIns="0" rtlCol="0" anchor="ctr"/>
          <a:lstStyle/>
          <a:p>
            <a:pPr>
              <a:lnSpc>
                <a:spcPct val="100000"/>
              </a:lnSpc>
            </a:pPr>
            <a:r>
              <a:rPr lang="en-US" sz="1400" dirty="0">
                <a:solidFill>
                  <a:srgbClr val="8A8A8A"/>
                </a:solidFill>
                <a:latin typeface="Quattrocento Sans" pitchFamily="34" charset="0"/>
                <a:ea typeface="Quattrocento Sans" pitchFamily="34" charset="-122"/>
                <a:cs typeface="Quattrocento Sans" pitchFamily="34" charset="-120"/>
              </a:rPr>
              <a:t>Revenue trends, customer behavior, product performance, and operational insights</a:t>
            </a:r>
            <a:endParaRPr lang="en-US" sz="1600" dirty="0"/>
          </a:p>
        </p:txBody>
      </p:sp>
      <p:sp>
        <p:nvSpPr>
          <p:cNvPr id="11" name="Shape 9"/>
          <p:cNvSpPr/>
          <p:nvPr/>
        </p:nvSpPr>
        <p:spPr>
          <a:xfrm>
            <a:off x="1016000" y="4826000"/>
            <a:ext cx="14224000" cy="12700"/>
          </a:xfrm>
          <a:prstGeom prst="rect">
            <a:avLst/>
          </a:prstGeom>
          <a:solidFill>
            <a:srgbClr val="E8E6E1"/>
          </a:solidFill>
          <a:ln/>
        </p:spPr>
        <p:txBody>
          <a:bodyPr/>
          <a:lstStyle/>
          <a:p>
            <a:endParaRPr lang="en-IN"/>
          </a:p>
        </p:txBody>
      </p:sp>
      <p:sp>
        <p:nvSpPr>
          <p:cNvPr id="12" name="Text 10"/>
          <p:cNvSpPr/>
          <p:nvPr/>
        </p:nvSpPr>
        <p:spPr>
          <a:xfrm>
            <a:off x="1016000" y="5080000"/>
            <a:ext cx="762000" cy="508000"/>
          </a:xfrm>
          <a:prstGeom prst="rect">
            <a:avLst/>
          </a:prstGeom>
          <a:noFill/>
          <a:ln/>
        </p:spPr>
        <p:txBody>
          <a:bodyPr wrap="none" lIns="0" tIns="0" rIns="0" bIns="0" rtlCol="0" anchor="ctr"/>
          <a:lstStyle/>
          <a:p>
            <a:pPr>
              <a:lnSpc>
                <a:spcPct val="100000"/>
              </a:lnSpc>
            </a:pPr>
            <a:r>
              <a:rPr lang="en-US" sz="2800" b="1" dirty="0">
                <a:solidFill>
                  <a:srgbClr val="C58940"/>
                </a:solidFill>
                <a:latin typeface="Quattrocento Sans" pitchFamily="34" charset="0"/>
                <a:ea typeface="Quattrocento Sans" pitchFamily="34" charset="-122"/>
                <a:cs typeface="Quattrocento Sans" pitchFamily="34" charset="-120"/>
              </a:rPr>
              <a:t>03</a:t>
            </a:r>
            <a:endParaRPr lang="en-US" sz="1600" dirty="0"/>
          </a:p>
        </p:txBody>
      </p:sp>
      <p:sp>
        <p:nvSpPr>
          <p:cNvPr id="13" name="Text 11"/>
          <p:cNvSpPr/>
          <p:nvPr/>
        </p:nvSpPr>
        <p:spPr>
          <a:xfrm>
            <a:off x="1778000" y="5054600"/>
            <a:ext cx="7620000" cy="381000"/>
          </a:xfrm>
          <a:prstGeom prst="rect">
            <a:avLst/>
          </a:prstGeom>
          <a:noFill/>
          <a:ln/>
        </p:spPr>
        <p:txBody>
          <a:bodyPr wrap="none" lIns="0" tIns="0" rIns="0" bIns="0" rtlCol="0" anchor="ctr"/>
          <a:lstStyle/>
          <a:p>
            <a:pPr>
              <a:lnSpc>
                <a:spcPct val="100000"/>
              </a:lnSpc>
            </a:pPr>
            <a:r>
              <a:rPr lang="en-US" sz="2000" b="1" dirty="0">
                <a:solidFill>
                  <a:srgbClr val="2D2D2D"/>
                </a:solidFill>
                <a:latin typeface="Quattrocento Sans" pitchFamily="34" charset="0"/>
                <a:ea typeface="Quattrocento Sans" pitchFamily="34" charset="-122"/>
                <a:cs typeface="Quattrocento Sans" pitchFamily="34" charset="-120"/>
              </a:rPr>
              <a:t>SQL Automation &amp; Operational Intelligence</a:t>
            </a:r>
            <a:endParaRPr lang="en-US" sz="1600" dirty="0"/>
          </a:p>
        </p:txBody>
      </p:sp>
      <p:sp>
        <p:nvSpPr>
          <p:cNvPr id="14" name="Text 12"/>
          <p:cNvSpPr/>
          <p:nvPr/>
        </p:nvSpPr>
        <p:spPr>
          <a:xfrm>
            <a:off x="1778000" y="5435600"/>
            <a:ext cx="8890000" cy="279400"/>
          </a:xfrm>
          <a:prstGeom prst="rect">
            <a:avLst/>
          </a:prstGeom>
          <a:noFill/>
          <a:ln/>
        </p:spPr>
        <p:txBody>
          <a:bodyPr wrap="none" lIns="0" tIns="0" rIns="0" bIns="0" rtlCol="0" anchor="ctr"/>
          <a:lstStyle/>
          <a:p>
            <a:pPr>
              <a:lnSpc>
                <a:spcPct val="100000"/>
              </a:lnSpc>
            </a:pPr>
            <a:r>
              <a:rPr lang="en-US" sz="1400" dirty="0">
                <a:solidFill>
                  <a:srgbClr val="8A8A8A"/>
                </a:solidFill>
                <a:latin typeface="Quattrocento Sans" pitchFamily="34" charset="0"/>
                <a:ea typeface="Quattrocento Sans" pitchFamily="34" charset="-122"/>
                <a:cs typeface="Quattrocento Sans" pitchFamily="34" charset="-120"/>
              </a:rPr>
              <a:t>SQL triggers, procedures, and views for operational intelligence</a:t>
            </a:r>
            <a:endParaRPr lang="en-US" sz="1600" dirty="0"/>
          </a:p>
        </p:txBody>
      </p:sp>
      <p:sp>
        <p:nvSpPr>
          <p:cNvPr id="15" name="Shape 13"/>
          <p:cNvSpPr/>
          <p:nvPr/>
        </p:nvSpPr>
        <p:spPr>
          <a:xfrm>
            <a:off x="1016000" y="5905500"/>
            <a:ext cx="14224000" cy="12700"/>
          </a:xfrm>
          <a:prstGeom prst="rect">
            <a:avLst/>
          </a:prstGeom>
          <a:solidFill>
            <a:srgbClr val="E8E6E1"/>
          </a:solidFill>
          <a:ln/>
        </p:spPr>
        <p:txBody>
          <a:bodyPr/>
          <a:lstStyle/>
          <a:p>
            <a:endParaRPr lang="en-IN"/>
          </a:p>
        </p:txBody>
      </p:sp>
      <p:sp>
        <p:nvSpPr>
          <p:cNvPr id="16" name="Text 14"/>
          <p:cNvSpPr/>
          <p:nvPr/>
        </p:nvSpPr>
        <p:spPr>
          <a:xfrm>
            <a:off x="1016000" y="6159500"/>
            <a:ext cx="762000" cy="508000"/>
          </a:xfrm>
          <a:prstGeom prst="rect">
            <a:avLst/>
          </a:prstGeom>
          <a:noFill/>
          <a:ln/>
        </p:spPr>
        <p:txBody>
          <a:bodyPr wrap="none" lIns="0" tIns="0" rIns="0" bIns="0" rtlCol="0" anchor="ctr"/>
          <a:lstStyle/>
          <a:p>
            <a:pPr>
              <a:lnSpc>
                <a:spcPct val="100000"/>
              </a:lnSpc>
            </a:pPr>
            <a:r>
              <a:rPr lang="en-US" sz="2800" b="1" dirty="0">
                <a:solidFill>
                  <a:srgbClr val="C58940"/>
                </a:solidFill>
                <a:latin typeface="Quattrocento Sans" pitchFamily="34" charset="0"/>
                <a:ea typeface="Quattrocento Sans" pitchFamily="34" charset="-122"/>
                <a:cs typeface="Quattrocento Sans" pitchFamily="34" charset="-120"/>
              </a:rPr>
              <a:t>04</a:t>
            </a:r>
            <a:endParaRPr lang="en-US" sz="1600" dirty="0"/>
          </a:p>
        </p:txBody>
      </p:sp>
      <p:sp>
        <p:nvSpPr>
          <p:cNvPr id="17" name="Text 15"/>
          <p:cNvSpPr/>
          <p:nvPr/>
        </p:nvSpPr>
        <p:spPr>
          <a:xfrm>
            <a:off x="1778000" y="6134100"/>
            <a:ext cx="5080000" cy="381000"/>
          </a:xfrm>
          <a:prstGeom prst="rect">
            <a:avLst/>
          </a:prstGeom>
          <a:noFill/>
          <a:ln/>
        </p:spPr>
        <p:txBody>
          <a:bodyPr wrap="none" lIns="0" tIns="0" rIns="0" bIns="0" rtlCol="0" anchor="ctr"/>
          <a:lstStyle/>
          <a:p>
            <a:pPr>
              <a:lnSpc>
                <a:spcPct val="100000"/>
              </a:lnSpc>
            </a:pPr>
            <a:r>
              <a:rPr lang="en-US" sz="2000" b="1" dirty="0">
                <a:solidFill>
                  <a:srgbClr val="2D2D2D"/>
                </a:solidFill>
                <a:latin typeface="Quattrocento Sans" pitchFamily="34" charset="0"/>
                <a:ea typeface="Quattrocento Sans" pitchFamily="34" charset="-122"/>
                <a:cs typeface="Quattrocento Sans" pitchFamily="34" charset="-120"/>
              </a:rPr>
              <a:t>Machine Learning Models</a:t>
            </a:r>
            <a:endParaRPr lang="en-US" sz="1600" dirty="0"/>
          </a:p>
        </p:txBody>
      </p:sp>
      <p:sp>
        <p:nvSpPr>
          <p:cNvPr id="18" name="Text 16"/>
          <p:cNvSpPr/>
          <p:nvPr/>
        </p:nvSpPr>
        <p:spPr>
          <a:xfrm>
            <a:off x="1778000" y="6515100"/>
            <a:ext cx="8890000" cy="279400"/>
          </a:xfrm>
          <a:prstGeom prst="rect">
            <a:avLst/>
          </a:prstGeom>
          <a:noFill/>
          <a:ln/>
        </p:spPr>
        <p:txBody>
          <a:bodyPr wrap="none" lIns="0" tIns="0" rIns="0" bIns="0" rtlCol="0" anchor="ctr"/>
          <a:lstStyle/>
          <a:p>
            <a:pPr>
              <a:lnSpc>
                <a:spcPct val="100000"/>
              </a:lnSpc>
            </a:pPr>
            <a:r>
              <a:rPr lang="en-US" sz="1400" dirty="0">
                <a:solidFill>
                  <a:srgbClr val="8A8A8A"/>
                </a:solidFill>
                <a:latin typeface="Quattrocento Sans" pitchFamily="34" charset="0"/>
                <a:ea typeface="Quattrocento Sans" pitchFamily="34" charset="-122"/>
                <a:cs typeface="Quattrocento Sans" pitchFamily="34" charset="-120"/>
              </a:rPr>
              <a:t>Regression, classification, and clustering model evaluation</a:t>
            </a:r>
            <a:endParaRPr lang="en-US" sz="1600" dirty="0"/>
          </a:p>
        </p:txBody>
      </p:sp>
      <p:sp>
        <p:nvSpPr>
          <p:cNvPr id="19" name="Shape 17"/>
          <p:cNvSpPr/>
          <p:nvPr/>
        </p:nvSpPr>
        <p:spPr>
          <a:xfrm>
            <a:off x="1016000" y="6985000"/>
            <a:ext cx="14224000" cy="12700"/>
          </a:xfrm>
          <a:prstGeom prst="rect">
            <a:avLst/>
          </a:prstGeom>
          <a:solidFill>
            <a:srgbClr val="E8E6E1"/>
          </a:solidFill>
          <a:ln/>
        </p:spPr>
        <p:txBody>
          <a:bodyPr/>
          <a:lstStyle/>
          <a:p>
            <a:endParaRPr lang="en-IN"/>
          </a:p>
        </p:txBody>
      </p:sp>
      <p:sp>
        <p:nvSpPr>
          <p:cNvPr id="20" name="Text 18"/>
          <p:cNvSpPr/>
          <p:nvPr/>
        </p:nvSpPr>
        <p:spPr>
          <a:xfrm>
            <a:off x="1016000" y="7239000"/>
            <a:ext cx="762000" cy="508000"/>
          </a:xfrm>
          <a:prstGeom prst="rect">
            <a:avLst/>
          </a:prstGeom>
          <a:noFill/>
          <a:ln/>
        </p:spPr>
        <p:txBody>
          <a:bodyPr wrap="none" lIns="0" tIns="0" rIns="0" bIns="0" rtlCol="0" anchor="ctr"/>
          <a:lstStyle/>
          <a:p>
            <a:pPr>
              <a:lnSpc>
                <a:spcPct val="100000"/>
              </a:lnSpc>
            </a:pPr>
            <a:r>
              <a:rPr lang="en-US" sz="2800" b="1" dirty="0">
                <a:solidFill>
                  <a:srgbClr val="C58940"/>
                </a:solidFill>
                <a:latin typeface="Quattrocento Sans" pitchFamily="34" charset="0"/>
                <a:ea typeface="Quattrocento Sans" pitchFamily="34" charset="-122"/>
                <a:cs typeface="Quattrocento Sans" pitchFamily="34" charset="-120"/>
              </a:rPr>
              <a:t>05</a:t>
            </a:r>
            <a:endParaRPr lang="en-US" sz="1600" dirty="0"/>
          </a:p>
        </p:txBody>
      </p:sp>
      <p:sp>
        <p:nvSpPr>
          <p:cNvPr id="21" name="Text 19"/>
          <p:cNvSpPr/>
          <p:nvPr/>
        </p:nvSpPr>
        <p:spPr>
          <a:xfrm>
            <a:off x="1778000" y="7213600"/>
            <a:ext cx="5080000" cy="381000"/>
          </a:xfrm>
          <a:prstGeom prst="rect">
            <a:avLst/>
          </a:prstGeom>
          <a:noFill/>
          <a:ln/>
        </p:spPr>
        <p:txBody>
          <a:bodyPr wrap="none" lIns="0" tIns="0" rIns="0" bIns="0" rtlCol="0" anchor="ctr"/>
          <a:lstStyle/>
          <a:p>
            <a:pPr>
              <a:lnSpc>
                <a:spcPct val="100000"/>
              </a:lnSpc>
            </a:pPr>
            <a:r>
              <a:rPr lang="en-US" sz="2000" b="1" dirty="0">
                <a:solidFill>
                  <a:srgbClr val="2D2D2D"/>
                </a:solidFill>
                <a:latin typeface="Quattrocento Sans" pitchFamily="34" charset="0"/>
                <a:ea typeface="Quattrocento Sans" pitchFamily="34" charset="-122"/>
                <a:cs typeface="Quattrocento Sans" pitchFamily="34" charset="-120"/>
              </a:rPr>
              <a:t>Recommendations &amp; Conclusion</a:t>
            </a:r>
            <a:endParaRPr lang="en-US" sz="1600" dirty="0"/>
          </a:p>
        </p:txBody>
      </p:sp>
      <p:sp>
        <p:nvSpPr>
          <p:cNvPr id="22" name="Text 20"/>
          <p:cNvSpPr/>
          <p:nvPr/>
        </p:nvSpPr>
        <p:spPr>
          <a:xfrm>
            <a:off x="1778000" y="7594600"/>
            <a:ext cx="8890000" cy="279400"/>
          </a:xfrm>
          <a:prstGeom prst="rect">
            <a:avLst/>
          </a:prstGeom>
          <a:noFill/>
          <a:ln/>
        </p:spPr>
        <p:txBody>
          <a:bodyPr wrap="none" lIns="0" tIns="0" rIns="0" bIns="0" rtlCol="0" anchor="ctr"/>
          <a:lstStyle/>
          <a:p>
            <a:pPr>
              <a:lnSpc>
                <a:spcPct val="100000"/>
              </a:lnSpc>
            </a:pPr>
            <a:r>
              <a:rPr lang="en-US" sz="1400" dirty="0">
                <a:solidFill>
                  <a:srgbClr val="8A8A8A"/>
                </a:solidFill>
                <a:latin typeface="Quattrocento Sans" pitchFamily="34" charset="0"/>
                <a:ea typeface="Quattrocento Sans" pitchFamily="34" charset="-122"/>
                <a:cs typeface="Quattrocento Sans" pitchFamily="34" charset="-120"/>
              </a:rPr>
              <a:t>Strategic recommendations and project summary</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B3C3D">
              <a:alpha val="3922"/>
            </a:srgbClr>
          </a:solidFill>
          <a:ln w="12700">
            <a:solidFill>
              <a:srgbClr val="0B3C3D">
                <a:alpha val="18824"/>
              </a:srgbClr>
            </a:solidFill>
            <a:prstDash val="solid"/>
          </a:ln>
        </p:spPr>
        <p:txBody>
          <a:bodyPr/>
          <a:lstStyle/>
          <a:p>
            <a:endParaRPr lang="en-IN"/>
          </a:p>
        </p:txBody>
      </p:sp>
      <p:sp>
        <p:nvSpPr>
          <p:cNvPr id="3" name="Shape 1"/>
          <p:cNvSpPr/>
          <p:nvPr/>
        </p:nvSpPr>
        <p:spPr>
          <a:xfrm>
            <a:off x="2540000" y="2286000"/>
            <a:ext cx="3810000" cy="3810000"/>
          </a:xfrm>
          <a:prstGeom prst="rect">
            <a:avLst/>
          </a:prstGeom>
          <a:solidFill>
            <a:srgbClr val="0B3C3D">
              <a:alpha val="3922"/>
            </a:srgbClr>
          </a:solidFill>
          <a:ln w="25400">
            <a:solidFill>
              <a:srgbClr val="0B3C3D">
                <a:alpha val="31373"/>
              </a:srgbClr>
            </a:solidFill>
            <a:prstDash val="solid"/>
          </a:ln>
        </p:spPr>
        <p:txBody>
          <a:bodyPr/>
          <a:lstStyle/>
          <a:p>
            <a:endParaRPr lang="en-IN"/>
          </a:p>
        </p:txBody>
      </p:sp>
      <p:sp>
        <p:nvSpPr>
          <p:cNvPr id="4" name="Shape 2"/>
          <p:cNvSpPr/>
          <p:nvPr/>
        </p:nvSpPr>
        <p:spPr>
          <a:xfrm>
            <a:off x="3048000" y="2794000"/>
            <a:ext cx="2794000" cy="2794000"/>
          </a:xfrm>
          <a:prstGeom prst="rect">
            <a:avLst/>
          </a:prstGeom>
          <a:solidFill>
            <a:srgbClr val="FFFFFF"/>
          </a:solidFill>
          <a:ln w="25400">
            <a:solidFill>
              <a:srgbClr val="0B3C3D"/>
            </a:solidFill>
            <a:prstDash val="solid"/>
          </a:ln>
        </p:spPr>
        <p:txBody>
          <a:bodyPr/>
          <a:lstStyle/>
          <a:p>
            <a:endParaRPr lang="en-IN"/>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00000"/>
              </a:lnSpc>
            </a:pPr>
            <a:r>
              <a:rPr lang="en-US" sz="8000" b="1" dirty="0">
                <a:solidFill>
                  <a:srgbClr val="0B3C3D"/>
                </a:solidFill>
                <a:latin typeface="Quattrocento Sans" pitchFamily="34" charset="0"/>
                <a:ea typeface="Quattrocento Sans" pitchFamily="34" charset="-122"/>
                <a:cs typeface="Quattrocento Sans" pitchFamily="34" charset="-120"/>
              </a:rPr>
              <a:t>01</a:t>
            </a:r>
            <a:endParaRPr lang="en-US" sz="1600" dirty="0"/>
          </a:p>
        </p:txBody>
      </p:sp>
      <p:sp>
        <p:nvSpPr>
          <p:cNvPr id="6" name="Shape 4"/>
          <p:cNvSpPr/>
          <p:nvPr/>
        </p:nvSpPr>
        <p:spPr>
          <a:xfrm>
            <a:off x="7620000" y="2794000"/>
            <a:ext cx="12700" cy="2794000"/>
          </a:xfrm>
          <a:prstGeom prst="rect">
            <a:avLst/>
          </a:prstGeom>
          <a:solidFill>
            <a:srgbClr val="B0BEC5"/>
          </a:solidFill>
          <a:ln/>
        </p:spPr>
        <p:txBody>
          <a:bodyPr/>
          <a:lstStyle/>
          <a:p>
            <a:endParaRPr lang="en-IN"/>
          </a:p>
        </p:txBody>
      </p:sp>
      <p:sp>
        <p:nvSpPr>
          <p:cNvPr id="7" name="Text 5"/>
          <p:cNvSpPr/>
          <p:nvPr/>
        </p:nvSpPr>
        <p:spPr>
          <a:xfrm>
            <a:off x="8128000" y="2921000"/>
            <a:ext cx="7112000" cy="304800"/>
          </a:xfrm>
          <a:prstGeom prst="rect">
            <a:avLst/>
          </a:prstGeom>
          <a:noFill/>
          <a:ln/>
        </p:spPr>
        <p:txBody>
          <a:bodyPr wrap="none" lIns="0" tIns="0" rIns="0" bIns="0" rtlCol="0" anchor="ctr"/>
          <a:lstStyle/>
          <a:p>
            <a:pPr>
              <a:lnSpc>
                <a:spcPct val="100000"/>
              </a:lnSpc>
            </a:pPr>
            <a:r>
              <a:rPr lang="en-US" sz="1400" kern="0" spc="400" dirty="0">
                <a:solidFill>
                  <a:srgbClr val="C58940"/>
                </a:solidFill>
                <a:latin typeface="Quattrocento Sans" pitchFamily="34" charset="0"/>
                <a:ea typeface="Quattrocento Sans" pitchFamily="34" charset="-122"/>
                <a:cs typeface="Quattrocento Sans" pitchFamily="34" charset="-120"/>
              </a:rPr>
              <a:t>CHAPTER ONE</a:t>
            </a:r>
            <a:endParaRPr lang="en-US" sz="16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nSpc>
                <a:spcPct val="100000"/>
              </a:lnSpc>
            </a:pPr>
            <a:r>
              <a:rPr lang="en-US" sz="3600" b="1" dirty="0">
                <a:solidFill>
                  <a:srgbClr val="0B3C3D"/>
                </a:solidFill>
                <a:latin typeface="Quattrocento Sans" pitchFamily="34" charset="0"/>
                <a:ea typeface="Quattrocento Sans" pitchFamily="34" charset="-122"/>
                <a:cs typeface="Quattrocento Sans" pitchFamily="34" charset="-120"/>
              </a:rPr>
              <a:t>Project Overview</a:t>
            </a:r>
            <a:endParaRPr lang="en-US" sz="1600" dirty="0"/>
          </a:p>
        </p:txBody>
      </p:sp>
      <p:sp>
        <p:nvSpPr>
          <p:cNvPr id="9" name="Text 7"/>
          <p:cNvSpPr/>
          <p:nvPr/>
        </p:nvSpPr>
        <p:spPr>
          <a:xfrm>
            <a:off x="8128000" y="4419600"/>
            <a:ext cx="7366000" cy="355600"/>
          </a:xfrm>
          <a:prstGeom prst="rect">
            <a:avLst/>
          </a:prstGeom>
          <a:noFill/>
          <a:ln/>
        </p:spPr>
        <p:txBody>
          <a:bodyPr wrap="none" lIns="0" tIns="0" rIns="0" bIns="0" rtlCol="0" anchor="ctr"/>
          <a:lstStyle/>
          <a:p>
            <a:pPr>
              <a:lnSpc>
                <a:spcPct val="100000"/>
              </a:lnSpc>
            </a:pPr>
            <a:r>
              <a:rPr lang="en-US" sz="1600" dirty="0">
                <a:solidFill>
                  <a:srgbClr val="8A8A8A"/>
                </a:solidFill>
                <a:latin typeface="Quattrocento Sans" pitchFamily="34" charset="0"/>
                <a:ea typeface="Quattrocento Sans" pitchFamily="34" charset="-122"/>
                <a:cs typeface="Quattrocento Sans" pitchFamily="34" charset="-120"/>
              </a:rPr>
              <a:t>Problem statement, objectives, and dataset framework</a:t>
            </a:r>
            <a:endParaRPr lang="en-US" sz="1600" dirty="0"/>
          </a:p>
        </p:txBody>
      </p:sp>
      <p:sp>
        <p:nvSpPr>
          <p:cNvPr id="10" name="Shape 8"/>
          <p:cNvSpPr/>
          <p:nvPr/>
        </p:nvSpPr>
        <p:spPr>
          <a:xfrm>
            <a:off x="8128000" y="5029200"/>
            <a:ext cx="2540000" cy="25400"/>
          </a:xfrm>
          <a:prstGeom prst="rect">
            <a:avLst/>
          </a:prstGeom>
          <a:solidFill>
            <a:srgbClr val="C58940"/>
          </a:solidFill>
          <a:ln/>
        </p:spPr>
        <p:txBody>
          <a:bodyPr/>
          <a:lstStyle/>
          <a:p>
            <a:endParaRPr lang="en-IN"/>
          </a:p>
        </p:txBody>
      </p:sp>
      <p:sp>
        <p:nvSpPr>
          <p:cNvPr id="11" name="Text 9"/>
          <p:cNvSpPr/>
          <p:nvPr/>
        </p:nvSpPr>
        <p:spPr>
          <a:xfrm>
            <a:off x="8128000" y="5283200"/>
            <a:ext cx="7366000" cy="355600"/>
          </a:xfrm>
          <a:prstGeom prst="rect">
            <a:avLst/>
          </a:prstGeom>
          <a:noFill/>
          <a:ln/>
        </p:spPr>
        <p:txBody>
          <a:bodyPr wrap="none" lIns="0" tIns="0" rIns="0" bIns="0" rtlCol="0" anchor="ctr"/>
          <a:lstStyle/>
          <a:p>
            <a:pPr>
              <a:lnSpc>
                <a:spcPct val="100000"/>
              </a:lnSpc>
            </a:pPr>
            <a:r>
              <a:rPr lang="en-US" sz="1500" dirty="0">
                <a:solidFill>
                  <a:srgbClr val="2D2D2D"/>
                </a:solidFill>
                <a:latin typeface="Quattrocento Sans" pitchFamily="34" charset="0"/>
                <a:ea typeface="Quattrocento Sans" pitchFamily="34" charset="-122"/>
                <a:cs typeface="Quattrocento Sans" pitchFamily="34" charset="-120"/>
              </a:rPr>
              <a:t>1.1 Problem Statement &amp; Objectives</a:t>
            </a:r>
            <a:endParaRPr lang="en-US" sz="1600" dirty="0"/>
          </a:p>
        </p:txBody>
      </p:sp>
      <p:sp>
        <p:nvSpPr>
          <p:cNvPr id="12" name="Text 10"/>
          <p:cNvSpPr/>
          <p:nvPr/>
        </p:nvSpPr>
        <p:spPr>
          <a:xfrm>
            <a:off x="8128000" y="5740400"/>
            <a:ext cx="7366000" cy="355600"/>
          </a:xfrm>
          <a:prstGeom prst="rect">
            <a:avLst/>
          </a:prstGeom>
          <a:noFill/>
          <a:ln/>
        </p:spPr>
        <p:txBody>
          <a:bodyPr wrap="none" lIns="0" tIns="0" rIns="0" bIns="0" rtlCol="0" anchor="ctr"/>
          <a:lstStyle/>
          <a:p>
            <a:pPr>
              <a:lnSpc>
                <a:spcPct val="100000"/>
              </a:lnSpc>
            </a:pPr>
            <a:r>
              <a:rPr lang="en-US" sz="1500" dirty="0">
                <a:solidFill>
                  <a:srgbClr val="2D2D2D"/>
                </a:solidFill>
                <a:latin typeface="Quattrocento Sans" pitchFamily="34" charset="0"/>
                <a:ea typeface="Quattrocento Sans" pitchFamily="34" charset="-122"/>
                <a:cs typeface="Quattrocento Sans" pitchFamily="34" charset="-120"/>
              </a:rPr>
              <a:t>1.2 Dataset Framework</a:t>
            </a:r>
            <a:endParaRPr lang="en-US" sz="1600" dirty="0"/>
          </a:p>
        </p:txBody>
      </p:sp>
      <p:sp>
        <p:nvSpPr>
          <p:cNvPr id="13" name="Text 11"/>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0B3C3D"/>
                </a:solidFill>
                <a:latin typeface="Quattrocento Sans" pitchFamily="34" charset="0"/>
                <a:ea typeface="Quattrocento Sans" pitchFamily="34" charset="-122"/>
                <a:cs typeface="Quattrocento Sans" pitchFamily="34" charset="-120"/>
              </a:rPr>
              <a:t>3</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10160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184400" cy="1168400"/>
          </a:xfrm>
          <a:prstGeom prst="rect">
            <a:avLst/>
          </a:prstGeom>
          <a:noFill/>
          <a:ln/>
        </p:spPr>
        <p:txBody>
          <a:bodyPr wrap="non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b="1" dirty="0">
                <a:solidFill>
                  <a:srgbClr val="0B3C3D"/>
                </a:solidFill>
                <a:latin typeface="Quattrocento Sans" pitchFamily="34" charset="0"/>
                <a:ea typeface="Quattrocento Sans" pitchFamily="34" charset="-122"/>
                <a:cs typeface="Quattrocento Sans" pitchFamily="34" charset="-120"/>
              </a:rPr>
              <a:t>01 Project Overview</a:t>
            </a:r>
            <a:endParaRPr lang="en-US" sz="3600"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04</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E-commerce businesses face low retention and inconsistent conversion rates</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sp>
        <p:nvSpPr>
          <p:cNvPr id="16" name="Text 14"/>
          <p:cNvSpPr/>
          <p:nvPr/>
        </p:nvSpPr>
        <p:spPr>
          <a:xfrm>
            <a:off x="2540000" y="2015860"/>
            <a:ext cx="6096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PROBLEM STATEMENT</a:t>
            </a:r>
            <a:endParaRPr lang="en-US" sz="1600" dirty="0"/>
          </a:p>
        </p:txBody>
      </p:sp>
      <p:sp>
        <p:nvSpPr>
          <p:cNvPr id="17" name="Text 15"/>
          <p:cNvSpPr/>
          <p:nvPr/>
        </p:nvSpPr>
        <p:spPr>
          <a:xfrm>
            <a:off x="2540000" y="2371460"/>
            <a:ext cx="6096000" cy="2159000"/>
          </a:xfrm>
          <a:prstGeom prst="rect">
            <a:avLst/>
          </a:prstGeom>
          <a:noFill/>
          <a:ln/>
        </p:spPr>
        <p:txBody>
          <a:bodyPr wrap="square" lIns="0" tIns="0" rIns="0" bIns="0" rtlCol="0" anchor="ctr"/>
          <a:lstStyle/>
          <a:p>
            <a:pPr>
              <a:lnSpc>
                <a:spcPct val="150000"/>
              </a:lnSpc>
            </a:pPr>
            <a:r>
              <a:rPr lang="en-US" sz="1400" dirty="0">
                <a:solidFill>
                  <a:srgbClr val="2D2D2D"/>
                </a:solidFill>
                <a:latin typeface="Aptos" panose="020B0004020202020204" pitchFamily="34" charset="0"/>
                <a:ea typeface="QuattrocentoSans" pitchFamily="34" charset="-122"/>
                <a:cs typeface="QuattrocentoSans" pitchFamily="34" charset="-120"/>
              </a:rPr>
              <a:t>E-commerce platforms struggle with </a:t>
            </a:r>
            <a:r>
              <a:rPr lang="en-US" sz="1400" b="1" dirty="0">
                <a:solidFill>
                  <a:srgbClr val="2D2D2D"/>
                </a:solidFill>
                <a:latin typeface="Aptos" panose="020B0004020202020204" pitchFamily="34" charset="0"/>
                <a:ea typeface="QuattrocentoSans" pitchFamily="34" charset="-122"/>
                <a:cs typeface="QuattrocentoSans" pitchFamily="34" charset="-120"/>
              </a:rPr>
              <a:t>low customer retention</a:t>
            </a:r>
            <a:r>
              <a:rPr lang="en-US" sz="1400" dirty="0">
                <a:solidFill>
                  <a:srgbClr val="2D2D2D"/>
                </a:solidFill>
                <a:latin typeface="Aptos" panose="020B0004020202020204" pitchFamily="34" charset="0"/>
                <a:ea typeface="QuattrocentoSans" pitchFamily="34" charset="-122"/>
                <a:cs typeface="QuattrocentoSans" pitchFamily="34" charset="-120"/>
              </a:rPr>
              <a:t>, inconsistent conversion rates, and rapidly changing purchasing behavior.</a:t>
            </a:r>
          </a:p>
          <a:p>
            <a:pPr>
              <a:lnSpc>
                <a:spcPct val="150000"/>
              </a:lnSpc>
            </a:pPr>
            <a:endParaRPr lang="en-US" sz="1600" dirty="0"/>
          </a:p>
          <a:p>
            <a:pPr>
              <a:lnSpc>
                <a:spcPct val="150000"/>
              </a:lnSpc>
              <a:spcBef>
                <a:spcPts val="800"/>
              </a:spcBef>
            </a:pPr>
            <a:r>
              <a:rPr lang="en-US" sz="1400" dirty="0">
                <a:solidFill>
                  <a:srgbClr val="2D2D2D"/>
                </a:solidFill>
                <a:latin typeface="Aptos" panose="020B0004020202020204" pitchFamily="34" charset="0"/>
                <a:ea typeface="QuattrocentoSans" pitchFamily="34" charset="-122"/>
                <a:cs typeface="QuattrocentoSans" pitchFamily="34" charset="-120"/>
              </a:rPr>
              <a:t>Without data-driven insights, businesses miss opportunities to optimize pricing, improve loyalty, and reduce operational inefficiencies.</a:t>
            </a:r>
            <a:endParaRPr lang="en-US" sz="1600" dirty="0"/>
          </a:p>
        </p:txBody>
      </p:sp>
      <p:sp>
        <p:nvSpPr>
          <p:cNvPr id="18" name="Text 16"/>
          <p:cNvSpPr/>
          <p:nvPr/>
        </p:nvSpPr>
        <p:spPr>
          <a:xfrm>
            <a:off x="9144000" y="2015860"/>
            <a:ext cx="6604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KEY OBJECTIVES</a:t>
            </a:r>
            <a:endParaRPr lang="en-US" sz="1600" dirty="0"/>
          </a:p>
        </p:txBody>
      </p:sp>
      <p:sp>
        <p:nvSpPr>
          <p:cNvPr id="19" name="Shape 17"/>
          <p:cNvSpPr/>
          <p:nvPr/>
        </p:nvSpPr>
        <p:spPr>
          <a:xfrm>
            <a:off x="9144000" y="2422260"/>
            <a:ext cx="127000" cy="127000"/>
          </a:xfrm>
          <a:prstGeom prst="diamond">
            <a:avLst/>
          </a:prstGeom>
          <a:solidFill>
            <a:srgbClr val="0B3C3D"/>
          </a:solidFill>
          <a:ln/>
        </p:spPr>
        <p:txBody>
          <a:bodyPr/>
          <a:lstStyle/>
          <a:p>
            <a:endParaRPr lang="en-IN"/>
          </a:p>
        </p:txBody>
      </p:sp>
      <p:sp>
        <p:nvSpPr>
          <p:cNvPr id="20" name="Text 18"/>
          <p:cNvSpPr/>
          <p:nvPr/>
        </p:nvSpPr>
        <p:spPr>
          <a:xfrm>
            <a:off x="9398000" y="2346060"/>
            <a:ext cx="6350000" cy="355600"/>
          </a:xfrm>
          <a:prstGeom prst="rect">
            <a:avLst/>
          </a:prstGeom>
          <a:noFill/>
          <a:ln/>
        </p:spPr>
        <p:txBody>
          <a:bodyPr wrap="none" lIns="0" tIns="0" rIns="0" bIns="0" rtlCol="0" anchor="ctr"/>
          <a:lstStyle/>
          <a:p>
            <a:pPr>
              <a:lnSpc>
                <a:spcPct val="160000"/>
              </a:lnSpc>
            </a:pPr>
            <a:r>
              <a:rPr lang="en-US" sz="1500" b="1" dirty="0">
                <a:solidFill>
                  <a:srgbClr val="2D2D2D"/>
                </a:solidFill>
                <a:latin typeface="Aptos" panose="020B0004020202020204" pitchFamily="34" charset="0"/>
                <a:ea typeface="QuattrocentoSans" pitchFamily="34" charset="-122"/>
                <a:cs typeface="QuattrocentoSans" pitchFamily="34" charset="-120"/>
              </a:rPr>
              <a:t>Analyze purchasing behavior</a:t>
            </a:r>
            <a:r>
              <a:rPr lang="en-US" sz="1500" dirty="0">
                <a:solidFill>
                  <a:srgbClr val="2D2D2D"/>
                </a:solidFill>
                <a:latin typeface="Aptos" panose="020B0004020202020204" pitchFamily="34" charset="0"/>
                <a:ea typeface="QuattrocentoSans" pitchFamily="34" charset="-122"/>
                <a:cs typeface="QuattrocentoSans" pitchFamily="34" charset="-120"/>
              </a:rPr>
              <a:t> and sales trends</a:t>
            </a:r>
            <a:endParaRPr lang="en-US" sz="1600" dirty="0"/>
          </a:p>
        </p:txBody>
      </p:sp>
      <p:sp>
        <p:nvSpPr>
          <p:cNvPr id="21" name="Shape 19"/>
          <p:cNvSpPr/>
          <p:nvPr/>
        </p:nvSpPr>
        <p:spPr>
          <a:xfrm>
            <a:off x="9144000" y="2879460"/>
            <a:ext cx="127000" cy="127000"/>
          </a:xfrm>
          <a:prstGeom prst="diamond">
            <a:avLst/>
          </a:prstGeom>
          <a:solidFill>
            <a:srgbClr val="0B3C3D"/>
          </a:solidFill>
          <a:ln/>
        </p:spPr>
        <p:txBody>
          <a:bodyPr/>
          <a:lstStyle/>
          <a:p>
            <a:endParaRPr lang="en-IN"/>
          </a:p>
        </p:txBody>
      </p:sp>
      <p:sp>
        <p:nvSpPr>
          <p:cNvPr id="22" name="Text 20"/>
          <p:cNvSpPr/>
          <p:nvPr/>
        </p:nvSpPr>
        <p:spPr>
          <a:xfrm>
            <a:off x="9398000" y="2803260"/>
            <a:ext cx="6350000" cy="355600"/>
          </a:xfrm>
          <a:prstGeom prst="rect">
            <a:avLst/>
          </a:prstGeom>
          <a:noFill/>
          <a:ln/>
        </p:spPr>
        <p:txBody>
          <a:bodyPr wrap="none" lIns="0" tIns="0" rIns="0" bIns="0" rtlCol="0" anchor="ctr"/>
          <a:lstStyle/>
          <a:p>
            <a:pPr>
              <a:lnSpc>
                <a:spcPct val="160000"/>
              </a:lnSpc>
            </a:pPr>
            <a:r>
              <a:rPr lang="en-US" sz="1500" b="1" dirty="0">
                <a:solidFill>
                  <a:srgbClr val="2D2D2D"/>
                </a:solidFill>
                <a:latin typeface="Aptos" panose="020B0004020202020204" pitchFamily="34" charset="0"/>
                <a:ea typeface="QuattrocentoSans" pitchFamily="34" charset="-122"/>
                <a:cs typeface="QuattrocentoSans" pitchFamily="34" charset="-120"/>
              </a:rPr>
              <a:t>Identify retention factors</a:t>
            </a:r>
            <a:r>
              <a:rPr lang="en-US" sz="1500" dirty="0">
                <a:solidFill>
                  <a:srgbClr val="2D2D2D"/>
                </a:solidFill>
                <a:latin typeface="Aptos" panose="020B0004020202020204" pitchFamily="34" charset="0"/>
                <a:ea typeface="QuattrocentoSans" pitchFamily="34" charset="-122"/>
                <a:cs typeface="QuattrocentoSans" pitchFamily="34" charset="-120"/>
              </a:rPr>
              <a:t> influencing repeat purchases</a:t>
            </a:r>
            <a:endParaRPr lang="en-US" sz="1600" dirty="0"/>
          </a:p>
        </p:txBody>
      </p:sp>
      <p:sp>
        <p:nvSpPr>
          <p:cNvPr id="23" name="Shape 21"/>
          <p:cNvSpPr/>
          <p:nvPr/>
        </p:nvSpPr>
        <p:spPr>
          <a:xfrm>
            <a:off x="9144000" y="3336660"/>
            <a:ext cx="127000" cy="127000"/>
          </a:xfrm>
          <a:prstGeom prst="diamond">
            <a:avLst/>
          </a:prstGeom>
          <a:solidFill>
            <a:srgbClr val="0B3C3D"/>
          </a:solidFill>
          <a:ln/>
        </p:spPr>
        <p:txBody>
          <a:bodyPr/>
          <a:lstStyle/>
          <a:p>
            <a:endParaRPr lang="en-IN"/>
          </a:p>
        </p:txBody>
      </p:sp>
      <p:sp>
        <p:nvSpPr>
          <p:cNvPr id="24" name="Text 22"/>
          <p:cNvSpPr/>
          <p:nvPr/>
        </p:nvSpPr>
        <p:spPr>
          <a:xfrm>
            <a:off x="9398000" y="3260460"/>
            <a:ext cx="6350000" cy="355600"/>
          </a:xfrm>
          <a:prstGeom prst="rect">
            <a:avLst/>
          </a:prstGeom>
          <a:noFill/>
          <a:ln/>
        </p:spPr>
        <p:txBody>
          <a:bodyPr wrap="none" lIns="0" tIns="0" rIns="0" bIns="0" rtlCol="0" anchor="ctr"/>
          <a:lstStyle/>
          <a:p>
            <a:pPr>
              <a:lnSpc>
                <a:spcPct val="160000"/>
              </a:lnSpc>
            </a:pPr>
            <a:r>
              <a:rPr lang="en-US" sz="1500" b="1" dirty="0">
                <a:solidFill>
                  <a:srgbClr val="2D2D2D"/>
                </a:solidFill>
                <a:latin typeface="Aptos" panose="020B0004020202020204" pitchFamily="34" charset="0"/>
                <a:ea typeface="QuattrocentoSans" pitchFamily="34" charset="-122"/>
                <a:cs typeface="QuattrocentoSans" pitchFamily="34" charset="-120"/>
              </a:rPr>
              <a:t>Predict business patterns</a:t>
            </a:r>
            <a:r>
              <a:rPr lang="en-US" sz="1500" dirty="0">
                <a:solidFill>
                  <a:srgbClr val="2D2D2D"/>
                </a:solidFill>
                <a:latin typeface="Aptos" panose="020B0004020202020204" pitchFamily="34" charset="0"/>
                <a:ea typeface="QuattrocentoSans" pitchFamily="34" charset="-122"/>
                <a:cs typeface="QuattrocentoSans" pitchFamily="34" charset="-120"/>
              </a:rPr>
              <a:t> using ML models</a:t>
            </a:r>
            <a:endParaRPr lang="en-US" sz="1600" dirty="0"/>
          </a:p>
        </p:txBody>
      </p:sp>
      <p:sp>
        <p:nvSpPr>
          <p:cNvPr id="25" name="Shape 23"/>
          <p:cNvSpPr/>
          <p:nvPr/>
        </p:nvSpPr>
        <p:spPr>
          <a:xfrm>
            <a:off x="9144000" y="3793860"/>
            <a:ext cx="127000" cy="127000"/>
          </a:xfrm>
          <a:prstGeom prst="diamond">
            <a:avLst/>
          </a:prstGeom>
          <a:solidFill>
            <a:srgbClr val="0B3C3D"/>
          </a:solidFill>
          <a:ln/>
        </p:spPr>
        <p:txBody>
          <a:bodyPr/>
          <a:lstStyle/>
          <a:p>
            <a:endParaRPr lang="en-IN"/>
          </a:p>
        </p:txBody>
      </p:sp>
      <p:sp>
        <p:nvSpPr>
          <p:cNvPr id="26" name="Text 24"/>
          <p:cNvSpPr/>
          <p:nvPr/>
        </p:nvSpPr>
        <p:spPr>
          <a:xfrm>
            <a:off x="9398000" y="3717660"/>
            <a:ext cx="6350000" cy="355600"/>
          </a:xfrm>
          <a:prstGeom prst="rect">
            <a:avLst/>
          </a:prstGeom>
          <a:noFill/>
          <a:ln/>
        </p:spPr>
        <p:txBody>
          <a:bodyPr wrap="none" lIns="0" tIns="0" rIns="0" bIns="0" rtlCol="0" anchor="ctr"/>
          <a:lstStyle/>
          <a:p>
            <a:pPr>
              <a:lnSpc>
                <a:spcPct val="160000"/>
              </a:lnSpc>
            </a:pPr>
            <a:r>
              <a:rPr lang="en-US" sz="1500" b="1" dirty="0">
                <a:solidFill>
                  <a:srgbClr val="2D2D2D"/>
                </a:solidFill>
                <a:latin typeface="Aptos" panose="020B0004020202020204" pitchFamily="34" charset="0"/>
                <a:ea typeface="QuattrocentoSans" pitchFamily="34" charset="-122"/>
                <a:cs typeface="QuattrocentoSans" pitchFamily="34" charset="-120"/>
              </a:rPr>
              <a:t>Segment customers</a:t>
            </a:r>
            <a:r>
              <a:rPr lang="en-US" sz="1500" dirty="0">
                <a:solidFill>
                  <a:srgbClr val="2D2D2D"/>
                </a:solidFill>
                <a:latin typeface="Aptos" panose="020B0004020202020204" pitchFamily="34" charset="0"/>
                <a:ea typeface="QuattrocentoSans" pitchFamily="34" charset="-122"/>
                <a:cs typeface="QuattrocentoSans" pitchFamily="34" charset="-120"/>
              </a:rPr>
              <a:t> based on behavioral characteristics</a:t>
            </a:r>
            <a:endParaRPr lang="en-US" sz="1600" dirty="0"/>
          </a:p>
        </p:txBody>
      </p:sp>
      <p:sp>
        <p:nvSpPr>
          <p:cNvPr id="27" name="Shape 25"/>
          <p:cNvSpPr/>
          <p:nvPr/>
        </p:nvSpPr>
        <p:spPr>
          <a:xfrm>
            <a:off x="9144000" y="4251060"/>
            <a:ext cx="127000" cy="127000"/>
          </a:xfrm>
          <a:prstGeom prst="diamond">
            <a:avLst/>
          </a:prstGeom>
          <a:solidFill>
            <a:srgbClr val="0B3C3D"/>
          </a:solidFill>
          <a:ln/>
        </p:spPr>
        <p:txBody>
          <a:bodyPr/>
          <a:lstStyle/>
          <a:p>
            <a:endParaRPr lang="en-IN"/>
          </a:p>
        </p:txBody>
      </p:sp>
      <p:sp>
        <p:nvSpPr>
          <p:cNvPr id="28" name="Text 26"/>
          <p:cNvSpPr/>
          <p:nvPr/>
        </p:nvSpPr>
        <p:spPr>
          <a:xfrm>
            <a:off x="9398000" y="4174860"/>
            <a:ext cx="6350000" cy="355600"/>
          </a:xfrm>
          <a:prstGeom prst="rect">
            <a:avLst/>
          </a:prstGeom>
          <a:noFill/>
          <a:ln/>
        </p:spPr>
        <p:txBody>
          <a:bodyPr wrap="none" lIns="0" tIns="0" rIns="0" bIns="0" rtlCol="0" anchor="ctr"/>
          <a:lstStyle/>
          <a:p>
            <a:pPr>
              <a:lnSpc>
                <a:spcPct val="160000"/>
              </a:lnSpc>
            </a:pPr>
            <a:r>
              <a:rPr lang="en-US" sz="1500" b="1" dirty="0">
                <a:solidFill>
                  <a:srgbClr val="2D2D2D"/>
                </a:solidFill>
                <a:latin typeface="Aptos" panose="020B0004020202020204" pitchFamily="34" charset="0"/>
                <a:ea typeface="QuattrocentoSans" pitchFamily="34" charset="-122"/>
                <a:cs typeface="QuattrocentoSans" pitchFamily="34" charset="-120"/>
              </a:rPr>
              <a:t>Generate actionable insights</a:t>
            </a:r>
            <a:r>
              <a:rPr lang="en-US" sz="1500" dirty="0">
                <a:solidFill>
                  <a:srgbClr val="2D2D2D"/>
                </a:solidFill>
                <a:latin typeface="Aptos" panose="020B0004020202020204" pitchFamily="34" charset="0"/>
                <a:ea typeface="QuattrocentoSans" pitchFamily="34" charset="-122"/>
                <a:cs typeface="QuattrocentoSans" pitchFamily="34" charset="-120"/>
              </a:rPr>
              <a:t> to improve conversion</a:t>
            </a:r>
            <a:endParaRPr lang="en-US" sz="1600" dirty="0"/>
          </a:p>
        </p:txBody>
      </p:sp>
      <p:sp>
        <p:nvSpPr>
          <p:cNvPr id="29" name="Shape 27"/>
          <p:cNvSpPr/>
          <p:nvPr/>
        </p:nvSpPr>
        <p:spPr>
          <a:xfrm>
            <a:off x="2540000" y="5028002"/>
            <a:ext cx="13208000" cy="635000"/>
          </a:xfrm>
          <a:prstGeom prst="rect">
            <a:avLst/>
          </a:prstGeom>
          <a:solidFill>
            <a:srgbClr val="D4E5E5"/>
          </a:solidFill>
          <a:ln/>
        </p:spPr>
        <p:txBody>
          <a:bodyPr/>
          <a:lstStyle/>
          <a:p>
            <a:endParaRPr lang="en-IN"/>
          </a:p>
        </p:txBody>
      </p:sp>
      <p:sp>
        <p:nvSpPr>
          <p:cNvPr id="30" name="Text 28"/>
          <p:cNvSpPr/>
          <p:nvPr/>
        </p:nvSpPr>
        <p:spPr>
          <a:xfrm>
            <a:off x="2743200" y="5028002"/>
            <a:ext cx="12801600" cy="635000"/>
          </a:xfrm>
          <a:prstGeom prst="rect">
            <a:avLst/>
          </a:prstGeom>
          <a:noFill/>
          <a:ln/>
        </p:spPr>
        <p:txBody>
          <a:bodyPr wrap="square" lIns="0" tIns="0" rIns="0" bIns="0" rtlCol="0" anchor="ctr"/>
          <a:lstStyle/>
          <a:p>
            <a:pPr>
              <a:lnSpc>
                <a:spcPct val="160000"/>
              </a:lnSpc>
            </a:pPr>
            <a:r>
              <a:rPr lang="en-US" sz="1500" b="1" dirty="0">
                <a:solidFill>
                  <a:srgbClr val="2D2D2D"/>
                </a:solidFill>
                <a:latin typeface="Aptos" panose="020B0004020202020204" pitchFamily="34" charset="0"/>
                <a:ea typeface="QuattrocentoSans" pitchFamily="34" charset="-122"/>
                <a:cs typeface="QuattrocentoSans" pitchFamily="34" charset="-120"/>
              </a:rPr>
              <a:t>Approach:</a:t>
            </a:r>
            <a:r>
              <a:rPr lang="en-US" sz="1500" dirty="0">
                <a:solidFill>
                  <a:srgbClr val="2D2D2D"/>
                </a:solidFill>
                <a:latin typeface="Aptos" panose="020B0004020202020204" pitchFamily="34" charset="0"/>
                <a:ea typeface="QuattrocentoSans" pitchFamily="34" charset="-122"/>
                <a:cs typeface="QuattrocentoSans" pitchFamily="34" charset="-120"/>
              </a:rPr>
              <a:t> Combine business analytics, statistical validation, SQL automation, and ML techniques to generate comprehensive e-commerce insights.</a:t>
            </a:r>
            <a:endParaRPr lang="en-US" sz="1600" dirty="0"/>
          </a:p>
        </p:txBody>
      </p:sp>
      <p:sp>
        <p:nvSpPr>
          <p:cNvPr id="31" name="Text 29"/>
          <p:cNvSpPr/>
          <p:nvPr/>
        </p:nvSpPr>
        <p:spPr>
          <a:xfrm>
            <a:off x="2540000" y="5917002"/>
            <a:ext cx="6096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METHODOLOGY</a:t>
            </a:r>
            <a:endParaRPr lang="en-US" sz="1600" dirty="0"/>
          </a:p>
        </p:txBody>
      </p:sp>
      <p:sp>
        <p:nvSpPr>
          <p:cNvPr id="32" name="Shape 30"/>
          <p:cNvSpPr/>
          <p:nvPr/>
        </p:nvSpPr>
        <p:spPr>
          <a:xfrm>
            <a:off x="2540000" y="6298002"/>
            <a:ext cx="3022600" cy="1270000"/>
          </a:xfrm>
          <a:prstGeom prst="rect">
            <a:avLst/>
          </a:prstGeom>
          <a:solidFill>
            <a:srgbClr val="0B3C3D"/>
          </a:solidFill>
          <a:ln/>
        </p:spPr>
        <p:txBody>
          <a:bodyPr/>
          <a:lstStyle/>
          <a:p>
            <a:endParaRPr lang="en-IN"/>
          </a:p>
        </p:txBody>
      </p:sp>
      <p:sp>
        <p:nvSpPr>
          <p:cNvPr id="33" name="Text 31"/>
          <p:cNvSpPr/>
          <p:nvPr/>
        </p:nvSpPr>
        <p:spPr>
          <a:xfrm>
            <a:off x="2540000" y="6425002"/>
            <a:ext cx="3022600" cy="355600"/>
          </a:xfrm>
          <a:prstGeom prst="rect">
            <a:avLst/>
          </a:prstGeom>
          <a:noFill/>
          <a:ln/>
        </p:spPr>
        <p:txBody>
          <a:bodyPr wrap="none" lIns="0" tIns="0" rIns="0" bIns="0" rtlCol="0" anchor="ctr"/>
          <a:lstStyle/>
          <a:p>
            <a:pPr algn="ct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Business Analytics</a:t>
            </a:r>
            <a:endParaRPr lang="en-US" sz="1600" dirty="0"/>
          </a:p>
        </p:txBody>
      </p:sp>
      <p:sp>
        <p:nvSpPr>
          <p:cNvPr id="34" name="Text 32"/>
          <p:cNvSpPr/>
          <p:nvPr/>
        </p:nvSpPr>
        <p:spPr>
          <a:xfrm>
            <a:off x="2540000" y="6831402"/>
            <a:ext cx="3022600" cy="609600"/>
          </a:xfrm>
          <a:prstGeom prst="rect">
            <a:avLst/>
          </a:prstGeom>
          <a:noFill/>
          <a:ln/>
        </p:spPr>
        <p:txBody>
          <a:bodyPr wrap="square" lIns="0" tIns="0" rIns="0" bIns="0" rtlCol="0" anchor="t"/>
          <a:lstStyle/>
          <a:p>
            <a:pPr algn="ctr">
              <a:lnSpc>
                <a:spcPct val="100000"/>
              </a:lnSpc>
            </a:pPr>
            <a:r>
              <a:rPr lang="en-US" sz="1300" dirty="0">
                <a:solidFill>
                  <a:srgbClr val="FFFFFF">
                    <a:alpha val="80000"/>
                  </a:srgbClr>
                </a:solidFill>
                <a:latin typeface="Quattrocento Sans" pitchFamily="34" charset="0"/>
                <a:ea typeface="Quattrocento Sans" pitchFamily="34" charset="-122"/>
                <a:cs typeface="Quattrocento Sans" pitchFamily="34" charset="-120"/>
              </a:rPr>
              <a:t>Trends, patterns, KPIs</a:t>
            </a:r>
            <a:endParaRPr lang="en-US" sz="1600" dirty="0"/>
          </a:p>
        </p:txBody>
      </p:sp>
      <p:sp>
        <p:nvSpPr>
          <p:cNvPr id="35" name="Shape 33"/>
          <p:cNvSpPr/>
          <p:nvPr/>
        </p:nvSpPr>
        <p:spPr>
          <a:xfrm>
            <a:off x="5765800" y="6298002"/>
            <a:ext cx="3022600" cy="1270000"/>
          </a:xfrm>
          <a:prstGeom prst="rect">
            <a:avLst/>
          </a:prstGeom>
          <a:solidFill>
            <a:srgbClr val="1A5C5C"/>
          </a:solidFill>
          <a:ln/>
        </p:spPr>
        <p:txBody>
          <a:bodyPr/>
          <a:lstStyle/>
          <a:p>
            <a:endParaRPr lang="en-IN"/>
          </a:p>
        </p:txBody>
      </p:sp>
      <p:sp>
        <p:nvSpPr>
          <p:cNvPr id="36" name="Text 34"/>
          <p:cNvSpPr/>
          <p:nvPr/>
        </p:nvSpPr>
        <p:spPr>
          <a:xfrm>
            <a:off x="5765800" y="6425002"/>
            <a:ext cx="3022600" cy="355600"/>
          </a:xfrm>
          <a:prstGeom prst="rect">
            <a:avLst/>
          </a:prstGeom>
          <a:noFill/>
          <a:ln/>
        </p:spPr>
        <p:txBody>
          <a:bodyPr wrap="none" lIns="0" tIns="0" rIns="0" bIns="0" rtlCol="0" anchor="ctr"/>
          <a:lstStyle/>
          <a:p>
            <a:pPr algn="ct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Statistical Testing</a:t>
            </a:r>
            <a:endParaRPr lang="en-US" sz="1600" dirty="0"/>
          </a:p>
        </p:txBody>
      </p:sp>
      <p:sp>
        <p:nvSpPr>
          <p:cNvPr id="37" name="Text 35"/>
          <p:cNvSpPr/>
          <p:nvPr/>
        </p:nvSpPr>
        <p:spPr>
          <a:xfrm>
            <a:off x="5765800" y="6831402"/>
            <a:ext cx="3022600" cy="609600"/>
          </a:xfrm>
          <a:prstGeom prst="rect">
            <a:avLst/>
          </a:prstGeom>
          <a:noFill/>
          <a:ln/>
        </p:spPr>
        <p:txBody>
          <a:bodyPr wrap="square" lIns="0" tIns="0" rIns="0" bIns="0" rtlCol="0" anchor="t"/>
          <a:lstStyle/>
          <a:p>
            <a:pPr algn="ctr">
              <a:lnSpc>
                <a:spcPct val="100000"/>
              </a:lnSpc>
            </a:pPr>
            <a:r>
              <a:rPr lang="en-US" sz="1300" dirty="0">
                <a:solidFill>
                  <a:srgbClr val="FFFFFF">
                    <a:alpha val="80000"/>
                  </a:srgbClr>
                </a:solidFill>
                <a:latin typeface="Quattrocento Sans" pitchFamily="34" charset="0"/>
                <a:ea typeface="Quattrocento Sans" pitchFamily="34" charset="-122"/>
                <a:cs typeface="Quattrocento Sans" pitchFamily="34" charset="-120"/>
              </a:rPr>
              <a:t>T-Tests, Chi-Square</a:t>
            </a:r>
            <a:endParaRPr lang="en-US" sz="1600" dirty="0"/>
          </a:p>
        </p:txBody>
      </p:sp>
      <p:sp>
        <p:nvSpPr>
          <p:cNvPr id="38" name="Shape 36"/>
          <p:cNvSpPr/>
          <p:nvPr/>
        </p:nvSpPr>
        <p:spPr>
          <a:xfrm>
            <a:off x="8991600" y="6298002"/>
            <a:ext cx="3022600" cy="1270000"/>
          </a:xfrm>
          <a:prstGeom prst="rect">
            <a:avLst/>
          </a:prstGeom>
          <a:solidFill>
            <a:srgbClr val="C58940"/>
          </a:solidFill>
          <a:ln/>
        </p:spPr>
        <p:txBody>
          <a:bodyPr/>
          <a:lstStyle/>
          <a:p>
            <a:endParaRPr lang="en-IN"/>
          </a:p>
        </p:txBody>
      </p:sp>
      <p:sp>
        <p:nvSpPr>
          <p:cNvPr id="39" name="Text 37"/>
          <p:cNvSpPr/>
          <p:nvPr/>
        </p:nvSpPr>
        <p:spPr>
          <a:xfrm>
            <a:off x="8991600" y="6425002"/>
            <a:ext cx="3022600" cy="355600"/>
          </a:xfrm>
          <a:prstGeom prst="rect">
            <a:avLst/>
          </a:prstGeom>
          <a:noFill/>
          <a:ln/>
        </p:spPr>
        <p:txBody>
          <a:bodyPr wrap="none" lIns="0" tIns="0" rIns="0" bIns="0" rtlCol="0" anchor="ctr"/>
          <a:lstStyle/>
          <a:p>
            <a:pPr algn="ct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SQL Automation</a:t>
            </a:r>
            <a:endParaRPr lang="en-US" sz="1600" dirty="0"/>
          </a:p>
        </p:txBody>
      </p:sp>
      <p:sp>
        <p:nvSpPr>
          <p:cNvPr id="40" name="Text 38"/>
          <p:cNvSpPr/>
          <p:nvPr/>
        </p:nvSpPr>
        <p:spPr>
          <a:xfrm>
            <a:off x="8991600" y="6831402"/>
            <a:ext cx="3022600" cy="609600"/>
          </a:xfrm>
          <a:prstGeom prst="rect">
            <a:avLst/>
          </a:prstGeom>
          <a:noFill/>
          <a:ln/>
        </p:spPr>
        <p:txBody>
          <a:bodyPr wrap="square" lIns="0" tIns="0" rIns="0" bIns="0" rtlCol="0" anchor="t"/>
          <a:lstStyle/>
          <a:p>
            <a:pPr algn="ctr">
              <a:lnSpc>
                <a:spcPct val="100000"/>
              </a:lnSpc>
            </a:pPr>
            <a:r>
              <a:rPr lang="en-US" sz="1300" dirty="0">
                <a:solidFill>
                  <a:srgbClr val="FFFFFF">
                    <a:alpha val="80000"/>
                  </a:srgbClr>
                </a:solidFill>
                <a:latin typeface="Quattrocento Sans" pitchFamily="34" charset="0"/>
                <a:ea typeface="Quattrocento Sans" pitchFamily="34" charset="-122"/>
                <a:cs typeface="Quattrocento Sans" pitchFamily="34" charset="-120"/>
              </a:rPr>
              <a:t>Triggers, procedures</a:t>
            </a:r>
            <a:endParaRPr lang="en-US" sz="1600" dirty="0"/>
          </a:p>
        </p:txBody>
      </p:sp>
      <p:sp>
        <p:nvSpPr>
          <p:cNvPr id="41" name="Shape 39"/>
          <p:cNvSpPr/>
          <p:nvPr/>
        </p:nvSpPr>
        <p:spPr>
          <a:xfrm>
            <a:off x="12217400" y="6298002"/>
            <a:ext cx="3530600" cy="1270000"/>
          </a:xfrm>
          <a:prstGeom prst="rect">
            <a:avLst/>
          </a:prstGeom>
          <a:solidFill>
            <a:srgbClr val="1A7A7A"/>
          </a:solidFill>
          <a:ln/>
        </p:spPr>
        <p:txBody>
          <a:bodyPr/>
          <a:lstStyle/>
          <a:p>
            <a:endParaRPr lang="en-IN"/>
          </a:p>
        </p:txBody>
      </p:sp>
      <p:sp>
        <p:nvSpPr>
          <p:cNvPr id="42" name="Text 40"/>
          <p:cNvSpPr/>
          <p:nvPr/>
        </p:nvSpPr>
        <p:spPr>
          <a:xfrm>
            <a:off x="12217400" y="6425002"/>
            <a:ext cx="3530600" cy="355600"/>
          </a:xfrm>
          <a:prstGeom prst="rect">
            <a:avLst/>
          </a:prstGeom>
          <a:noFill/>
          <a:ln/>
        </p:spPr>
        <p:txBody>
          <a:bodyPr wrap="none" lIns="0" tIns="0" rIns="0" bIns="0" rtlCol="0" anchor="ctr"/>
          <a:lstStyle/>
          <a:p>
            <a:pPr algn="ct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Machine Learning</a:t>
            </a:r>
            <a:endParaRPr lang="en-US" sz="1600" dirty="0"/>
          </a:p>
        </p:txBody>
      </p:sp>
      <p:sp>
        <p:nvSpPr>
          <p:cNvPr id="43" name="Text 41"/>
          <p:cNvSpPr/>
          <p:nvPr/>
        </p:nvSpPr>
        <p:spPr>
          <a:xfrm>
            <a:off x="12217400" y="6831402"/>
            <a:ext cx="3530600" cy="609600"/>
          </a:xfrm>
          <a:prstGeom prst="rect">
            <a:avLst/>
          </a:prstGeom>
          <a:noFill/>
          <a:ln/>
        </p:spPr>
        <p:txBody>
          <a:bodyPr wrap="square" lIns="0" tIns="0" rIns="0" bIns="0" rtlCol="0" anchor="t"/>
          <a:lstStyle/>
          <a:p>
            <a:pPr algn="ctr">
              <a:lnSpc>
                <a:spcPct val="100000"/>
              </a:lnSpc>
            </a:pPr>
            <a:r>
              <a:rPr lang="en-US" sz="1300" dirty="0">
                <a:solidFill>
                  <a:srgbClr val="FFFFFF">
                    <a:alpha val="80000"/>
                  </a:srgbClr>
                </a:solidFill>
                <a:latin typeface="Quattrocento Sans" pitchFamily="34" charset="0"/>
                <a:ea typeface="Quattrocento Sans" pitchFamily="34" charset="-122"/>
                <a:cs typeface="Quattrocento Sans" pitchFamily="34" charset="-120"/>
              </a:rPr>
              <a:t>Regression, classification, clustering</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10160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184400" cy="1168400"/>
          </a:xfrm>
          <a:prstGeom prst="rect">
            <a:avLst/>
          </a:prstGeom>
          <a:noFill/>
          <a:ln/>
        </p:spPr>
        <p:txBody>
          <a:bodyPr wrap="non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01 Project Overview &gt; </a:t>
            </a:r>
            <a:r>
              <a:rPr lang="en-US" sz="2800" b="1" dirty="0">
                <a:solidFill>
                  <a:srgbClr val="0B3C3D"/>
                </a:solidFill>
                <a:latin typeface="Quattrocento Sans" pitchFamily="34" charset="0"/>
                <a:ea typeface="Quattrocento Sans" pitchFamily="34" charset="-122"/>
                <a:cs typeface="Quattrocento Sans" pitchFamily="34" charset="-120"/>
              </a:rPr>
              <a:t>Dataset Framework</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05</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Scope and Analysis of Data</a:t>
            </a:r>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sp>
        <p:nvSpPr>
          <p:cNvPr id="16" name="Shape 14"/>
          <p:cNvSpPr/>
          <p:nvPr/>
        </p:nvSpPr>
        <p:spPr>
          <a:xfrm>
            <a:off x="2540000" y="5066840"/>
            <a:ext cx="3022600" cy="3048000"/>
          </a:xfrm>
          <a:prstGeom prst="rect">
            <a:avLst/>
          </a:prstGeom>
          <a:solidFill>
            <a:srgbClr val="FFFFFF"/>
          </a:solidFill>
          <a:ln w="12700">
            <a:solidFill>
              <a:srgbClr val="B0BEC5"/>
            </a:solidFill>
            <a:prstDash val="solid"/>
          </a:ln>
        </p:spPr>
        <p:txBody>
          <a:bodyPr/>
          <a:lstStyle/>
          <a:p>
            <a:endParaRPr lang="en-IN"/>
          </a:p>
        </p:txBody>
      </p:sp>
      <p:sp>
        <p:nvSpPr>
          <p:cNvPr id="17" name="Shape 15"/>
          <p:cNvSpPr/>
          <p:nvPr/>
        </p:nvSpPr>
        <p:spPr>
          <a:xfrm>
            <a:off x="2762250" y="5219240"/>
            <a:ext cx="266700" cy="304800"/>
          </a:xfrm>
          <a:custGeom>
            <a:avLst/>
            <a:gdLst/>
            <a:ahLst/>
            <a:cxnLst/>
            <a:rect l="l" t="t" r="r" b="b"/>
            <a:pathLst>
              <a:path w="266700" h="304800">
                <a:moveTo>
                  <a:pt x="133350" y="147638"/>
                </a:moveTo>
                <a:cubicBezTo>
                  <a:pt x="172777" y="147638"/>
                  <a:pt x="204787" y="115627"/>
                  <a:pt x="204787" y="76200"/>
                </a:cubicBezTo>
                <a:cubicBezTo>
                  <a:pt x="204787" y="36773"/>
                  <a:pt x="172777" y="4763"/>
                  <a:pt x="133350" y="4763"/>
                </a:cubicBezTo>
                <a:cubicBezTo>
                  <a:pt x="93923" y="4763"/>
                  <a:pt x="61913" y="36773"/>
                  <a:pt x="61912" y="76200"/>
                </a:cubicBezTo>
                <a:cubicBezTo>
                  <a:pt x="61912" y="115627"/>
                  <a:pt x="93923" y="147638"/>
                  <a:pt x="133350" y="147638"/>
                </a:cubicBezTo>
                <a:close/>
                <a:moveTo>
                  <a:pt x="115669" y="180975"/>
                </a:moveTo>
                <a:cubicBezTo>
                  <a:pt x="57031" y="180975"/>
                  <a:pt x="9525" y="228481"/>
                  <a:pt x="9525" y="287119"/>
                </a:cubicBezTo>
                <a:cubicBezTo>
                  <a:pt x="9525" y="296882"/>
                  <a:pt x="17443" y="304800"/>
                  <a:pt x="27206" y="304800"/>
                </a:cubicBezTo>
                <a:lnTo>
                  <a:pt x="239494" y="304800"/>
                </a:lnTo>
                <a:cubicBezTo>
                  <a:pt x="249257" y="304800"/>
                  <a:pt x="257175" y="296882"/>
                  <a:pt x="257175" y="287119"/>
                </a:cubicBezTo>
                <a:cubicBezTo>
                  <a:pt x="257175" y="228481"/>
                  <a:pt x="209669" y="180975"/>
                  <a:pt x="151031" y="180975"/>
                </a:cubicBezTo>
                <a:lnTo>
                  <a:pt x="115669" y="180975"/>
                </a:lnTo>
                <a:close/>
              </a:path>
            </a:pathLst>
          </a:custGeom>
          <a:solidFill>
            <a:srgbClr val="0B3C3D"/>
          </a:solidFill>
          <a:ln/>
        </p:spPr>
        <p:txBody>
          <a:bodyPr/>
          <a:lstStyle/>
          <a:p>
            <a:endParaRPr lang="en-IN"/>
          </a:p>
        </p:txBody>
      </p:sp>
      <p:sp>
        <p:nvSpPr>
          <p:cNvPr id="18" name="Text 16"/>
          <p:cNvSpPr/>
          <p:nvPr/>
        </p:nvSpPr>
        <p:spPr>
          <a:xfrm>
            <a:off x="2540000" y="5625640"/>
            <a:ext cx="3022600" cy="330200"/>
          </a:xfrm>
          <a:prstGeom prst="rect">
            <a:avLst/>
          </a:prstGeom>
          <a:noFill/>
          <a:ln/>
        </p:spPr>
        <p:txBody>
          <a:bodyPr wrap="none" lIns="0" tIns="0" rIns="0" bIns="0" rtlCol="0" anchor="ctr"/>
          <a:lstStyle/>
          <a:p>
            <a:pPr algn="ct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Customer Data</a:t>
            </a:r>
            <a:endParaRPr lang="en-US" sz="1600" dirty="0"/>
          </a:p>
        </p:txBody>
      </p:sp>
      <p:sp>
        <p:nvSpPr>
          <p:cNvPr id="19" name="Shape 17"/>
          <p:cNvSpPr/>
          <p:nvPr/>
        </p:nvSpPr>
        <p:spPr>
          <a:xfrm>
            <a:off x="2743200" y="6006640"/>
            <a:ext cx="2616200" cy="12700"/>
          </a:xfrm>
          <a:prstGeom prst="rect">
            <a:avLst/>
          </a:prstGeom>
          <a:solidFill>
            <a:srgbClr val="E8E6E1"/>
          </a:solidFill>
          <a:ln/>
        </p:spPr>
        <p:txBody>
          <a:bodyPr/>
          <a:lstStyle/>
          <a:p>
            <a:endParaRPr lang="en-IN"/>
          </a:p>
        </p:txBody>
      </p:sp>
      <p:sp>
        <p:nvSpPr>
          <p:cNvPr id="20" name="Text 18"/>
          <p:cNvSpPr/>
          <p:nvPr/>
        </p:nvSpPr>
        <p:spPr>
          <a:xfrm>
            <a:off x="2692400" y="6108240"/>
            <a:ext cx="2717800" cy="1879600"/>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Demographics &amp; segmentation</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Repeat purchase behavior</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Purchase frequency trends</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Age group distribution</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Regional distribution</a:t>
            </a:r>
            <a:endParaRPr lang="en-US" sz="1600" dirty="0"/>
          </a:p>
        </p:txBody>
      </p:sp>
      <p:sp>
        <p:nvSpPr>
          <p:cNvPr id="21" name="Shape 19"/>
          <p:cNvSpPr/>
          <p:nvPr/>
        </p:nvSpPr>
        <p:spPr>
          <a:xfrm>
            <a:off x="5765800" y="5066840"/>
            <a:ext cx="3022600" cy="3048000"/>
          </a:xfrm>
          <a:prstGeom prst="rect">
            <a:avLst/>
          </a:prstGeom>
          <a:solidFill>
            <a:srgbClr val="FFFFFF"/>
          </a:solidFill>
          <a:ln w="12700">
            <a:solidFill>
              <a:srgbClr val="B0BEC5"/>
            </a:solidFill>
            <a:prstDash val="solid"/>
          </a:ln>
        </p:spPr>
        <p:txBody>
          <a:bodyPr/>
          <a:lstStyle/>
          <a:p>
            <a:endParaRPr lang="en-IN"/>
          </a:p>
        </p:txBody>
      </p:sp>
      <p:sp>
        <p:nvSpPr>
          <p:cNvPr id="22" name="Shape 20"/>
          <p:cNvSpPr/>
          <p:nvPr/>
        </p:nvSpPr>
        <p:spPr>
          <a:xfrm>
            <a:off x="5930900" y="5219240"/>
            <a:ext cx="381000" cy="304800"/>
          </a:xfrm>
          <a:custGeom>
            <a:avLst/>
            <a:gdLst/>
            <a:ahLst/>
            <a:cxnLst/>
            <a:rect l="l" t="t" r="r" b="b"/>
            <a:pathLst>
              <a:path w="381000" h="304800">
                <a:moveTo>
                  <a:pt x="14288" y="-9525"/>
                </a:moveTo>
                <a:cubicBezTo>
                  <a:pt x="6370" y="-9525"/>
                  <a:pt x="0" y="-3155"/>
                  <a:pt x="0" y="4763"/>
                </a:cubicBezTo>
                <a:cubicBezTo>
                  <a:pt x="0" y="12680"/>
                  <a:pt x="6370" y="19050"/>
                  <a:pt x="14288" y="19050"/>
                </a:cubicBezTo>
                <a:lnTo>
                  <a:pt x="41255" y="19050"/>
                </a:lnTo>
                <a:cubicBezTo>
                  <a:pt x="43577" y="19050"/>
                  <a:pt x="45541" y="20717"/>
                  <a:pt x="45958" y="22979"/>
                </a:cubicBezTo>
                <a:lnTo>
                  <a:pt x="76974" y="193417"/>
                </a:lnTo>
                <a:cubicBezTo>
                  <a:pt x="80665" y="213777"/>
                  <a:pt x="98405" y="228600"/>
                  <a:pt x="119122" y="228600"/>
                </a:cubicBezTo>
                <a:lnTo>
                  <a:pt x="271463" y="228600"/>
                </a:lnTo>
                <a:cubicBezTo>
                  <a:pt x="279380" y="228600"/>
                  <a:pt x="285750" y="222230"/>
                  <a:pt x="285750" y="214313"/>
                </a:cubicBezTo>
                <a:cubicBezTo>
                  <a:pt x="285750" y="206395"/>
                  <a:pt x="279380" y="200025"/>
                  <a:pt x="271463" y="200025"/>
                </a:cubicBezTo>
                <a:lnTo>
                  <a:pt x="119122" y="200025"/>
                </a:lnTo>
                <a:cubicBezTo>
                  <a:pt x="112216" y="200025"/>
                  <a:pt x="106323" y="195084"/>
                  <a:pt x="105073" y="188297"/>
                </a:cubicBezTo>
                <a:lnTo>
                  <a:pt x="102037" y="171450"/>
                </a:lnTo>
                <a:lnTo>
                  <a:pt x="282773" y="171450"/>
                </a:lnTo>
                <a:cubicBezTo>
                  <a:pt x="301109" y="171450"/>
                  <a:pt x="316825" y="158413"/>
                  <a:pt x="320219" y="140375"/>
                </a:cubicBezTo>
                <a:lnTo>
                  <a:pt x="338673" y="41612"/>
                </a:lnTo>
                <a:cubicBezTo>
                  <a:pt x="340876" y="29885"/>
                  <a:pt x="331887" y="19050"/>
                  <a:pt x="319921" y="19050"/>
                </a:cubicBezTo>
                <a:lnTo>
                  <a:pt x="74235" y="19050"/>
                </a:lnTo>
                <a:lnTo>
                  <a:pt x="73997" y="17859"/>
                </a:lnTo>
                <a:cubicBezTo>
                  <a:pt x="71140" y="2024"/>
                  <a:pt x="57329" y="-9525"/>
                  <a:pt x="41196" y="-9525"/>
                </a:cubicBezTo>
                <a:lnTo>
                  <a:pt x="14288" y="-9525"/>
                </a:lnTo>
                <a:close/>
                <a:moveTo>
                  <a:pt x="123825" y="304800"/>
                </a:moveTo>
                <a:cubicBezTo>
                  <a:pt x="139596" y="304800"/>
                  <a:pt x="152400" y="291996"/>
                  <a:pt x="152400" y="276225"/>
                </a:cubicBezTo>
                <a:cubicBezTo>
                  <a:pt x="152400" y="260454"/>
                  <a:pt x="139596" y="247650"/>
                  <a:pt x="123825" y="247650"/>
                </a:cubicBezTo>
                <a:cubicBezTo>
                  <a:pt x="108054" y="247650"/>
                  <a:pt x="95250" y="260454"/>
                  <a:pt x="95250" y="276225"/>
                </a:cubicBezTo>
                <a:cubicBezTo>
                  <a:pt x="95250" y="291996"/>
                  <a:pt x="108054" y="304800"/>
                  <a:pt x="123825" y="304800"/>
                </a:cubicBezTo>
                <a:close/>
                <a:moveTo>
                  <a:pt x="257175" y="304800"/>
                </a:moveTo>
                <a:cubicBezTo>
                  <a:pt x="272946" y="304800"/>
                  <a:pt x="285750" y="291996"/>
                  <a:pt x="285750" y="276225"/>
                </a:cubicBezTo>
                <a:cubicBezTo>
                  <a:pt x="285750" y="260454"/>
                  <a:pt x="272946" y="247650"/>
                  <a:pt x="257175" y="247650"/>
                </a:cubicBezTo>
                <a:cubicBezTo>
                  <a:pt x="241404" y="247650"/>
                  <a:pt x="228600" y="260454"/>
                  <a:pt x="228600" y="276225"/>
                </a:cubicBezTo>
                <a:cubicBezTo>
                  <a:pt x="228600" y="291996"/>
                  <a:pt x="241404" y="304800"/>
                  <a:pt x="257175" y="304800"/>
                </a:cubicBezTo>
                <a:close/>
              </a:path>
            </a:pathLst>
          </a:custGeom>
          <a:solidFill>
            <a:srgbClr val="0B3C3D"/>
          </a:solidFill>
          <a:ln/>
        </p:spPr>
        <p:txBody>
          <a:bodyPr/>
          <a:lstStyle/>
          <a:p>
            <a:endParaRPr lang="en-IN"/>
          </a:p>
        </p:txBody>
      </p:sp>
      <p:sp>
        <p:nvSpPr>
          <p:cNvPr id="23" name="Text 21"/>
          <p:cNvSpPr/>
          <p:nvPr/>
        </p:nvSpPr>
        <p:spPr>
          <a:xfrm>
            <a:off x="5765800" y="5625640"/>
            <a:ext cx="3022600" cy="330200"/>
          </a:xfrm>
          <a:prstGeom prst="rect">
            <a:avLst/>
          </a:prstGeom>
          <a:noFill/>
          <a:ln/>
        </p:spPr>
        <p:txBody>
          <a:bodyPr wrap="none" lIns="0" tIns="0" rIns="0" bIns="0" rtlCol="0" anchor="ctr"/>
          <a:lstStyle/>
          <a:p>
            <a:pPr algn="ct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Sales &amp; Transactions</a:t>
            </a:r>
            <a:endParaRPr lang="en-US" sz="1600" dirty="0"/>
          </a:p>
        </p:txBody>
      </p:sp>
      <p:sp>
        <p:nvSpPr>
          <p:cNvPr id="24" name="Shape 22"/>
          <p:cNvSpPr/>
          <p:nvPr/>
        </p:nvSpPr>
        <p:spPr>
          <a:xfrm>
            <a:off x="5969000" y="6006640"/>
            <a:ext cx="2616200" cy="12700"/>
          </a:xfrm>
          <a:prstGeom prst="rect">
            <a:avLst/>
          </a:prstGeom>
          <a:solidFill>
            <a:srgbClr val="E8E6E1"/>
          </a:solidFill>
          <a:ln/>
        </p:spPr>
        <p:txBody>
          <a:bodyPr/>
          <a:lstStyle/>
          <a:p>
            <a:endParaRPr lang="en-IN"/>
          </a:p>
        </p:txBody>
      </p:sp>
      <p:sp>
        <p:nvSpPr>
          <p:cNvPr id="25" name="Text 23"/>
          <p:cNvSpPr/>
          <p:nvPr/>
        </p:nvSpPr>
        <p:spPr>
          <a:xfrm>
            <a:off x="5918200" y="6108240"/>
            <a:ext cx="2717800" cy="1879600"/>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Order quantity &amp; trends</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Discount &amp; profit margins</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Payment behavior</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Product categories</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Price band analysis</a:t>
            </a:r>
            <a:endParaRPr lang="en-US" sz="1600" dirty="0"/>
          </a:p>
        </p:txBody>
      </p:sp>
      <p:sp>
        <p:nvSpPr>
          <p:cNvPr id="26" name="Shape 24"/>
          <p:cNvSpPr/>
          <p:nvPr/>
        </p:nvSpPr>
        <p:spPr>
          <a:xfrm>
            <a:off x="8991600" y="5066840"/>
            <a:ext cx="3022600" cy="3048000"/>
          </a:xfrm>
          <a:prstGeom prst="rect">
            <a:avLst/>
          </a:prstGeom>
          <a:solidFill>
            <a:srgbClr val="FFFFFF"/>
          </a:solidFill>
          <a:ln w="12700">
            <a:solidFill>
              <a:srgbClr val="B0BEC5"/>
            </a:solidFill>
            <a:prstDash val="solid"/>
          </a:ln>
        </p:spPr>
        <p:txBody>
          <a:bodyPr/>
          <a:lstStyle/>
          <a:p>
            <a:endParaRPr lang="en-IN"/>
          </a:p>
        </p:txBody>
      </p:sp>
      <p:sp>
        <p:nvSpPr>
          <p:cNvPr id="27" name="Shape 25"/>
          <p:cNvSpPr/>
          <p:nvPr/>
        </p:nvSpPr>
        <p:spPr>
          <a:xfrm>
            <a:off x="9175750" y="5219240"/>
            <a:ext cx="342900" cy="304800"/>
          </a:xfrm>
          <a:custGeom>
            <a:avLst/>
            <a:gdLst/>
            <a:ahLst/>
            <a:cxnLst/>
            <a:rect l="l" t="t" r="r" b="b"/>
            <a:pathLst>
              <a:path w="342900" h="304800">
                <a:moveTo>
                  <a:pt x="0" y="57150"/>
                </a:moveTo>
                <a:cubicBezTo>
                  <a:pt x="0" y="36135"/>
                  <a:pt x="17085" y="19050"/>
                  <a:pt x="38100" y="19050"/>
                </a:cubicBezTo>
                <a:lnTo>
                  <a:pt x="209550" y="19050"/>
                </a:lnTo>
                <a:cubicBezTo>
                  <a:pt x="230565" y="19050"/>
                  <a:pt x="247650" y="36135"/>
                  <a:pt x="247650" y="57150"/>
                </a:cubicBezTo>
                <a:lnTo>
                  <a:pt x="247650" y="76200"/>
                </a:lnTo>
                <a:lnTo>
                  <a:pt x="277832" y="76200"/>
                </a:lnTo>
                <a:cubicBezTo>
                  <a:pt x="287953" y="76200"/>
                  <a:pt x="297656" y="80189"/>
                  <a:pt x="304800" y="87332"/>
                </a:cubicBezTo>
                <a:lnTo>
                  <a:pt x="331768" y="114300"/>
                </a:lnTo>
                <a:cubicBezTo>
                  <a:pt x="338911" y="121444"/>
                  <a:pt x="342900" y="131147"/>
                  <a:pt x="342900" y="141268"/>
                </a:cubicBezTo>
                <a:lnTo>
                  <a:pt x="342900" y="228600"/>
                </a:lnTo>
                <a:cubicBezTo>
                  <a:pt x="342900" y="249615"/>
                  <a:pt x="325815" y="266700"/>
                  <a:pt x="304800" y="266700"/>
                </a:cubicBezTo>
                <a:lnTo>
                  <a:pt x="302835" y="266700"/>
                </a:lnTo>
                <a:cubicBezTo>
                  <a:pt x="296644" y="288667"/>
                  <a:pt x="276404" y="304800"/>
                  <a:pt x="252413" y="304800"/>
                </a:cubicBezTo>
                <a:cubicBezTo>
                  <a:pt x="228421" y="304800"/>
                  <a:pt x="208240" y="288667"/>
                  <a:pt x="201990" y="266700"/>
                </a:cubicBezTo>
                <a:lnTo>
                  <a:pt x="140910" y="266700"/>
                </a:lnTo>
                <a:cubicBezTo>
                  <a:pt x="134719" y="288667"/>
                  <a:pt x="114479" y="304800"/>
                  <a:pt x="90488" y="304800"/>
                </a:cubicBezTo>
                <a:cubicBezTo>
                  <a:pt x="66496" y="304800"/>
                  <a:pt x="46315" y="288667"/>
                  <a:pt x="40065" y="266700"/>
                </a:cubicBezTo>
                <a:lnTo>
                  <a:pt x="38100" y="266700"/>
                </a:lnTo>
                <a:cubicBezTo>
                  <a:pt x="17085" y="266700"/>
                  <a:pt x="0" y="249615"/>
                  <a:pt x="0" y="228600"/>
                </a:cubicBezTo>
                <a:lnTo>
                  <a:pt x="0" y="57150"/>
                </a:lnTo>
                <a:close/>
                <a:moveTo>
                  <a:pt x="304800" y="171450"/>
                </a:moveTo>
                <a:lnTo>
                  <a:pt x="304800" y="141268"/>
                </a:lnTo>
                <a:lnTo>
                  <a:pt x="277832" y="114300"/>
                </a:lnTo>
                <a:lnTo>
                  <a:pt x="247650" y="114300"/>
                </a:lnTo>
                <a:lnTo>
                  <a:pt x="247650" y="171450"/>
                </a:lnTo>
                <a:lnTo>
                  <a:pt x="304800" y="171450"/>
                </a:lnTo>
                <a:close/>
                <a:moveTo>
                  <a:pt x="114300" y="252413"/>
                </a:moveTo>
                <a:cubicBezTo>
                  <a:pt x="114300" y="239270"/>
                  <a:pt x="103630" y="228600"/>
                  <a:pt x="90488" y="228600"/>
                </a:cubicBezTo>
                <a:cubicBezTo>
                  <a:pt x="77345" y="228600"/>
                  <a:pt x="66675" y="239270"/>
                  <a:pt x="66675" y="252413"/>
                </a:cubicBezTo>
                <a:cubicBezTo>
                  <a:pt x="66675" y="265555"/>
                  <a:pt x="77345" y="276225"/>
                  <a:pt x="90488" y="276225"/>
                </a:cubicBezTo>
                <a:cubicBezTo>
                  <a:pt x="103630" y="276225"/>
                  <a:pt x="114300" y="265555"/>
                  <a:pt x="114300" y="252413"/>
                </a:cubicBezTo>
                <a:close/>
                <a:moveTo>
                  <a:pt x="252413" y="276225"/>
                </a:moveTo>
                <a:cubicBezTo>
                  <a:pt x="265555" y="276225"/>
                  <a:pt x="276225" y="265555"/>
                  <a:pt x="276225" y="252413"/>
                </a:cubicBezTo>
                <a:cubicBezTo>
                  <a:pt x="276225" y="239270"/>
                  <a:pt x="265555" y="228600"/>
                  <a:pt x="252413" y="228600"/>
                </a:cubicBezTo>
                <a:cubicBezTo>
                  <a:pt x="239270" y="228600"/>
                  <a:pt x="228600" y="239270"/>
                  <a:pt x="228600" y="252413"/>
                </a:cubicBezTo>
                <a:cubicBezTo>
                  <a:pt x="228600" y="265555"/>
                  <a:pt x="239270" y="276225"/>
                  <a:pt x="252413" y="276225"/>
                </a:cubicBezTo>
                <a:close/>
              </a:path>
            </a:pathLst>
          </a:custGeom>
          <a:solidFill>
            <a:srgbClr val="0B3C3D"/>
          </a:solidFill>
          <a:ln/>
        </p:spPr>
        <p:txBody>
          <a:bodyPr/>
          <a:lstStyle/>
          <a:p>
            <a:endParaRPr lang="en-IN"/>
          </a:p>
        </p:txBody>
      </p:sp>
      <p:sp>
        <p:nvSpPr>
          <p:cNvPr id="28" name="Text 26"/>
          <p:cNvSpPr/>
          <p:nvPr/>
        </p:nvSpPr>
        <p:spPr>
          <a:xfrm>
            <a:off x="8991600" y="5625640"/>
            <a:ext cx="3022600" cy="330200"/>
          </a:xfrm>
          <a:prstGeom prst="rect">
            <a:avLst/>
          </a:prstGeom>
          <a:noFill/>
          <a:ln/>
        </p:spPr>
        <p:txBody>
          <a:bodyPr wrap="none" lIns="0" tIns="0" rIns="0" bIns="0" rtlCol="0" anchor="ctr"/>
          <a:lstStyle/>
          <a:p>
            <a:pPr algn="ct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Delivery &amp; Shipping</a:t>
            </a:r>
            <a:endParaRPr lang="en-US" sz="1600" dirty="0"/>
          </a:p>
        </p:txBody>
      </p:sp>
      <p:sp>
        <p:nvSpPr>
          <p:cNvPr id="29" name="Shape 27"/>
          <p:cNvSpPr/>
          <p:nvPr/>
        </p:nvSpPr>
        <p:spPr>
          <a:xfrm>
            <a:off x="9194800" y="6006640"/>
            <a:ext cx="2616200" cy="12700"/>
          </a:xfrm>
          <a:prstGeom prst="rect">
            <a:avLst/>
          </a:prstGeom>
          <a:solidFill>
            <a:srgbClr val="E8E6E1"/>
          </a:solidFill>
          <a:ln/>
        </p:spPr>
        <p:txBody>
          <a:bodyPr/>
          <a:lstStyle/>
          <a:p>
            <a:endParaRPr lang="en-IN"/>
          </a:p>
        </p:txBody>
      </p:sp>
      <p:sp>
        <p:nvSpPr>
          <p:cNvPr id="30" name="Text 28"/>
          <p:cNvSpPr/>
          <p:nvPr/>
        </p:nvSpPr>
        <p:spPr>
          <a:xfrm>
            <a:off x="9144000" y="6108240"/>
            <a:ext cx="2717800" cy="1879600"/>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Shipping cost &amp; timelines</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Delivery delay tracking</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Regional performance</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Logistics coordination</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On-time vs delayed</a:t>
            </a:r>
            <a:endParaRPr lang="en-US" sz="1600" dirty="0"/>
          </a:p>
        </p:txBody>
      </p:sp>
      <p:sp>
        <p:nvSpPr>
          <p:cNvPr id="31" name="Shape 29"/>
          <p:cNvSpPr/>
          <p:nvPr/>
        </p:nvSpPr>
        <p:spPr>
          <a:xfrm>
            <a:off x="12217400" y="5066840"/>
            <a:ext cx="3530600" cy="3048000"/>
          </a:xfrm>
          <a:prstGeom prst="rect">
            <a:avLst/>
          </a:prstGeom>
          <a:solidFill>
            <a:srgbClr val="FFFFFF"/>
          </a:solidFill>
          <a:ln w="12700">
            <a:solidFill>
              <a:srgbClr val="B0BEC5"/>
            </a:solidFill>
            <a:prstDash val="solid"/>
          </a:ln>
        </p:spPr>
        <p:txBody>
          <a:bodyPr/>
          <a:lstStyle/>
          <a:p>
            <a:endParaRPr lang="en-IN"/>
          </a:p>
        </p:txBody>
      </p:sp>
      <p:sp>
        <p:nvSpPr>
          <p:cNvPr id="32" name="Shape 30"/>
          <p:cNvSpPr/>
          <p:nvPr/>
        </p:nvSpPr>
        <p:spPr>
          <a:xfrm>
            <a:off x="12401550" y="5219240"/>
            <a:ext cx="342900" cy="304800"/>
          </a:xfrm>
          <a:custGeom>
            <a:avLst/>
            <a:gdLst/>
            <a:ahLst/>
            <a:cxnLst/>
            <a:rect l="l" t="t" r="r" b="b"/>
            <a:pathLst>
              <a:path w="342900" h="304800">
                <a:moveTo>
                  <a:pt x="184249" y="-11251"/>
                </a:moveTo>
                <a:cubicBezTo>
                  <a:pt x="181808" y="-16014"/>
                  <a:pt x="176867" y="-19050"/>
                  <a:pt x="171510" y="-19050"/>
                </a:cubicBezTo>
                <a:cubicBezTo>
                  <a:pt x="166152" y="-19050"/>
                  <a:pt x="161211" y="-16014"/>
                  <a:pt x="158770" y="-11251"/>
                </a:cubicBezTo>
                <a:lnTo>
                  <a:pt x="114955" y="74593"/>
                </a:lnTo>
                <a:lnTo>
                  <a:pt x="19764" y="89714"/>
                </a:lnTo>
                <a:cubicBezTo>
                  <a:pt x="14466" y="90547"/>
                  <a:pt x="10061" y="94298"/>
                  <a:pt x="8394" y="99417"/>
                </a:cubicBezTo>
                <a:cubicBezTo>
                  <a:pt x="6727" y="104537"/>
                  <a:pt x="8096" y="110133"/>
                  <a:pt x="11847" y="113943"/>
                </a:cubicBezTo>
                <a:lnTo>
                  <a:pt x="79950" y="182106"/>
                </a:lnTo>
                <a:lnTo>
                  <a:pt x="64949" y="277297"/>
                </a:lnTo>
                <a:cubicBezTo>
                  <a:pt x="64115" y="282595"/>
                  <a:pt x="66318" y="287953"/>
                  <a:pt x="70664" y="291108"/>
                </a:cubicBezTo>
                <a:cubicBezTo>
                  <a:pt x="75009" y="294263"/>
                  <a:pt x="80724" y="294739"/>
                  <a:pt x="85546" y="292298"/>
                </a:cubicBezTo>
                <a:lnTo>
                  <a:pt x="171510" y="248603"/>
                </a:lnTo>
                <a:lnTo>
                  <a:pt x="257413" y="292298"/>
                </a:lnTo>
                <a:cubicBezTo>
                  <a:pt x="262176" y="294739"/>
                  <a:pt x="267950" y="294263"/>
                  <a:pt x="272296" y="291108"/>
                </a:cubicBezTo>
                <a:cubicBezTo>
                  <a:pt x="276642" y="287953"/>
                  <a:pt x="278844" y="282654"/>
                  <a:pt x="278011" y="277297"/>
                </a:cubicBezTo>
                <a:lnTo>
                  <a:pt x="262950" y="182106"/>
                </a:lnTo>
                <a:lnTo>
                  <a:pt x="331053" y="113943"/>
                </a:lnTo>
                <a:cubicBezTo>
                  <a:pt x="334863" y="110133"/>
                  <a:pt x="336173" y="104537"/>
                  <a:pt x="334506" y="99417"/>
                </a:cubicBezTo>
                <a:cubicBezTo>
                  <a:pt x="332839" y="94298"/>
                  <a:pt x="328493" y="90547"/>
                  <a:pt x="323136" y="89714"/>
                </a:cubicBezTo>
                <a:lnTo>
                  <a:pt x="228005" y="74593"/>
                </a:lnTo>
                <a:lnTo>
                  <a:pt x="184249" y="-11251"/>
                </a:lnTo>
                <a:close/>
              </a:path>
            </a:pathLst>
          </a:custGeom>
          <a:solidFill>
            <a:srgbClr val="0B3C3D"/>
          </a:solidFill>
          <a:ln/>
        </p:spPr>
        <p:txBody>
          <a:bodyPr/>
          <a:lstStyle/>
          <a:p>
            <a:endParaRPr lang="en-IN"/>
          </a:p>
        </p:txBody>
      </p:sp>
      <p:sp>
        <p:nvSpPr>
          <p:cNvPr id="33" name="Text 31"/>
          <p:cNvSpPr/>
          <p:nvPr/>
        </p:nvSpPr>
        <p:spPr>
          <a:xfrm>
            <a:off x="12217400" y="5625640"/>
            <a:ext cx="3530600" cy="330200"/>
          </a:xfrm>
          <a:prstGeom prst="rect">
            <a:avLst/>
          </a:prstGeom>
          <a:noFill/>
          <a:ln/>
        </p:spPr>
        <p:txBody>
          <a:bodyPr wrap="none" lIns="0" tIns="0" rIns="0" bIns="0" rtlCol="0" anchor="ctr"/>
          <a:lstStyle/>
          <a:p>
            <a:pPr algn="ct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Customer Feedback</a:t>
            </a:r>
            <a:endParaRPr lang="en-US" sz="1600" dirty="0"/>
          </a:p>
        </p:txBody>
      </p:sp>
      <p:sp>
        <p:nvSpPr>
          <p:cNvPr id="34" name="Shape 32"/>
          <p:cNvSpPr/>
          <p:nvPr/>
        </p:nvSpPr>
        <p:spPr>
          <a:xfrm>
            <a:off x="12420600" y="6006640"/>
            <a:ext cx="3124200" cy="12700"/>
          </a:xfrm>
          <a:prstGeom prst="rect">
            <a:avLst/>
          </a:prstGeom>
          <a:solidFill>
            <a:srgbClr val="E8E6E1"/>
          </a:solidFill>
          <a:ln/>
        </p:spPr>
        <p:txBody>
          <a:bodyPr/>
          <a:lstStyle/>
          <a:p>
            <a:endParaRPr lang="en-IN"/>
          </a:p>
        </p:txBody>
      </p:sp>
      <p:sp>
        <p:nvSpPr>
          <p:cNvPr id="35" name="Text 33"/>
          <p:cNvSpPr/>
          <p:nvPr/>
        </p:nvSpPr>
        <p:spPr>
          <a:xfrm>
            <a:off x="12369800" y="6108240"/>
            <a:ext cx="3225800" cy="1879600"/>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Review score analysis</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Retention indicators</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Satisfaction patterns</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Brand performance</a:t>
            </a:r>
          </a:p>
          <a:p>
            <a:pPr marL="285750" indent="-285750">
              <a:lnSpc>
                <a:spcPct val="150000"/>
              </a:lnSpc>
              <a:buFont typeface="Arial" panose="020B0604020202020204" pitchFamily="34" charset="0"/>
              <a:buChar char="•"/>
            </a:pPr>
            <a:r>
              <a:rPr lang="en-US" sz="1300" dirty="0">
                <a:solidFill>
                  <a:srgbClr val="2D2D2D"/>
                </a:solidFill>
                <a:latin typeface="Quattrocento Sans" pitchFamily="34" charset="0"/>
                <a:ea typeface="Quattrocento Sans" pitchFamily="34" charset="-122"/>
                <a:cs typeface="Quattrocento Sans" pitchFamily="34" charset="-120"/>
              </a:rPr>
              <a:t>Loyalty signals</a:t>
            </a:r>
            <a:endParaRPr lang="en-US" sz="1600" dirty="0"/>
          </a:p>
        </p:txBody>
      </p:sp>
      <p:sp>
        <p:nvSpPr>
          <p:cNvPr id="36" name="Shape 34"/>
          <p:cNvSpPr/>
          <p:nvPr/>
        </p:nvSpPr>
        <p:spPr>
          <a:xfrm>
            <a:off x="2540000" y="3855720"/>
            <a:ext cx="13208000" cy="711200"/>
          </a:xfrm>
          <a:prstGeom prst="rect">
            <a:avLst/>
          </a:prstGeom>
          <a:solidFill>
            <a:srgbClr val="0B3C3D"/>
          </a:solidFill>
          <a:ln/>
        </p:spPr>
        <p:txBody>
          <a:bodyPr/>
          <a:lstStyle/>
          <a:p>
            <a:endParaRPr lang="en-IN"/>
          </a:p>
        </p:txBody>
      </p:sp>
      <p:sp>
        <p:nvSpPr>
          <p:cNvPr id="37" name="Text 35"/>
          <p:cNvSpPr/>
          <p:nvPr/>
        </p:nvSpPr>
        <p:spPr>
          <a:xfrm>
            <a:off x="2743200" y="3855720"/>
            <a:ext cx="12801600" cy="711200"/>
          </a:xfrm>
          <a:prstGeom prst="rect">
            <a:avLst/>
          </a:prstGeom>
          <a:noFill/>
          <a:ln/>
        </p:spPr>
        <p:txBody>
          <a:bodyPr wrap="squar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Dataset Scope and Overview:</a:t>
            </a:r>
            <a:endParaRPr lang="en-US" dirty="0"/>
          </a:p>
        </p:txBody>
      </p:sp>
      <p:sp>
        <p:nvSpPr>
          <p:cNvPr id="38" name="Text 36"/>
          <p:cNvSpPr/>
          <p:nvPr/>
        </p:nvSpPr>
        <p:spPr>
          <a:xfrm>
            <a:off x="2540000" y="1734876"/>
            <a:ext cx="3048000" cy="762000"/>
          </a:xfrm>
          <a:prstGeom prst="rect">
            <a:avLst/>
          </a:prstGeom>
          <a:noFill/>
          <a:ln/>
        </p:spPr>
        <p:txBody>
          <a:bodyPr wrap="none" lIns="0" tIns="0" rIns="0" bIns="0" rtlCol="0" anchor="ctr"/>
          <a:lstStyle/>
          <a:p>
            <a:pPr algn="ctr">
              <a:lnSpc>
                <a:spcPct val="100000"/>
              </a:lnSpc>
            </a:pPr>
            <a:r>
              <a:rPr lang="en-US" sz="4800" b="1" dirty="0">
                <a:solidFill>
                  <a:srgbClr val="0B3C3D"/>
                </a:solidFill>
                <a:latin typeface="Quattrocento Sans" pitchFamily="34" charset="0"/>
                <a:ea typeface="Quattrocento Sans" pitchFamily="34" charset="-122"/>
                <a:cs typeface="Quattrocento Sans" pitchFamily="34" charset="-120"/>
              </a:rPr>
              <a:t>50K+</a:t>
            </a:r>
            <a:endParaRPr lang="en-US" sz="2000" dirty="0"/>
          </a:p>
        </p:txBody>
      </p:sp>
      <p:sp>
        <p:nvSpPr>
          <p:cNvPr id="39" name="Text 37"/>
          <p:cNvSpPr/>
          <p:nvPr/>
        </p:nvSpPr>
        <p:spPr>
          <a:xfrm>
            <a:off x="2540000" y="2496876"/>
            <a:ext cx="3048000" cy="304800"/>
          </a:xfrm>
          <a:prstGeom prst="rect">
            <a:avLst/>
          </a:prstGeom>
          <a:noFill/>
          <a:ln/>
        </p:spPr>
        <p:txBody>
          <a:bodyPr wrap="none" lIns="0" tIns="0" rIns="0" bIns="0" rtlCol="0" anchor="ctr"/>
          <a:lstStyle/>
          <a:p>
            <a:pPr algn="ctr">
              <a:lnSpc>
                <a:spcPct val="100000"/>
              </a:lnSpc>
            </a:pPr>
            <a:r>
              <a:rPr lang="en-US" dirty="0">
                <a:solidFill>
                  <a:srgbClr val="8A8A8A"/>
                </a:solidFill>
                <a:latin typeface="Quattrocento Sans" pitchFamily="34" charset="0"/>
                <a:ea typeface="Quattrocento Sans" pitchFamily="34" charset="-122"/>
                <a:cs typeface="Quattrocento Sans" pitchFamily="34" charset="-120"/>
              </a:rPr>
              <a:t>Customers</a:t>
            </a:r>
            <a:endParaRPr lang="en-US" sz="2000" dirty="0"/>
          </a:p>
        </p:txBody>
      </p:sp>
      <p:sp>
        <p:nvSpPr>
          <p:cNvPr id="40" name="Shape 38"/>
          <p:cNvSpPr/>
          <p:nvPr/>
        </p:nvSpPr>
        <p:spPr>
          <a:xfrm>
            <a:off x="5765800" y="6070600"/>
            <a:ext cx="12700" cy="762000"/>
          </a:xfrm>
          <a:prstGeom prst="rect">
            <a:avLst/>
          </a:prstGeom>
          <a:solidFill>
            <a:srgbClr val="E8E6E1"/>
          </a:solidFill>
          <a:ln/>
        </p:spPr>
        <p:txBody>
          <a:bodyPr/>
          <a:lstStyle/>
          <a:p>
            <a:endParaRPr lang="en-IN"/>
          </a:p>
        </p:txBody>
      </p:sp>
      <p:sp>
        <p:nvSpPr>
          <p:cNvPr id="41" name="Text 39"/>
          <p:cNvSpPr/>
          <p:nvPr/>
        </p:nvSpPr>
        <p:spPr>
          <a:xfrm>
            <a:off x="5943600" y="1734876"/>
            <a:ext cx="3048000" cy="762000"/>
          </a:xfrm>
          <a:prstGeom prst="rect">
            <a:avLst/>
          </a:prstGeom>
          <a:noFill/>
          <a:ln/>
        </p:spPr>
        <p:txBody>
          <a:bodyPr wrap="none" lIns="0" tIns="0" rIns="0" bIns="0" rtlCol="0" anchor="ctr"/>
          <a:lstStyle/>
          <a:p>
            <a:pPr algn="ctr">
              <a:lnSpc>
                <a:spcPct val="100000"/>
              </a:lnSpc>
            </a:pPr>
            <a:r>
              <a:rPr lang="en-US" sz="4800" b="1" dirty="0">
                <a:solidFill>
                  <a:srgbClr val="0B3C3D"/>
                </a:solidFill>
                <a:latin typeface="Quattrocento Sans" pitchFamily="34" charset="0"/>
                <a:ea typeface="Quattrocento Sans" pitchFamily="34" charset="-122"/>
                <a:cs typeface="Quattrocento Sans" pitchFamily="34" charset="-120"/>
              </a:rPr>
              <a:t>100K+</a:t>
            </a:r>
            <a:endParaRPr lang="en-US" sz="2000" dirty="0"/>
          </a:p>
        </p:txBody>
      </p:sp>
      <p:sp>
        <p:nvSpPr>
          <p:cNvPr id="42" name="Text 40"/>
          <p:cNvSpPr/>
          <p:nvPr/>
        </p:nvSpPr>
        <p:spPr>
          <a:xfrm>
            <a:off x="5943600" y="2496876"/>
            <a:ext cx="3048000" cy="304800"/>
          </a:xfrm>
          <a:prstGeom prst="rect">
            <a:avLst/>
          </a:prstGeom>
          <a:noFill/>
          <a:ln/>
        </p:spPr>
        <p:txBody>
          <a:bodyPr wrap="none" lIns="0" tIns="0" rIns="0" bIns="0" rtlCol="0" anchor="ctr"/>
          <a:lstStyle/>
          <a:p>
            <a:pPr algn="ctr">
              <a:lnSpc>
                <a:spcPct val="100000"/>
              </a:lnSpc>
            </a:pPr>
            <a:r>
              <a:rPr lang="en-US" dirty="0">
                <a:solidFill>
                  <a:srgbClr val="8A8A8A"/>
                </a:solidFill>
                <a:latin typeface="Quattrocento Sans" pitchFamily="34" charset="0"/>
                <a:ea typeface="Quattrocento Sans" pitchFamily="34" charset="-122"/>
                <a:cs typeface="Quattrocento Sans" pitchFamily="34" charset="-120"/>
              </a:rPr>
              <a:t>Transactions</a:t>
            </a:r>
            <a:endParaRPr lang="en-US" sz="2000" dirty="0"/>
          </a:p>
        </p:txBody>
      </p:sp>
      <p:sp>
        <p:nvSpPr>
          <p:cNvPr id="44" name="Text 42"/>
          <p:cNvSpPr/>
          <p:nvPr/>
        </p:nvSpPr>
        <p:spPr>
          <a:xfrm>
            <a:off x="9347200" y="1734876"/>
            <a:ext cx="3048000" cy="762000"/>
          </a:xfrm>
          <a:prstGeom prst="rect">
            <a:avLst/>
          </a:prstGeom>
          <a:noFill/>
          <a:ln/>
        </p:spPr>
        <p:txBody>
          <a:bodyPr wrap="none" lIns="0" tIns="0" rIns="0" bIns="0" rtlCol="0" anchor="ctr"/>
          <a:lstStyle/>
          <a:p>
            <a:pPr algn="ctr">
              <a:lnSpc>
                <a:spcPct val="100000"/>
              </a:lnSpc>
            </a:pPr>
            <a:r>
              <a:rPr lang="en-US" sz="4800" b="1" dirty="0">
                <a:solidFill>
                  <a:srgbClr val="0B3C3D"/>
                </a:solidFill>
                <a:latin typeface="Quattrocento Sans" pitchFamily="34" charset="0"/>
                <a:ea typeface="Quattrocento Sans" pitchFamily="34" charset="-122"/>
                <a:cs typeface="Quattrocento Sans" pitchFamily="34" charset="-120"/>
              </a:rPr>
              <a:t>15+</a:t>
            </a:r>
            <a:endParaRPr lang="en-US" sz="2000" dirty="0"/>
          </a:p>
        </p:txBody>
      </p:sp>
      <p:sp>
        <p:nvSpPr>
          <p:cNvPr id="45" name="Text 43"/>
          <p:cNvSpPr/>
          <p:nvPr/>
        </p:nvSpPr>
        <p:spPr>
          <a:xfrm>
            <a:off x="9347200" y="2496876"/>
            <a:ext cx="3048000" cy="304800"/>
          </a:xfrm>
          <a:prstGeom prst="rect">
            <a:avLst/>
          </a:prstGeom>
          <a:noFill/>
          <a:ln/>
        </p:spPr>
        <p:txBody>
          <a:bodyPr wrap="none" lIns="0" tIns="0" rIns="0" bIns="0" rtlCol="0" anchor="ctr"/>
          <a:lstStyle/>
          <a:p>
            <a:pPr algn="ctr">
              <a:lnSpc>
                <a:spcPct val="100000"/>
              </a:lnSpc>
            </a:pPr>
            <a:r>
              <a:rPr lang="en-US" dirty="0">
                <a:solidFill>
                  <a:srgbClr val="8A8A8A"/>
                </a:solidFill>
                <a:latin typeface="Quattrocento Sans" pitchFamily="34" charset="0"/>
                <a:ea typeface="Quattrocento Sans" pitchFamily="34" charset="-122"/>
                <a:cs typeface="Quattrocento Sans" pitchFamily="34" charset="-120"/>
              </a:rPr>
              <a:t>Product Categories</a:t>
            </a:r>
            <a:endParaRPr lang="en-US" sz="2000" dirty="0"/>
          </a:p>
        </p:txBody>
      </p:sp>
      <p:sp>
        <p:nvSpPr>
          <p:cNvPr id="47" name="Text 45"/>
          <p:cNvSpPr/>
          <p:nvPr/>
        </p:nvSpPr>
        <p:spPr>
          <a:xfrm>
            <a:off x="12750800" y="1734876"/>
            <a:ext cx="2997200" cy="762000"/>
          </a:xfrm>
          <a:prstGeom prst="rect">
            <a:avLst/>
          </a:prstGeom>
          <a:noFill/>
          <a:ln/>
        </p:spPr>
        <p:txBody>
          <a:bodyPr wrap="none" lIns="0" tIns="0" rIns="0" bIns="0" rtlCol="0" anchor="ctr"/>
          <a:lstStyle/>
          <a:p>
            <a:pPr algn="ctr">
              <a:lnSpc>
                <a:spcPct val="100000"/>
              </a:lnSpc>
            </a:pPr>
            <a:r>
              <a:rPr lang="en-US" sz="4800" b="1" dirty="0">
                <a:solidFill>
                  <a:srgbClr val="0B3C3D"/>
                </a:solidFill>
                <a:latin typeface="Quattrocento Sans" pitchFamily="34" charset="0"/>
                <a:ea typeface="Quattrocento Sans" pitchFamily="34" charset="-122"/>
                <a:cs typeface="Quattrocento Sans" pitchFamily="34" charset="-120"/>
              </a:rPr>
              <a:t>4 Years</a:t>
            </a:r>
            <a:endParaRPr lang="en-US" sz="2000" dirty="0"/>
          </a:p>
        </p:txBody>
      </p:sp>
      <p:sp>
        <p:nvSpPr>
          <p:cNvPr id="48" name="Text 46"/>
          <p:cNvSpPr/>
          <p:nvPr/>
        </p:nvSpPr>
        <p:spPr>
          <a:xfrm>
            <a:off x="12750800" y="2496876"/>
            <a:ext cx="2997200" cy="304800"/>
          </a:xfrm>
          <a:prstGeom prst="rect">
            <a:avLst/>
          </a:prstGeom>
          <a:noFill/>
          <a:ln/>
        </p:spPr>
        <p:txBody>
          <a:bodyPr wrap="none" lIns="0" tIns="0" rIns="0" bIns="0" rtlCol="0" anchor="ctr"/>
          <a:lstStyle/>
          <a:p>
            <a:pPr algn="ctr">
              <a:lnSpc>
                <a:spcPct val="100000"/>
              </a:lnSpc>
            </a:pPr>
            <a:r>
              <a:rPr lang="en-US" dirty="0">
                <a:solidFill>
                  <a:srgbClr val="8A8A8A"/>
                </a:solidFill>
                <a:latin typeface="Quattrocento Sans" pitchFamily="34" charset="0"/>
                <a:ea typeface="Quattrocento Sans" pitchFamily="34" charset="-122"/>
                <a:cs typeface="Quattrocento Sans" pitchFamily="34" charset="-120"/>
              </a:rPr>
              <a:t>Historical Data</a:t>
            </a:r>
            <a:endParaRPr lang="en-US" sz="20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B3C3D">
              <a:alpha val="3922"/>
            </a:srgbClr>
          </a:solidFill>
          <a:ln w="12700">
            <a:solidFill>
              <a:srgbClr val="0B3C3D">
                <a:alpha val="18824"/>
              </a:srgbClr>
            </a:solidFill>
            <a:prstDash val="solid"/>
          </a:ln>
        </p:spPr>
        <p:txBody>
          <a:bodyPr/>
          <a:lstStyle/>
          <a:p>
            <a:endParaRPr lang="en-IN"/>
          </a:p>
        </p:txBody>
      </p:sp>
      <p:sp>
        <p:nvSpPr>
          <p:cNvPr id="3" name="Shape 1"/>
          <p:cNvSpPr/>
          <p:nvPr/>
        </p:nvSpPr>
        <p:spPr>
          <a:xfrm>
            <a:off x="2540000" y="2286000"/>
            <a:ext cx="3810000" cy="3810000"/>
          </a:xfrm>
          <a:prstGeom prst="rect">
            <a:avLst/>
          </a:prstGeom>
          <a:solidFill>
            <a:srgbClr val="0B3C3D">
              <a:alpha val="3922"/>
            </a:srgbClr>
          </a:solidFill>
          <a:ln w="25400">
            <a:solidFill>
              <a:srgbClr val="0B3C3D">
                <a:alpha val="31373"/>
              </a:srgbClr>
            </a:solidFill>
            <a:prstDash val="solid"/>
          </a:ln>
        </p:spPr>
        <p:txBody>
          <a:bodyPr/>
          <a:lstStyle/>
          <a:p>
            <a:endParaRPr lang="en-IN"/>
          </a:p>
        </p:txBody>
      </p:sp>
      <p:sp>
        <p:nvSpPr>
          <p:cNvPr id="4" name="Shape 2"/>
          <p:cNvSpPr/>
          <p:nvPr/>
        </p:nvSpPr>
        <p:spPr>
          <a:xfrm>
            <a:off x="3048000" y="2794000"/>
            <a:ext cx="2794000" cy="2794000"/>
          </a:xfrm>
          <a:prstGeom prst="rect">
            <a:avLst/>
          </a:prstGeom>
          <a:solidFill>
            <a:srgbClr val="FFFFFF"/>
          </a:solidFill>
          <a:ln w="25400">
            <a:solidFill>
              <a:srgbClr val="0B3C3D"/>
            </a:solidFill>
            <a:prstDash val="solid"/>
          </a:ln>
        </p:spPr>
        <p:txBody>
          <a:bodyPr/>
          <a:lstStyle/>
          <a:p>
            <a:endParaRPr lang="en-IN"/>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00000"/>
              </a:lnSpc>
            </a:pPr>
            <a:r>
              <a:rPr lang="en-US" sz="8000" b="1" dirty="0">
                <a:solidFill>
                  <a:srgbClr val="0B3C3D"/>
                </a:solidFill>
                <a:latin typeface="Quattrocento Sans" pitchFamily="34" charset="0"/>
                <a:ea typeface="Quattrocento Sans" pitchFamily="34" charset="-122"/>
                <a:cs typeface="Quattrocento Sans" pitchFamily="34" charset="-120"/>
              </a:rPr>
              <a:t>02</a:t>
            </a:r>
            <a:endParaRPr lang="en-US" sz="1600" dirty="0"/>
          </a:p>
        </p:txBody>
      </p:sp>
      <p:sp>
        <p:nvSpPr>
          <p:cNvPr id="6" name="Shape 4"/>
          <p:cNvSpPr/>
          <p:nvPr/>
        </p:nvSpPr>
        <p:spPr>
          <a:xfrm>
            <a:off x="7620000" y="2794000"/>
            <a:ext cx="12700" cy="2794000"/>
          </a:xfrm>
          <a:prstGeom prst="rect">
            <a:avLst/>
          </a:prstGeom>
          <a:solidFill>
            <a:srgbClr val="B0BEC5"/>
          </a:solidFill>
          <a:ln/>
        </p:spPr>
        <p:txBody>
          <a:bodyPr/>
          <a:lstStyle/>
          <a:p>
            <a:endParaRPr lang="en-IN"/>
          </a:p>
        </p:txBody>
      </p:sp>
      <p:sp>
        <p:nvSpPr>
          <p:cNvPr id="7" name="Text 5"/>
          <p:cNvSpPr/>
          <p:nvPr/>
        </p:nvSpPr>
        <p:spPr>
          <a:xfrm>
            <a:off x="8128000" y="2921000"/>
            <a:ext cx="7112000" cy="304800"/>
          </a:xfrm>
          <a:prstGeom prst="rect">
            <a:avLst/>
          </a:prstGeom>
          <a:noFill/>
          <a:ln/>
        </p:spPr>
        <p:txBody>
          <a:bodyPr wrap="none" lIns="0" tIns="0" rIns="0" bIns="0" rtlCol="0" anchor="ctr"/>
          <a:lstStyle/>
          <a:p>
            <a:pPr>
              <a:lnSpc>
                <a:spcPct val="100000"/>
              </a:lnSpc>
            </a:pPr>
            <a:r>
              <a:rPr lang="en-US" sz="1400" kern="0" spc="400" dirty="0">
                <a:solidFill>
                  <a:srgbClr val="C58940"/>
                </a:solidFill>
                <a:latin typeface="Quattrocento Sans" pitchFamily="34" charset="0"/>
                <a:ea typeface="Quattrocento Sans" pitchFamily="34" charset="-122"/>
                <a:cs typeface="Quattrocento Sans" pitchFamily="34" charset="-120"/>
              </a:rPr>
              <a:t>CHAPTER TWO</a:t>
            </a:r>
            <a:endParaRPr lang="en-US" sz="16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nSpc>
                <a:spcPct val="100000"/>
              </a:lnSpc>
            </a:pPr>
            <a:r>
              <a:rPr lang="en-US" sz="3600" b="1" dirty="0">
                <a:solidFill>
                  <a:srgbClr val="0B3C3D"/>
                </a:solidFill>
                <a:latin typeface="Quattrocento Sans" pitchFamily="34" charset="0"/>
                <a:ea typeface="Quattrocento Sans" pitchFamily="34" charset="-122"/>
                <a:cs typeface="Quattrocento Sans" pitchFamily="34" charset="-120"/>
              </a:rPr>
              <a:t>Business Analytics</a:t>
            </a:r>
            <a:endParaRPr lang="en-US" sz="1600" dirty="0"/>
          </a:p>
        </p:txBody>
      </p:sp>
      <p:sp>
        <p:nvSpPr>
          <p:cNvPr id="9" name="Text 7"/>
          <p:cNvSpPr/>
          <p:nvPr/>
        </p:nvSpPr>
        <p:spPr>
          <a:xfrm>
            <a:off x="8128000" y="4419600"/>
            <a:ext cx="7366000" cy="355600"/>
          </a:xfrm>
          <a:prstGeom prst="rect">
            <a:avLst/>
          </a:prstGeom>
          <a:noFill/>
          <a:ln/>
        </p:spPr>
        <p:txBody>
          <a:bodyPr wrap="none" lIns="0" tIns="0" rIns="0" bIns="0" rtlCol="0" anchor="ctr"/>
          <a:lstStyle/>
          <a:p>
            <a:pPr>
              <a:lnSpc>
                <a:spcPct val="100000"/>
              </a:lnSpc>
            </a:pPr>
            <a:r>
              <a:rPr lang="en-US" sz="1600" dirty="0">
                <a:solidFill>
                  <a:srgbClr val="8A8A8A"/>
                </a:solidFill>
                <a:latin typeface="Quattrocento Sans" pitchFamily="34" charset="0"/>
                <a:ea typeface="Quattrocento Sans" pitchFamily="34" charset="-122"/>
                <a:cs typeface="Quattrocento Sans" pitchFamily="34" charset="-120"/>
              </a:rPr>
              <a:t>Revenue trends, customer behavior, product performance</a:t>
            </a:r>
            <a:endParaRPr lang="en-US" sz="1600" dirty="0"/>
          </a:p>
        </p:txBody>
      </p:sp>
      <p:sp>
        <p:nvSpPr>
          <p:cNvPr id="10" name="Shape 8"/>
          <p:cNvSpPr/>
          <p:nvPr/>
        </p:nvSpPr>
        <p:spPr>
          <a:xfrm>
            <a:off x="8128000" y="5029200"/>
            <a:ext cx="2540000" cy="25400"/>
          </a:xfrm>
          <a:prstGeom prst="rect">
            <a:avLst/>
          </a:prstGeom>
          <a:solidFill>
            <a:srgbClr val="C58940"/>
          </a:solidFill>
          <a:ln/>
        </p:spPr>
        <p:txBody>
          <a:bodyPr/>
          <a:lstStyle/>
          <a:p>
            <a:endParaRPr lang="en-IN"/>
          </a:p>
        </p:txBody>
      </p:sp>
      <p:sp>
        <p:nvSpPr>
          <p:cNvPr id="11" name="Text 9"/>
          <p:cNvSpPr/>
          <p:nvPr/>
        </p:nvSpPr>
        <p:spPr>
          <a:xfrm>
            <a:off x="8128000" y="5283200"/>
            <a:ext cx="7366000" cy="355600"/>
          </a:xfrm>
          <a:prstGeom prst="rect">
            <a:avLst/>
          </a:prstGeom>
          <a:noFill/>
          <a:ln/>
        </p:spPr>
        <p:txBody>
          <a:bodyPr wrap="none" lIns="0" tIns="0" rIns="0" bIns="0" rtlCol="0" anchor="ctr"/>
          <a:lstStyle/>
          <a:p>
            <a:pPr>
              <a:lnSpc>
                <a:spcPct val="100000"/>
              </a:lnSpc>
            </a:pPr>
            <a:r>
              <a:rPr lang="en-US" sz="1500" dirty="0">
                <a:solidFill>
                  <a:srgbClr val="2D2D2D"/>
                </a:solidFill>
                <a:latin typeface="Quattrocento Sans" pitchFamily="34" charset="0"/>
                <a:ea typeface="Quattrocento Sans" pitchFamily="34" charset="-122"/>
                <a:cs typeface="Quattrocento Sans" pitchFamily="34" charset="-120"/>
              </a:rPr>
              <a:t>2.1 Revenue &amp; Customer Trends</a:t>
            </a:r>
            <a:endParaRPr lang="en-US" sz="1600" dirty="0"/>
          </a:p>
        </p:txBody>
      </p:sp>
      <p:sp>
        <p:nvSpPr>
          <p:cNvPr id="12" name="Text 10"/>
          <p:cNvSpPr/>
          <p:nvPr/>
        </p:nvSpPr>
        <p:spPr>
          <a:xfrm>
            <a:off x="8128000" y="5740400"/>
            <a:ext cx="7366000" cy="355600"/>
          </a:xfrm>
          <a:prstGeom prst="rect">
            <a:avLst/>
          </a:prstGeom>
          <a:noFill/>
          <a:ln/>
        </p:spPr>
        <p:txBody>
          <a:bodyPr wrap="none" lIns="0" tIns="0" rIns="0" bIns="0" rtlCol="0" anchor="ctr"/>
          <a:lstStyle/>
          <a:p>
            <a:pPr>
              <a:lnSpc>
                <a:spcPct val="100000"/>
              </a:lnSpc>
            </a:pPr>
            <a:r>
              <a:rPr lang="en-US" sz="1500" dirty="0">
                <a:solidFill>
                  <a:srgbClr val="2D2D2D"/>
                </a:solidFill>
                <a:latin typeface="Quattrocento Sans" pitchFamily="34" charset="0"/>
                <a:ea typeface="Quattrocento Sans" pitchFamily="34" charset="-122"/>
                <a:cs typeface="Quattrocento Sans" pitchFamily="34" charset="-120"/>
              </a:rPr>
              <a:t>2.2 Product &amp; Operational Insights</a:t>
            </a:r>
            <a:endParaRPr lang="en-US" sz="1600" dirty="0"/>
          </a:p>
        </p:txBody>
      </p:sp>
      <p:sp>
        <p:nvSpPr>
          <p:cNvPr id="13" name="Text 11"/>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0B3C3D"/>
                </a:solidFill>
                <a:latin typeface="Quattrocento Sans" pitchFamily="34" charset="0"/>
                <a:ea typeface="Quattrocento Sans" pitchFamily="34" charset="-122"/>
                <a:cs typeface="Quattrocento Sans" pitchFamily="34" charset="-120"/>
              </a:rPr>
              <a:t>6</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Revenue &amp; Customer Trends</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07</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Revenue consistently peaks during Q4 periods with new customers driving platform growth</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1501208017"/>
              </p:ext>
            </p:extLst>
          </p:nvPr>
        </p:nvGraphicFramePr>
        <p:xfrm>
          <a:off x="2540000" y="1523999"/>
          <a:ext cx="8382000" cy="488915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p:cNvGraphicFramePr/>
          <p:nvPr>
            <p:extLst>
              <p:ext uri="{D42A27DB-BD31-4B8C-83A1-F6EECF244321}">
                <p14:modId xmlns:p14="http://schemas.microsoft.com/office/powerpoint/2010/main" val="3767815873"/>
              </p:ext>
            </p:extLst>
          </p:nvPr>
        </p:nvGraphicFramePr>
        <p:xfrm>
          <a:off x="11176000" y="1523999"/>
          <a:ext cx="4572000" cy="4889158"/>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4"/>
          <p:cNvSpPr/>
          <p:nvPr/>
        </p:nvSpPr>
        <p:spPr>
          <a:xfrm>
            <a:off x="2540000" y="6711097"/>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KEY INSIGHTS</a:t>
            </a:r>
            <a:endParaRPr lang="en-US" sz="1600" dirty="0"/>
          </a:p>
        </p:txBody>
      </p:sp>
      <p:sp>
        <p:nvSpPr>
          <p:cNvPr id="19" name="Text 15"/>
          <p:cNvSpPr/>
          <p:nvPr/>
        </p:nvSpPr>
        <p:spPr>
          <a:xfrm>
            <a:off x="2540000" y="7041297"/>
            <a:ext cx="8382000" cy="1524000"/>
          </a:xfrm>
          <a:prstGeom prst="rect">
            <a:avLst/>
          </a:prstGeom>
          <a:noFill/>
          <a:ln/>
        </p:spPr>
        <p:txBody>
          <a:bodyPr wrap="square" lIns="0" tIns="0" rIns="0" bIns="0" rtlCol="0" anchor="ctr"/>
          <a:lstStyle/>
          <a:p>
            <a:pPr>
              <a:lnSpc>
                <a:spcPct val="150000"/>
              </a:lnSpc>
            </a:pPr>
            <a:r>
              <a:rPr lang="en-US" sz="1400" b="1" dirty="0">
                <a:solidFill>
                  <a:srgbClr val="2D2D2D"/>
                </a:solidFill>
                <a:latin typeface="Aptos" panose="020B0004020202020204" pitchFamily="34" charset="0"/>
                <a:ea typeface="QuattrocentoSans" pitchFamily="34" charset="-122"/>
                <a:cs typeface="QuattrocentoSans" pitchFamily="34" charset="-120"/>
              </a:rPr>
              <a:t>Sales Trend:</a:t>
            </a:r>
            <a:r>
              <a:rPr lang="en-US" sz="1400" dirty="0">
                <a:solidFill>
                  <a:srgbClr val="2D2D2D"/>
                </a:solidFill>
                <a:latin typeface="Aptos" panose="020B0004020202020204" pitchFamily="34" charset="0"/>
                <a:ea typeface="QuattrocentoSans" pitchFamily="34" charset="-122"/>
                <a:cs typeface="QuattrocentoSans" pitchFamily="34" charset="-120"/>
              </a:rPr>
              <a:t> Revenue consistently peaks during Q4 periods, indicating recurring high-demand sales cycles.</a:t>
            </a:r>
            <a:endParaRPr lang="en-US" sz="1600" dirty="0"/>
          </a:p>
          <a:p>
            <a:pPr>
              <a:lnSpc>
                <a:spcPct val="150000"/>
              </a:lnSpc>
              <a:spcBef>
                <a:spcPts val="400"/>
              </a:spcBef>
            </a:pPr>
            <a:r>
              <a:rPr lang="en-US" sz="1400" b="1" dirty="0">
                <a:solidFill>
                  <a:srgbClr val="2D2D2D"/>
                </a:solidFill>
                <a:latin typeface="Aptos" panose="020B0004020202020204" pitchFamily="34" charset="0"/>
                <a:ea typeface="QuattrocentoSans" pitchFamily="34" charset="-122"/>
                <a:cs typeface="QuattrocentoSans" pitchFamily="34" charset="-120"/>
              </a:rPr>
              <a:t>Customer Distribution:</a:t>
            </a:r>
            <a:r>
              <a:rPr lang="en-US" sz="1400" dirty="0">
                <a:solidFill>
                  <a:srgbClr val="2D2D2D"/>
                </a:solidFill>
                <a:latin typeface="Aptos" panose="020B0004020202020204" pitchFamily="34" charset="0"/>
                <a:ea typeface="QuattrocentoSans" pitchFamily="34" charset="-122"/>
                <a:cs typeface="QuattrocentoSans" pitchFamily="34" charset="-120"/>
              </a:rPr>
              <a:t> New customers represent the largest segment, while returning and loyal customers contribute stable recurring activity.</a:t>
            </a:r>
            <a:endParaRPr lang="en-US" sz="1600" dirty="0"/>
          </a:p>
          <a:p>
            <a:pPr>
              <a:lnSpc>
                <a:spcPct val="150000"/>
              </a:lnSpc>
              <a:spcBef>
                <a:spcPts val="400"/>
              </a:spcBef>
            </a:pPr>
            <a:r>
              <a:rPr lang="en-US" sz="1400" b="1" dirty="0">
                <a:solidFill>
                  <a:srgbClr val="2D2D2D"/>
                </a:solidFill>
                <a:latin typeface="Aptos" panose="020B0004020202020204" pitchFamily="34" charset="0"/>
                <a:ea typeface="QuattrocentoSans" pitchFamily="34" charset="-122"/>
                <a:cs typeface="QuattrocentoSans" pitchFamily="34" charset="-120"/>
              </a:rPr>
              <a:t>Growth Trajectory:</a:t>
            </a:r>
            <a:r>
              <a:rPr lang="en-US" sz="1400" dirty="0">
                <a:solidFill>
                  <a:srgbClr val="2D2D2D"/>
                </a:solidFill>
                <a:latin typeface="Aptos" panose="020B0004020202020204" pitchFamily="34" charset="0"/>
                <a:ea typeface="QuattrocentoSans" pitchFamily="34" charset="-122"/>
                <a:cs typeface="QuattrocentoSans" pitchFamily="34" charset="-120"/>
              </a:rPr>
              <a:t> Revenue baseline rising from 42M (2021) to 55-70M (2025) shows platform expansion</a:t>
            </a:r>
            <a:endParaRPr lang="en-US" sz="1600" dirty="0"/>
          </a:p>
        </p:txBody>
      </p:sp>
      <p:sp>
        <p:nvSpPr>
          <p:cNvPr id="20" name="Text 16"/>
          <p:cNvSpPr/>
          <p:nvPr/>
        </p:nvSpPr>
        <p:spPr>
          <a:xfrm>
            <a:off x="11176000" y="6785239"/>
            <a:ext cx="4572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SEGMENT BREAKDOWN</a:t>
            </a:r>
            <a:endParaRPr lang="en-US" sz="1600" dirty="0"/>
          </a:p>
        </p:txBody>
      </p:sp>
      <p:sp>
        <p:nvSpPr>
          <p:cNvPr id="21" name="Text 17"/>
          <p:cNvSpPr/>
          <p:nvPr/>
        </p:nvSpPr>
        <p:spPr>
          <a:xfrm>
            <a:off x="11176000" y="7115439"/>
            <a:ext cx="1524000" cy="457200"/>
          </a:xfrm>
          <a:prstGeom prst="rect">
            <a:avLst/>
          </a:prstGeom>
          <a:noFill/>
          <a:ln/>
        </p:spPr>
        <p:txBody>
          <a:bodyPr wrap="none" lIns="0" tIns="0" rIns="0" bIns="0" rtlCol="0" anchor="ctr"/>
          <a:lstStyle/>
          <a:p>
            <a:pPr algn="ctr">
              <a:lnSpc>
                <a:spcPct val="100000"/>
              </a:lnSpc>
            </a:pPr>
            <a:r>
              <a:rPr lang="en-US" sz="2400" b="1" dirty="0">
                <a:solidFill>
                  <a:srgbClr val="0B3C3D"/>
                </a:solidFill>
                <a:latin typeface="Quattrocento Sans" pitchFamily="34" charset="0"/>
                <a:ea typeface="Quattrocento Sans" pitchFamily="34" charset="-122"/>
                <a:cs typeface="Quattrocento Sans" pitchFamily="34" charset="-120"/>
              </a:rPr>
              <a:t>26,000</a:t>
            </a:r>
            <a:endParaRPr lang="en-US" sz="1600" dirty="0"/>
          </a:p>
        </p:txBody>
      </p:sp>
      <p:sp>
        <p:nvSpPr>
          <p:cNvPr id="22" name="Text 18"/>
          <p:cNvSpPr/>
          <p:nvPr/>
        </p:nvSpPr>
        <p:spPr>
          <a:xfrm>
            <a:off x="11176000" y="7572639"/>
            <a:ext cx="1524000" cy="254000"/>
          </a:xfrm>
          <a:prstGeom prst="rect">
            <a:avLst/>
          </a:prstGeom>
          <a:noFill/>
          <a:ln/>
        </p:spPr>
        <p:txBody>
          <a:bodyPr wrap="none" lIns="0" tIns="0" rIns="0" bIns="0" rtlCol="0" anchor="ctr"/>
          <a:lstStyle/>
          <a:p>
            <a:pPr algn="ctr">
              <a:lnSpc>
                <a:spcPct val="100000"/>
              </a:lnSpc>
            </a:pPr>
            <a:r>
              <a:rPr lang="en-US" sz="1200" dirty="0">
                <a:solidFill>
                  <a:srgbClr val="8A8A8A"/>
                </a:solidFill>
                <a:latin typeface="Quattrocento Sans" pitchFamily="34" charset="0"/>
                <a:ea typeface="Quattrocento Sans" pitchFamily="34" charset="-122"/>
                <a:cs typeface="Quattrocento Sans" pitchFamily="34" charset="-120"/>
              </a:rPr>
              <a:t>50.14%</a:t>
            </a:r>
            <a:endParaRPr lang="en-US" sz="1600" dirty="0"/>
          </a:p>
        </p:txBody>
      </p:sp>
      <p:sp>
        <p:nvSpPr>
          <p:cNvPr id="23" name="Text 19"/>
          <p:cNvSpPr/>
          <p:nvPr/>
        </p:nvSpPr>
        <p:spPr>
          <a:xfrm>
            <a:off x="12700000" y="7115439"/>
            <a:ext cx="1524000" cy="457200"/>
          </a:xfrm>
          <a:prstGeom prst="rect">
            <a:avLst/>
          </a:prstGeom>
          <a:noFill/>
          <a:ln/>
        </p:spPr>
        <p:txBody>
          <a:bodyPr wrap="none" lIns="0" tIns="0" rIns="0" bIns="0" rtlCol="0" anchor="ctr"/>
          <a:lstStyle/>
          <a:p>
            <a:pPr algn="ctr">
              <a:lnSpc>
                <a:spcPct val="100000"/>
              </a:lnSpc>
            </a:pPr>
            <a:r>
              <a:rPr lang="en-US" sz="2400" b="1" dirty="0">
                <a:solidFill>
                  <a:srgbClr val="0B3C3D"/>
                </a:solidFill>
                <a:latin typeface="Quattrocento Sans" pitchFamily="34" charset="0"/>
                <a:ea typeface="Quattrocento Sans" pitchFamily="34" charset="-122"/>
                <a:cs typeface="Quattrocento Sans" pitchFamily="34" charset="-120"/>
              </a:rPr>
              <a:t>18,000</a:t>
            </a:r>
            <a:endParaRPr lang="en-US" sz="1600" dirty="0"/>
          </a:p>
        </p:txBody>
      </p:sp>
      <p:sp>
        <p:nvSpPr>
          <p:cNvPr id="24" name="Text 20"/>
          <p:cNvSpPr/>
          <p:nvPr/>
        </p:nvSpPr>
        <p:spPr>
          <a:xfrm>
            <a:off x="12700000" y="7572639"/>
            <a:ext cx="1524000" cy="254000"/>
          </a:xfrm>
          <a:prstGeom prst="rect">
            <a:avLst/>
          </a:prstGeom>
          <a:noFill/>
          <a:ln/>
        </p:spPr>
        <p:txBody>
          <a:bodyPr wrap="none" lIns="0" tIns="0" rIns="0" bIns="0" rtlCol="0" anchor="ctr"/>
          <a:lstStyle/>
          <a:p>
            <a:pPr algn="ctr">
              <a:lnSpc>
                <a:spcPct val="100000"/>
              </a:lnSpc>
            </a:pPr>
            <a:r>
              <a:rPr lang="en-US" sz="1200" dirty="0">
                <a:solidFill>
                  <a:srgbClr val="8A8A8A"/>
                </a:solidFill>
                <a:latin typeface="Quattrocento Sans" pitchFamily="34" charset="0"/>
                <a:ea typeface="Quattrocento Sans" pitchFamily="34" charset="-122"/>
                <a:cs typeface="Quattrocento Sans" pitchFamily="34" charset="-120"/>
              </a:rPr>
              <a:t>35.15%</a:t>
            </a:r>
            <a:endParaRPr lang="en-US" sz="1600" dirty="0"/>
          </a:p>
        </p:txBody>
      </p:sp>
      <p:sp>
        <p:nvSpPr>
          <p:cNvPr id="25" name="Text 21"/>
          <p:cNvSpPr/>
          <p:nvPr/>
        </p:nvSpPr>
        <p:spPr>
          <a:xfrm>
            <a:off x="14224000" y="7115439"/>
            <a:ext cx="1524000" cy="457200"/>
          </a:xfrm>
          <a:prstGeom prst="rect">
            <a:avLst/>
          </a:prstGeom>
          <a:noFill/>
          <a:ln/>
        </p:spPr>
        <p:txBody>
          <a:bodyPr wrap="none" lIns="0" tIns="0" rIns="0" bIns="0" rtlCol="0" anchor="ctr"/>
          <a:lstStyle/>
          <a:p>
            <a:pPr algn="ctr">
              <a:lnSpc>
                <a:spcPct val="100000"/>
              </a:lnSpc>
            </a:pPr>
            <a:r>
              <a:rPr lang="en-US" sz="2400" b="1" dirty="0">
                <a:solidFill>
                  <a:srgbClr val="C58940"/>
                </a:solidFill>
                <a:latin typeface="Quattrocento Sans" pitchFamily="34" charset="0"/>
                <a:ea typeface="Quattrocento Sans" pitchFamily="34" charset="-122"/>
                <a:cs typeface="Quattrocento Sans" pitchFamily="34" charset="-120"/>
              </a:rPr>
              <a:t>8,000</a:t>
            </a:r>
            <a:endParaRPr lang="en-US" sz="1600" dirty="0"/>
          </a:p>
        </p:txBody>
      </p:sp>
      <p:sp>
        <p:nvSpPr>
          <p:cNvPr id="26" name="Text 22"/>
          <p:cNvSpPr/>
          <p:nvPr/>
        </p:nvSpPr>
        <p:spPr>
          <a:xfrm>
            <a:off x="14224000" y="7572639"/>
            <a:ext cx="1524000" cy="254000"/>
          </a:xfrm>
          <a:prstGeom prst="rect">
            <a:avLst/>
          </a:prstGeom>
          <a:noFill/>
          <a:ln/>
        </p:spPr>
        <p:txBody>
          <a:bodyPr wrap="none" lIns="0" tIns="0" rIns="0" bIns="0" rtlCol="0" anchor="ctr"/>
          <a:lstStyle/>
          <a:p>
            <a:pPr algn="ctr">
              <a:lnSpc>
                <a:spcPct val="100000"/>
              </a:lnSpc>
            </a:pPr>
            <a:r>
              <a:rPr lang="en-US" sz="1200" dirty="0">
                <a:solidFill>
                  <a:srgbClr val="8A8A8A"/>
                </a:solidFill>
                <a:latin typeface="Quattrocento Sans" pitchFamily="34" charset="0"/>
                <a:ea typeface="Quattrocento Sans" pitchFamily="34" charset="-122"/>
                <a:cs typeface="Quattrocento Sans" pitchFamily="34" charset="-120"/>
              </a:rPr>
              <a:t>14.71%</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Repeat Purchase Behavior</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08</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Repeat purchase activity is concentrated in the early customer lifecycle</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4083730901"/>
              </p:ext>
            </p:extLst>
          </p:nvPr>
        </p:nvGraphicFramePr>
        <p:xfrm>
          <a:off x="2540000" y="1523999"/>
          <a:ext cx="6350000" cy="430838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p:cNvGraphicFramePr/>
          <p:nvPr>
            <p:extLst>
              <p:ext uri="{D42A27DB-BD31-4B8C-83A1-F6EECF244321}">
                <p14:modId xmlns:p14="http://schemas.microsoft.com/office/powerpoint/2010/main" val="2590962724"/>
              </p:ext>
            </p:extLst>
          </p:nvPr>
        </p:nvGraphicFramePr>
        <p:xfrm>
          <a:off x="9144000" y="1524000"/>
          <a:ext cx="6604000" cy="4308388"/>
        </p:xfrm>
        <a:graphic>
          <a:graphicData uri="http://schemas.openxmlformats.org/drawingml/2006/chart">
            <c:chart xmlns:c="http://schemas.openxmlformats.org/drawingml/2006/chart" xmlns:r="http://schemas.openxmlformats.org/officeDocument/2006/relationships" r:id="rId4"/>
          </a:graphicData>
        </a:graphic>
      </p:graphicFrame>
      <p:sp>
        <p:nvSpPr>
          <p:cNvPr id="18" name="Shape 14"/>
          <p:cNvSpPr/>
          <p:nvPr/>
        </p:nvSpPr>
        <p:spPr>
          <a:xfrm>
            <a:off x="5758931" y="6250472"/>
            <a:ext cx="6604000" cy="1270000"/>
          </a:xfrm>
          <a:prstGeom prst="rect">
            <a:avLst/>
          </a:prstGeom>
          <a:solidFill>
            <a:srgbClr val="D4E5E5"/>
          </a:solidFill>
          <a:ln/>
        </p:spPr>
        <p:txBody>
          <a:bodyPr/>
          <a:lstStyle/>
          <a:p>
            <a:endParaRPr lang="en-IN"/>
          </a:p>
        </p:txBody>
      </p:sp>
      <p:sp>
        <p:nvSpPr>
          <p:cNvPr id="21" name="Text 17"/>
          <p:cNvSpPr/>
          <p:nvPr/>
        </p:nvSpPr>
        <p:spPr>
          <a:xfrm>
            <a:off x="6012931" y="6326672"/>
            <a:ext cx="3810000" cy="254000"/>
          </a:xfrm>
          <a:prstGeom prst="rect">
            <a:avLst/>
          </a:prstGeom>
          <a:noFill/>
          <a:ln/>
        </p:spPr>
        <p:txBody>
          <a:bodyPr wrap="none" lIns="0" tIns="0" rIns="0" bIns="0" rtlCol="0" anchor="ctr"/>
          <a:lstStyle/>
          <a:p>
            <a:pPr>
              <a:lnSpc>
                <a:spcPct val="100000"/>
              </a:lnSpc>
            </a:pPr>
            <a:r>
              <a:rPr lang="en-US" sz="1300" kern="0" spc="200" dirty="0">
                <a:solidFill>
                  <a:srgbClr val="C58940"/>
                </a:solidFill>
                <a:latin typeface="Quattrocento Sans" pitchFamily="34" charset="0"/>
                <a:ea typeface="Quattrocento Sans" pitchFamily="34" charset="-122"/>
                <a:cs typeface="Quattrocento Sans" pitchFamily="34" charset="-120"/>
              </a:rPr>
              <a:t>PROBABILITY</a:t>
            </a:r>
            <a:endParaRPr lang="en-US" sz="1600" dirty="0"/>
          </a:p>
        </p:txBody>
      </p:sp>
      <p:sp>
        <p:nvSpPr>
          <p:cNvPr id="22" name="Text 18"/>
          <p:cNvSpPr/>
          <p:nvPr/>
        </p:nvSpPr>
        <p:spPr>
          <a:xfrm>
            <a:off x="6012931" y="6631472"/>
            <a:ext cx="6350000" cy="762000"/>
          </a:xfrm>
          <a:prstGeom prst="rect">
            <a:avLst/>
          </a:prstGeom>
          <a:noFill/>
          <a:ln/>
        </p:spPr>
        <p:txBody>
          <a:bodyPr wrap="square" lIns="0" tIns="0" rIns="0" bIns="0" rtlCol="0" anchor="ctr"/>
          <a:lstStyle/>
          <a:p>
            <a:pPr>
              <a:lnSpc>
                <a:spcPct val="150000"/>
              </a:lnSpc>
            </a:pPr>
            <a:r>
              <a:rPr lang="en-US" sz="1400" b="1" dirty="0">
                <a:solidFill>
                  <a:srgbClr val="2D2D2D"/>
                </a:solidFill>
                <a:latin typeface="Quattrocento Sans" pitchFamily="34" charset="0"/>
                <a:ea typeface="Quattrocento Sans" pitchFamily="34" charset="-122"/>
                <a:cs typeface="Quattrocento Sans" pitchFamily="34" charset="-120"/>
              </a:rPr>
              <a:t>P(Repeat Purchase) = 0.504</a:t>
            </a:r>
            <a:endParaRPr lang="en-US" sz="1600" dirty="0"/>
          </a:p>
          <a:p>
            <a:pPr>
              <a:lnSpc>
                <a:spcPct val="150000"/>
              </a:lnSpc>
            </a:pPr>
            <a:r>
              <a:rPr lang="en-US" sz="1400" dirty="0">
                <a:solidFill>
                  <a:srgbClr val="2D2D2D"/>
                </a:solidFill>
                <a:latin typeface="Quattrocento Sans" pitchFamily="34" charset="0"/>
                <a:ea typeface="Quattrocento Sans" pitchFamily="34" charset="-122"/>
                <a:cs typeface="Quattrocento Sans" pitchFamily="34" charset="-120"/>
              </a:rPr>
              <a:t>Nearly half of customers return for repeat purchases</a:t>
            </a:r>
            <a:endParaRPr lang="en-US" sz="1600" dirty="0"/>
          </a:p>
        </p:txBody>
      </p:sp>
      <p:sp>
        <p:nvSpPr>
          <p:cNvPr id="23" name="Text 19"/>
          <p:cNvSpPr/>
          <p:nvPr/>
        </p:nvSpPr>
        <p:spPr>
          <a:xfrm>
            <a:off x="2540000" y="7707189"/>
            <a:ext cx="13208000" cy="762000"/>
          </a:xfrm>
          <a:prstGeom prst="rect">
            <a:avLst/>
          </a:prstGeom>
          <a:noFill/>
          <a:ln/>
        </p:spPr>
        <p:txBody>
          <a:bodyPr wrap="square" lIns="0" tIns="0" rIns="0" bIns="0" rtlCol="0" anchor="ctr"/>
          <a:lstStyle/>
          <a:p>
            <a:pPr>
              <a:lnSpc>
                <a:spcPct val="150000"/>
              </a:lnSpc>
            </a:pPr>
            <a:r>
              <a:rPr lang="en-US" sz="1400" b="1" dirty="0">
                <a:solidFill>
                  <a:srgbClr val="2D2D2D"/>
                </a:solidFill>
                <a:latin typeface="Aptos" panose="020B0004020202020204" pitchFamily="34" charset="0"/>
                <a:ea typeface="QuattrocentoSans" pitchFamily="34" charset="-122"/>
                <a:cs typeface="QuattrocentoSans" pitchFamily="34" charset="-120"/>
              </a:rPr>
              <a:t>Key Takeaway:</a:t>
            </a:r>
            <a:r>
              <a:rPr lang="en-US" sz="1400" dirty="0">
                <a:solidFill>
                  <a:srgbClr val="2D2D2D"/>
                </a:solidFill>
                <a:latin typeface="Aptos" panose="020B0004020202020204" pitchFamily="34" charset="0"/>
                <a:ea typeface="QuattrocentoSans" pitchFamily="34" charset="-122"/>
                <a:cs typeface="QuattrocentoSans" pitchFamily="34" charset="-120"/>
              </a:rPr>
              <a:t> The highest repeat purchase concentration occurs within the first 7 days. Home, sports, and health-related categories drive repeat ordering behavior, highlighting the importance of early customer retention.</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First-Time Customer Acquisition</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09</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Home, lifestyle and wellness categories drive highest first-time acquisition</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381280094"/>
              </p:ext>
            </p:extLst>
          </p:nvPr>
        </p:nvGraphicFramePr>
        <p:xfrm>
          <a:off x="2540000" y="1524000"/>
          <a:ext cx="6350000" cy="45431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p:cNvGraphicFramePr/>
          <p:nvPr>
            <p:extLst>
              <p:ext uri="{D42A27DB-BD31-4B8C-83A1-F6EECF244321}">
                <p14:modId xmlns:p14="http://schemas.microsoft.com/office/powerpoint/2010/main" val="2483089678"/>
              </p:ext>
            </p:extLst>
          </p:nvPr>
        </p:nvGraphicFramePr>
        <p:xfrm>
          <a:off x="9144000" y="1524000"/>
          <a:ext cx="6604000" cy="4543168"/>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4"/>
          <p:cNvSpPr/>
          <p:nvPr/>
        </p:nvSpPr>
        <p:spPr>
          <a:xfrm>
            <a:off x="2540000" y="6677452"/>
            <a:ext cx="6350000" cy="1778000"/>
          </a:xfrm>
          <a:prstGeom prst="rect">
            <a:avLst/>
          </a:prstGeom>
          <a:noFill/>
          <a:ln/>
        </p:spPr>
        <p:txBody>
          <a:bodyPr wrap="square" lIns="0" tIns="0" rIns="0" bIns="0" rtlCol="0" anchor="t" anchorCtr="0"/>
          <a:lstStyle/>
          <a:p>
            <a:pPr>
              <a:lnSpc>
                <a:spcPct val="150000"/>
              </a:lnSpc>
            </a:pPr>
            <a:r>
              <a:rPr lang="en-US" sz="1400" b="1" dirty="0">
                <a:solidFill>
                  <a:srgbClr val="2D2D2D"/>
                </a:solidFill>
                <a:latin typeface="Aptos" panose="020B0004020202020204" pitchFamily="34" charset="0"/>
                <a:ea typeface="QuattrocentoSans" pitchFamily="34" charset="-122"/>
                <a:cs typeface="QuattrocentoSans" pitchFamily="34" charset="-120"/>
              </a:rPr>
              <a:t>Top 3 categories — </a:t>
            </a:r>
            <a:r>
              <a:rPr lang="en-US" sz="1400" dirty="0">
                <a:solidFill>
                  <a:srgbClr val="2D2D2D"/>
                </a:solidFill>
                <a:latin typeface="Aptos" panose="020B0004020202020204" pitchFamily="34" charset="0"/>
                <a:ea typeface="QuattrocentoSans" pitchFamily="34" charset="-122"/>
                <a:cs typeface="QuattrocentoSans" pitchFamily="34" charset="-120"/>
              </a:rPr>
              <a:t>Bed Bath Table (7.2K), Sports Leisure (6.8K), and Health Beauty (5.7K) — represent the highest concentration of first-time customer acquisitions.</a:t>
            </a:r>
          </a:p>
          <a:p>
            <a:pPr>
              <a:lnSpc>
                <a:spcPct val="150000"/>
              </a:lnSpc>
              <a:spcBef>
                <a:spcPts val="400"/>
              </a:spcBef>
            </a:pPr>
            <a:r>
              <a:rPr lang="en-US" sz="1400" b="1" dirty="0">
                <a:solidFill>
                  <a:srgbClr val="2D2D2D"/>
                </a:solidFill>
                <a:latin typeface="Aptos" panose="020B0004020202020204" pitchFamily="34" charset="0"/>
                <a:ea typeface="QuattrocentoSans" pitchFamily="34" charset="-122"/>
                <a:cs typeface="QuattrocentoSans" pitchFamily="34" charset="-120"/>
              </a:rPr>
              <a:t>Lifestyle and home-focused </a:t>
            </a:r>
            <a:r>
              <a:rPr lang="en-US" sz="1400" dirty="0">
                <a:solidFill>
                  <a:srgbClr val="2D2D2D"/>
                </a:solidFill>
                <a:latin typeface="Aptos" panose="020B0004020202020204" pitchFamily="34" charset="0"/>
                <a:ea typeface="QuattrocentoSans" pitchFamily="34" charset="-122"/>
                <a:cs typeface="QuattrocentoSans" pitchFamily="34" charset="-120"/>
              </a:rPr>
              <a:t>product categories are the primary customer onboarding channels.</a:t>
            </a:r>
          </a:p>
        </p:txBody>
      </p:sp>
      <p:sp>
        <p:nvSpPr>
          <p:cNvPr id="19" name="Text 15"/>
          <p:cNvSpPr/>
          <p:nvPr/>
        </p:nvSpPr>
        <p:spPr>
          <a:xfrm>
            <a:off x="9144000" y="6677452"/>
            <a:ext cx="6604000" cy="1778000"/>
          </a:xfrm>
          <a:prstGeom prst="rect">
            <a:avLst/>
          </a:prstGeom>
          <a:noFill/>
          <a:ln/>
        </p:spPr>
        <p:txBody>
          <a:bodyPr wrap="square" lIns="0" tIns="0" rIns="0" bIns="0" rtlCol="0" anchor="t" anchorCtr="0"/>
          <a:lstStyle/>
          <a:p>
            <a:pPr>
              <a:lnSpc>
                <a:spcPct val="150000"/>
              </a:lnSpc>
            </a:pPr>
            <a:r>
              <a:rPr lang="en-US" sz="1400" b="1" dirty="0">
                <a:solidFill>
                  <a:srgbClr val="2D2D2D"/>
                </a:solidFill>
                <a:latin typeface="Aptos" panose="020B0004020202020204" pitchFamily="34" charset="0"/>
                <a:ea typeface="QuattrocentoSans" pitchFamily="34" charset="-122"/>
                <a:cs typeface="QuattrocentoSans" pitchFamily="34" charset="-120"/>
              </a:rPr>
              <a:t>Security &amp; Services and CDs/DVDs</a:t>
            </a:r>
            <a:r>
              <a:rPr lang="en-US" sz="1400" dirty="0">
                <a:solidFill>
                  <a:srgbClr val="2D2D2D"/>
                </a:solidFill>
                <a:latin typeface="Aptos" panose="020B0004020202020204" pitchFamily="34" charset="0"/>
                <a:ea typeface="QuattrocentoSans" pitchFamily="34" charset="-122"/>
                <a:cs typeface="QuattrocentoSans" pitchFamily="34" charset="-120"/>
              </a:rPr>
              <a:t> generate minimal first-purchase engagement, suggesting highly niche or low-engagement product demand.</a:t>
            </a:r>
            <a:endParaRPr lang="en-US" sz="1600" dirty="0"/>
          </a:p>
          <a:p>
            <a:pPr>
              <a:lnSpc>
                <a:spcPct val="150000"/>
              </a:lnSpc>
              <a:spcBef>
                <a:spcPts val="400"/>
              </a:spcBef>
            </a:pPr>
            <a:r>
              <a:rPr lang="en-US" sz="1400" b="1" dirty="0">
                <a:solidFill>
                  <a:srgbClr val="2D2D2D"/>
                </a:solidFill>
                <a:latin typeface="Aptos" panose="020B0004020202020204" pitchFamily="34" charset="0"/>
                <a:ea typeface="QuattrocentoSans" pitchFamily="34" charset="-122"/>
                <a:cs typeface="QuattrocentoSans" pitchFamily="34" charset="-120"/>
              </a:rPr>
              <a:t>Strategic implication:</a:t>
            </a:r>
            <a:r>
              <a:rPr lang="en-US" sz="1400" dirty="0">
                <a:solidFill>
                  <a:srgbClr val="2D2D2D"/>
                </a:solidFill>
                <a:latin typeface="Aptos" panose="020B0004020202020204" pitchFamily="34" charset="0"/>
                <a:ea typeface="QuattrocentoSans" pitchFamily="34" charset="-122"/>
                <a:cs typeface="QuattrocentoSans" pitchFamily="34" charset="-120"/>
              </a:rPr>
              <a:t> Marketing efforts should prioritize high-performing home and lifestyle categories for customer acquisition.</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Revenue vs Profitability</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10</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High revenue does not always translate to high profitability</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3694960426"/>
              </p:ext>
            </p:extLst>
          </p:nvPr>
        </p:nvGraphicFramePr>
        <p:xfrm>
          <a:off x="2540000" y="1524000"/>
          <a:ext cx="6350000" cy="46914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p:cNvGraphicFramePr/>
          <p:nvPr>
            <p:extLst>
              <p:ext uri="{D42A27DB-BD31-4B8C-83A1-F6EECF244321}">
                <p14:modId xmlns:p14="http://schemas.microsoft.com/office/powerpoint/2010/main" val="417835815"/>
              </p:ext>
            </p:extLst>
          </p:nvPr>
        </p:nvGraphicFramePr>
        <p:xfrm>
          <a:off x="9144000" y="1523999"/>
          <a:ext cx="6604000" cy="4691449"/>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4"/>
          <p:cNvSpPr/>
          <p:nvPr/>
        </p:nvSpPr>
        <p:spPr>
          <a:xfrm>
            <a:off x="2540000" y="6508578"/>
            <a:ext cx="13208000" cy="1111422"/>
          </a:xfrm>
          <a:prstGeom prst="rect">
            <a:avLst/>
          </a:prstGeom>
          <a:noFill/>
          <a:ln/>
        </p:spPr>
        <p:txBody>
          <a:bodyPr wrap="square" lIns="0" tIns="0" rIns="0" bIns="0" rtlCol="0" anchor="ctr"/>
          <a:lstStyle/>
          <a:p>
            <a:pPr>
              <a:lnSpc>
                <a:spcPct val="150000"/>
              </a:lnSpc>
            </a:pPr>
            <a:r>
              <a:rPr lang="en-US" sz="1400" b="1" dirty="0">
                <a:solidFill>
                  <a:srgbClr val="2D2D2D"/>
                </a:solidFill>
                <a:latin typeface="Aptos" panose="020B0004020202020204" pitchFamily="34" charset="0"/>
                <a:ea typeface="QuattrocentoSans" pitchFamily="34" charset="-122"/>
                <a:cs typeface="QuattrocentoSans" pitchFamily="34" charset="-120"/>
              </a:rPr>
              <a:t>Revenue leaders:</a:t>
            </a:r>
            <a:r>
              <a:rPr lang="en-US" sz="1400" dirty="0">
                <a:solidFill>
                  <a:srgbClr val="2D2D2D"/>
                </a:solidFill>
                <a:latin typeface="Aptos" panose="020B0004020202020204" pitchFamily="34" charset="0"/>
                <a:ea typeface="QuattrocentoSans" pitchFamily="34" charset="-122"/>
                <a:cs typeface="QuattrocentoSans" pitchFamily="34" charset="-120"/>
              </a:rPr>
              <a:t> Furniture Decor, Bed Bath Table, and Sports Leisure dominate revenue contribution, but not all generate proportionally high profitability.</a:t>
            </a:r>
            <a:endParaRPr lang="en-US" sz="1600" dirty="0"/>
          </a:p>
          <a:p>
            <a:pPr>
              <a:lnSpc>
                <a:spcPct val="150000"/>
              </a:lnSpc>
              <a:spcBef>
                <a:spcPts val="400"/>
              </a:spcBef>
            </a:pPr>
            <a:r>
              <a:rPr lang="en-US" sz="1400" b="1" dirty="0">
                <a:solidFill>
                  <a:srgbClr val="2D2D2D"/>
                </a:solidFill>
                <a:latin typeface="Aptos" panose="020B0004020202020204" pitchFamily="34" charset="0"/>
                <a:ea typeface="QuattrocentoSans" pitchFamily="34" charset="-122"/>
                <a:cs typeface="QuattrocentoSans" pitchFamily="34" charset="-120"/>
              </a:rPr>
              <a:t>Profitability gap:</a:t>
            </a:r>
            <a:r>
              <a:rPr lang="en-US" sz="1400" dirty="0">
                <a:solidFill>
                  <a:srgbClr val="2D2D2D"/>
                </a:solidFill>
                <a:latin typeface="Aptos" panose="020B0004020202020204" pitchFamily="34" charset="0"/>
                <a:ea typeface="QuattrocentoSans" pitchFamily="34" charset="-122"/>
                <a:cs typeface="QuattrocentoSans" pitchFamily="34" charset="-120"/>
              </a:rPr>
              <a:t> Several high-revenue categories contribute comparatively lower profit margins, highlighting profitability improvement opportunities.</a:t>
            </a:r>
            <a:endParaRPr lang="en-US" sz="1600" dirty="0"/>
          </a:p>
          <a:p>
            <a:pPr>
              <a:lnSpc>
                <a:spcPct val="150000"/>
              </a:lnSpc>
              <a:spcBef>
                <a:spcPts val="400"/>
              </a:spcBef>
            </a:pPr>
            <a:r>
              <a:rPr lang="en-US" sz="1400" b="1" dirty="0">
                <a:solidFill>
                  <a:srgbClr val="2D2D2D"/>
                </a:solidFill>
                <a:latin typeface="Aptos" panose="020B0004020202020204" pitchFamily="34" charset="0"/>
                <a:ea typeface="QuattrocentoSans" pitchFamily="34" charset="-122"/>
                <a:cs typeface="QuattrocentoSans" pitchFamily="34" charset="-120"/>
              </a:rPr>
              <a:t>Profit concentration:</a:t>
            </a:r>
            <a:r>
              <a:rPr lang="en-US" sz="1400" dirty="0">
                <a:solidFill>
                  <a:srgbClr val="2D2D2D"/>
                </a:solidFill>
                <a:latin typeface="Aptos" panose="020B0004020202020204" pitchFamily="34" charset="0"/>
                <a:ea typeface="QuattrocentoSans" pitchFamily="34" charset="-122"/>
                <a:cs typeface="QuattrocentoSans" pitchFamily="34" charset="-120"/>
              </a:rPr>
              <a:t> Business profitability remains concentrated within a limited number of product categories despite broader revenue distribution.</a:t>
            </a:r>
            <a:endParaRPr lang="en-US" sz="1600" dirty="0"/>
          </a:p>
        </p:txBody>
      </p:sp>
      <p:sp>
        <p:nvSpPr>
          <p:cNvPr id="19" name="Shape 14">
            <a:extLst>
              <a:ext uri="{FF2B5EF4-FFF2-40B4-BE49-F238E27FC236}">
                <a16:creationId xmlns:a16="http://schemas.microsoft.com/office/drawing/2014/main" id="{9D7485A8-2AEC-3DEA-7A87-1320AD35DF4E}"/>
              </a:ext>
            </a:extLst>
          </p:cNvPr>
          <p:cNvSpPr/>
          <p:nvPr/>
        </p:nvSpPr>
        <p:spPr>
          <a:xfrm>
            <a:off x="2540000" y="8055923"/>
            <a:ext cx="13208000" cy="635000"/>
          </a:xfrm>
          <a:prstGeom prst="rect">
            <a:avLst/>
          </a:prstGeom>
          <a:solidFill>
            <a:srgbClr val="0B3C3D"/>
          </a:solidFill>
          <a:ln/>
        </p:spPr>
        <p:txBody>
          <a:bodyPr/>
          <a:lstStyle/>
          <a:p>
            <a:r>
              <a:rPr lang="en-US" sz="1500" dirty="0">
                <a:solidFill>
                  <a:schemeClr val="bg1"/>
                </a:solidFill>
              </a:rPr>
              <a:t>Some product categories show high revenue but low profit because heavy discounting and intense competition reduce margins. High shipping, storage, and return costs, especially for bulky items, further eat into profitability. Even with strong sales, the high cost of goods leaves very little profit per unit.</a:t>
            </a:r>
          </a:p>
          <a:p>
            <a:endParaRPr lang="en-IN" sz="1500" dirty="0">
              <a:solidFill>
                <a:schemeClr val="bg1"/>
              </a:solidFil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Segment Comparison</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11</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400" b="1" dirty="0">
                <a:solidFill>
                  <a:srgbClr val="0B3C3D"/>
                </a:solidFill>
                <a:latin typeface="Aptos" panose="020B0004020202020204" pitchFamily="34" charset="0"/>
                <a:ea typeface="QuattrocentoSans" pitchFamily="34" charset="-122"/>
                <a:cs typeface="QuattrocentoSans" pitchFamily="34" charset="-120"/>
              </a:rPr>
              <a:t>New customers spend slightly more, with similar profitability across segments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96918745"/>
              </p:ext>
            </p:extLst>
          </p:nvPr>
        </p:nvGraphicFramePr>
        <p:xfrm>
          <a:off x="2539998" y="1709353"/>
          <a:ext cx="5815584" cy="36758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2"/>
          <p:cNvGraphicFramePr/>
          <p:nvPr>
            <p:extLst>
              <p:ext uri="{D42A27DB-BD31-4B8C-83A1-F6EECF244321}">
                <p14:modId xmlns:p14="http://schemas.microsoft.com/office/powerpoint/2010/main" val="2580671635"/>
              </p:ext>
            </p:extLst>
          </p:nvPr>
        </p:nvGraphicFramePr>
        <p:xfrm>
          <a:off x="9971903" y="1709355"/>
          <a:ext cx="5776097" cy="3678190"/>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 14"/>
          <p:cNvSpPr/>
          <p:nvPr/>
        </p:nvSpPr>
        <p:spPr>
          <a:xfrm>
            <a:off x="2540000" y="5868091"/>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KEY FINDINGS</a:t>
            </a:r>
            <a:endParaRPr lang="en-US" sz="1600" dirty="0"/>
          </a:p>
        </p:txBody>
      </p:sp>
      <p:sp>
        <p:nvSpPr>
          <p:cNvPr id="20" name="Text 15"/>
          <p:cNvSpPr/>
          <p:nvPr/>
        </p:nvSpPr>
        <p:spPr>
          <a:xfrm>
            <a:off x="2539998" y="6273800"/>
            <a:ext cx="6350000" cy="1968500"/>
          </a:xfrm>
          <a:prstGeom prst="rect">
            <a:avLst/>
          </a:prstGeom>
          <a:noFill/>
          <a:ln/>
        </p:spPr>
        <p:txBody>
          <a:bodyPr wrap="square" lIns="0" tIns="0" rIns="0" bIns="0" rtlCol="0" anchor="ctr"/>
          <a:lstStyle/>
          <a:p>
            <a:pPr>
              <a:lnSpc>
                <a:spcPct val="150000"/>
              </a:lnSpc>
            </a:pPr>
            <a:r>
              <a:rPr lang="en-US" sz="1500" b="1" dirty="0">
                <a:solidFill>
                  <a:srgbClr val="2D2D2D"/>
                </a:solidFill>
                <a:latin typeface="Aptos" panose="020B0004020202020204" pitchFamily="34" charset="0"/>
                <a:ea typeface="QuattrocentoSans" pitchFamily="34" charset="-122"/>
                <a:cs typeface="QuattrocentoSans" pitchFamily="34" charset="-120"/>
              </a:rPr>
              <a:t>Average spending</a:t>
            </a:r>
            <a:r>
              <a:rPr lang="en-US" sz="1500" dirty="0">
                <a:solidFill>
                  <a:srgbClr val="2D2D2D"/>
                </a:solidFill>
                <a:latin typeface="Aptos" panose="020B0004020202020204" pitchFamily="34" charset="0"/>
                <a:ea typeface="QuattrocentoSans" pitchFamily="34" charset="-122"/>
                <a:cs typeface="QuattrocentoSans" pitchFamily="34" charset="-120"/>
              </a:rPr>
              <a:t> levels remain relatively similar across customer segments, with new customers showing slightly higher order values</a:t>
            </a:r>
            <a:endParaRPr lang="en-US" sz="1500" dirty="0"/>
          </a:p>
          <a:p>
            <a:pPr>
              <a:lnSpc>
                <a:spcPct val="150000"/>
              </a:lnSpc>
              <a:spcBef>
                <a:spcPts val="400"/>
              </a:spcBef>
            </a:pPr>
            <a:r>
              <a:rPr lang="en-US" sz="1500" b="1" dirty="0">
                <a:solidFill>
                  <a:srgbClr val="2D2D2D"/>
                </a:solidFill>
                <a:latin typeface="Aptos" panose="020B0004020202020204" pitchFamily="34" charset="0"/>
                <a:ea typeface="QuattrocentoSans" pitchFamily="34" charset="-122"/>
                <a:cs typeface="QuattrocentoSans" pitchFamily="34" charset="-120"/>
              </a:rPr>
              <a:t>Discount behavior</a:t>
            </a:r>
            <a:r>
              <a:rPr lang="en-US" sz="1500" dirty="0">
                <a:solidFill>
                  <a:srgbClr val="2D2D2D"/>
                </a:solidFill>
                <a:latin typeface="Aptos" panose="020B0004020202020204" pitchFamily="34" charset="0"/>
                <a:ea typeface="QuattrocentoSans" pitchFamily="34" charset="-122"/>
                <a:cs typeface="QuattrocentoSans" pitchFamily="34" charset="-120"/>
              </a:rPr>
              <a:t> is remarkably consistent (~13.5%) across all segments, indicating uniform promotional exposure</a:t>
            </a:r>
            <a:endParaRPr lang="en-US" sz="1500" dirty="0"/>
          </a:p>
          <a:p>
            <a:pPr>
              <a:lnSpc>
                <a:spcPct val="150000"/>
              </a:lnSpc>
              <a:spcBef>
                <a:spcPts val="400"/>
              </a:spcBef>
            </a:pPr>
            <a:r>
              <a:rPr lang="en-US" sz="1500" b="1" dirty="0">
                <a:solidFill>
                  <a:srgbClr val="2D2D2D"/>
                </a:solidFill>
                <a:latin typeface="Aptos" panose="020B0004020202020204" pitchFamily="34" charset="0"/>
                <a:ea typeface="QuattrocentoSans" pitchFamily="34" charset="-122"/>
                <a:cs typeface="QuattrocentoSans" pitchFamily="34" charset="-120"/>
              </a:rPr>
              <a:t>Profitability levels </a:t>
            </a:r>
            <a:r>
              <a:rPr lang="en-US" sz="1500" dirty="0">
                <a:solidFill>
                  <a:srgbClr val="2D2D2D"/>
                </a:solidFill>
                <a:latin typeface="Aptos" panose="020B0004020202020204" pitchFamily="34" charset="0"/>
                <a:ea typeface="QuattrocentoSans" pitchFamily="34" charset="-122"/>
                <a:cs typeface="QuattrocentoSans" pitchFamily="34" charset="-120"/>
              </a:rPr>
              <a:t>remain relatively balanced (650–680) across customer groups.</a:t>
            </a:r>
            <a:endParaRPr lang="en-US" sz="1500" dirty="0"/>
          </a:p>
        </p:txBody>
      </p:sp>
      <p:sp>
        <p:nvSpPr>
          <p:cNvPr id="21" name="Text 16"/>
          <p:cNvSpPr/>
          <p:nvPr/>
        </p:nvSpPr>
        <p:spPr>
          <a:xfrm>
            <a:off x="9144000" y="5868091"/>
            <a:ext cx="2921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SEGMENT COMPARISON</a:t>
            </a:r>
            <a:endParaRPr lang="en-US" sz="1600" dirty="0"/>
          </a:p>
        </p:txBody>
      </p:sp>
      <p:graphicFrame>
        <p:nvGraphicFramePr>
          <p:cNvPr id="17" name="Table 0">
            <a:extLst>
              <a:ext uri="{FF2B5EF4-FFF2-40B4-BE49-F238E27FC236}">
                <a16:creationId xmlns:a16="http://schemas.microsoft.com/office/drawing/2014/main" id="{503AD950-B914-BA7B-E282-54EA25906BC9}"/>
              </a:ext>
            </a:extLst>
          </p:cNvPr>
          <p:cNvGraphicFramePr>
            <a:graphicFrameLocks noGrp="1"/>
          </p:cNvGraphicFramePr>
          <p:nvPr>
            <p:extLst>
              <p:ext uri="{D42A27DB-BD31-4B8C-83A1-F6EECF244321}">
                <p14:modId xmlns:p14="http://schemas.microsoft.com/office/powerpoint/2010/main" val="201426231"/>
              </p:ext>
            </p:extLst>
          </p:nvPr>
        </p:nvGraphicFramePr>
        <p:xfrm>
          <a:off x="9144000" y="6273800"/>
          <a:ext cx="6604000" cy="2040398"/>
        </p:xfrm>
        <a:graphic>
          <a:graphicData uri="http://schemas.openxmlformats.org/drawingml/2006/table">
            <a:tbl>
              <a:tblPr/>
              <a:tblGrid>
                <a:gridCol w="1981200">
                  <a:extLst>
                    <a:ext uri="{9D8B030D-6E8A-4147-A177-3AD203B41FA5}">
                      <a16:colId xmlns:a16="http://schemas.microsoft.com/office/drawing/2014/main" val="20000"/>
                    </a:ext>
                  </a:extLst>
                </a:gridCol>
                <a:gridCol w="1538732">
                  <a:extLst>
                    <a:ext uri="{9D8B030D-6E8A-4147-A177-3AD203B41FA5}">
                      <a16:colId xmlns:a16="http://schemas.microsoft.com/office/drawing/2014/main" val="20001"/>
                    </a:ext>
                  </a:extLst>
                </a:gridCol>
                <a:gridCol w="1538732">
                  <a:extLst>
                    <a:ext uri="{9D8B030D-6E8A-4147-A177-3AD203B41FA5}">
                      <a16:colId xmlns:a16="http://schemas.microsoft.com/office/drawing/2014/main" val="20002"/>
                    </a:ext>
                  </a:extLst>
                </a:gridCol>
                <a:gridCol w="1545336">
                  <a:extLst>
                    <a:ext uri="{9D8B030D-6E8A-4147-A177-3AD203B41FA5}">
                      <a16:colId xmlns:a16="http://schemas.microsoft.com/office/drawing/2014/main" val="20003"/>
                    </a:ext>
                  </a:extLst>
                </a:gridCol>
              </a:tblGrid>
              <a:tr h="503802">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Metric</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Loyal</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New</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Returning</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extLst>
                  <a:ext uri="{0D108BD9-81ED-4DB2-BD59-A6C34878D82A}">
                    <a16:rowId xmlns:a16="http://schemas.microsoft.com/office/drawing/2014/main" val="10000"/>
                  </a:ext>
                </a:extLst>
              </a:tr>
              <a:tr h="503802">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Avg Price</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6,650</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6,900</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6,750</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6397">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Discount %</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13.5%</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13.6%</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13.5%</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extLst>
                  <a:ext uri="{0D108BD9-81ED-4DB2-BD59-A6C34878D82A}">
                    <a16:rowId xmlns:a16="http://schemas.microsoft.com/office/drawing/2014/main" val="10002"/>
                  </a:ext>
                </a:extLst>
              </a:tr>
              <a:tr h="516397">
                <a:tc>
                  <a:txBody>
                    <a:bodyPr/>
                    <a:lstStyle/>
                    <a:p>
                      <a:pPr algn="l"/>
                      <a:r>
                        <a:rPr lang="en-US" sz="1400" dirty="0">
                          <a:latin typeface="微软雅黑" charset="0"/>
                          <a:ea typeface="微软雅黑" charset="0"/>
                          <a:cs typeface="微软雅黑" charset="0"/>
                        </a:rPr>
                        <a:t>Order Count </a:t>
                      </a: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chemeClr val="bg1"/>
                    </a:solidFill>
                  </a:tcPr>
                </a:tc>
                <a:tc>
                  <a:txBody>
                    <a:bodyPr/>
                    <a:lstStyle/>
                    <a:p>
                      <a:pPr algn="l"/>
                      <a:r>
                        <a:rPr lang="en-US" sz="1400" dirty="0">
                          <a:latin typeface="微软雅黑" charset="0"/>
                          <a:ea typeface="微软雅黑" charset="0"/>
                          <a:cs typeface="微软雅黑" charset="0"/>
                        </a:rPr>
                        <a:t>27,090</a:t>
                      </a: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chemeClr val="bg1"/>
                    </a:solidFill>
                  </a:tcPr>
                </a:tc>
                <a:tc>
                  <a:txBody>
                    <a:bodyPr/>
                    <a:lstStyle/>
                    <a:p>
                      <a:pPr algn="l"/>
                      <a:r>
                        <a:rPr lang="en-US" sz="1400" dirty="0">
                          <a:latin typeface="微软雅黑" charset="0"/>
                          <a:ea typeface="微软雅黑" charset="0"/>
                          <a:cs typeface="微软雅黑" charset="0"/>
                        </a:rPr>
                        <a:t>91,986</a:t>
                      </a: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chemeClr val="bg1"/>
                    </a:solidFill>
                  </a:tcPr>
                </a:tc>
                <a:tc>
                  <a:txBody>
                    <a:bodyPr/>
                    <a:lstStyle/>
                    <a:p>
                      <a:pPr algn="l"/>
                      <a:r>
                        <a:rPr lang="en-US" sz="1400" dirty="0">
                          <a:latin typeface="微软雅黑" charset="0"/>
                          <a:ea typeface="微软雅黑" charset="0"/>
                          <a:cs typeface="微软雅黑" charset="0"/>
                        </a:rPr>
                        <a:t>64,708</a:t>
                      </a: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chemeClr val="bg1"/>
                    </a:solidFill>
                  </a:tcPr>
                </a:tc>
                <a:extLst>
                  <a:ext uri="{0D108BD9-81ED-4DB2-BD59-A6C34878D82A}">
                    <a16:rowId xmlns:a16="http://schemas.microsoft.com/office/drawing/2014/main" val="1356200306"/>
                  </a:ext>
                </a:extLst>
              </a:tr>
            </a:tbl>
          </a:graphicData>
        </a:graphic>
      </p:graphicFrame>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Brand Performance</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12</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Generic brands lead volume while ratings remain stable across brands</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665043029"/>
              </p:ext>
            </p:extLst>
          </p:nvPr>
        </p:nvGraphicFramePr>
        <p:xfrm>
          <a:off x="2540000" y="1523999"/>
          <a:ext cx="7753178" cy="4902565"/>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2540000" y="6750598"/>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BRAND INSIGHTS</a:t>
            </a:r>
            <a:endParaRPr lang="en-US" sz="1600" dirty="0"/>
          </a:p>
        </p:txBody>
      </p:sp>
      <p:sp>
        <p:nvSpPr>
          <p:cNvPr id="18" name="Text 15"/>
          <p:cNvSpPr/>
          <p:nvPr/>
        </p:nvSpPr>
        <p:spPr>
          <a:xfrm>
            <a:off x="2540000" y="7185302"/>
            <a:ext cx="13208000" cy="1270000"/>
          </a:xfrm>
          <a:prstGeom prst="rect">
            <a:avLst/>
          </a:prstGeom>
          <a:noFill/>
          <a:ln/>
        </p:spPr>
        <p:txBody>
          <a:bodyPr wrap="square" lIns="0" tIns="0" rIns="0" bIns="0" rtlCol="0" anchor="ct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Generic Indian brands dominate</a:t>
            </a:r>
            <a:r>
              <a:rPr lang="en-US" sz="1600" dirty="0">
                <a:solidFill>
                  <a:srgbClr val="2D2D2D"/>
                </a:solidFill>
                <a:latin typeface="Aptos" panose="020B0004020202020204" pitchFamily="34" charset="0"/>
                <a:ea typeface="QuattrocentoSans" pitchFamily="34" charset="-122"/>
                <a:cs typeface="QuattrocentoSans" pitchFamily="34" charset="-120"/>
              </a:rPr>
              <a:t> with 18,000 first purchases — nearly 6x the next competitor — supported by broader market reach and purchase volume.</a:t>
            </a:r>
            <a:endParaRPr lang="en-US" sz="1600"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Rating stability:</a:t>
            </a:r>
            <a:r>
              <a:rPr lang="en-US" sz="1600" dirty="0">
                <a:solidFill>
                  <a:srgbClr val="2D2D2D"/>
                </a:solidFill>
                <a:latin typeface="Aptos" panose="020B0004020202020204" pitchFamily="34" charset="0"/>
                <a:ea typeface="QuattrocentoSans" pitchFamily="34" charset="-122"/>
                <a:cs typeface="QuattrocentoSans" pitchFamily="34" charset="-120"/>
              </a:rPr>
              <a:t> All brands maintain ratings between 4.00-4.12, showing consistently positive customer ratings regardless of popularity.</a:t>
            </a:r>
            <a:endParaRPr lang="en-US" sz="1600"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Performance driver:</a:t>
            </a:r>
            <a:r>
              <a:rPr lang="en-US" sz="1600" dirty="0">
                <a:solidFill>
                  <a:srgbClr val="2D2D2D"/>
                </a:solidFill>
                <a:latin typeface="Aptos" panose="020B0004020202020204" pitchFamily="34" charset="0"/>
                <a:ea typeface="QuattrocentoSans" pitchFamily="34" charset="-122"/>
                <a:cs typeface="QuattrocentoSans" pitchFamily="34" charset="-120"/>
              </a:rPr>
              <a:t> Brand popularity appears more closely associated with purchase volume and market presence than rating variation.</a:t>
            </a:r>
            <a:endParaRPr lang="en-US" sz="1600" dirty="0"/>
          </a:p>
        </p:txBody>
      </p:sp>
      <p:graphicFrame>
        <p:nvGraphicFramePr>
          <p:cNvPr id="24" name="Chart 23">
            <a:extLst>
              <a:ext uri="{FF2B5EF4-FFF2-40B4-BE49-F238E27FC236}">
                <a16:creationId xmlns:a16="http://schemas.microsoft.com/office/drawing/2014/main" id="{BD80828B-F40F-4747-32D1-95DB6EDD7161}"/>
              </a:ext>
            </a:extLst>
          </p:cNvPr>
          <p:cNvGraphicFramePr/>
          <p:nvPr>
            <p:extLst>
              <p:ext uri="{D42A27DB-BD31-4B8C-83A1-F6EECF244321}">
                <p14:modId xmlns:p14="http://schemas.microsoft.com/office/powerpoint/2010/main" val="2460511526"/>
              </p:ext>
            </p:extLst>
          </p:nvPr>
        </p:nvGraphicFramePr>
        <p:xfrm>
          <a:off x="10547178" y="1606378"/>
          <a:ext cx="5163408" cy="482018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Discount Strategy Analysis</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13</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400" b="1" dirty="0">
                <a:solidFill>
                  <a:srgbClr val="0B3C3D"/>
                </a:solidFill>
                <a:latin typeface="Aptos" panose="020B0004020202020204" pitchFamily="34" charset="0"/>
                <a:ea typeface="QuattrocentoSans" pitchFamily="34" charset="-122"/>
                <a:cs typeface="QuattrocentoSans" pitchFamily="34" charset="-120"/>
              </a:rPr>
              <a:t>Medium discounts (11-25%) deliver optimal acquisition-revenue balance</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3105768205"/>
              </p:ext>
            </p:extLst>
          </p:nvPr>
        </p:nvGraphicFramePr>
        <p:xfrm>
          <a:off x="2540000" y="1523999"/>
          <a:ext cx="6959600" cy="443333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p:cNvGraphicFramePr/>
          <p:nvPr>
            <p:extLst>
              <p:ext uri="{D42A27DB-BD31-4B8C-83A1-F6EECF244321}">
                <p14:modId xmlns:p14="http://schemas.microsoft.com/office/powerpoint/2010/main" val="2915370098"/>
              </p:ext>
            </p:extLst>
          </p:nvPr>
        </p:nvGraphicFramePr>
        <p:xfrm>
          <a:off x="9601200" y="1523999"/>
          <a:ext cx="6146800" cy="4433331"/>
        </p:xfrm>
        <a:graphic>
          <a:graphicData uri="http://schemas.openxmlformats.org/drawingml/2006/chart">
            <c:chart xmlns:c="http://schemas.openxmlformats.org/drawingml/2006/chart" xmlns:r="http://schemas.openxmlformats.org/officeDocument/2006/relationships" r:id="rId4"/>
          </a:graphicData>
        </a:graphic>
      </p:graphicFrame>
      <p:sp>
        <p:nvSpPr>
          <p:cNvPr id="18" name="Shape 14"/>
          <p:cNvSpPr/>
          <p:nvPr/>
        </p:nvSpPr>
        <p:spPr>
          <a:xfrm>
            <a:off x="2540000" y="6317287"/>
            <a:ext cx="13208000" cy="711200"/>
          </a:xfrm>
          <a:prstGeom prst="rect">
            <a:avLst/>
          </a:prstGeom>
          <a:solidFill>
            <a:srgbClr val="D4E5E5"/>
          </a:solidFill>
          <a:ln/>
        </p:spPr>
        <p:txBody>
          <a:bodyPr/>
          <a:lstStyle/>
          <a:p>
            <a:endParaRPr lang="en-IN"/>
          </a:p>
        </p:txBody>
      </p:sp>
      <p:sp>
        <p:nvSpPr>
          <p:cNvPr id="19" name="Text 15"/>
          <p:cNvSpPr/>
          <p:nvPr/>
        </p:nvSpPr>
        <p:spPr>
          <a:xfrm>
            <a:off x="2631988" y="6369459"/>
            <a:ext cx="13116011" cy="457200"/>
          </a:xfrm>
          <a:prstGeom prst="rect">
            <a:avLst/>
          </a:prstGeom>
          <a:noFill/>
          <a:ln/>
        </p:spPr>
        <p:txBody>
          <a:bodyPr wrap="square" lIns="0" tIns="0" rIns="0" bIns="0" rtlCol="0" anchor="ctr"/>
          <a:lstStyle/>
          <a:p>
            <a:r>
              <a:rPr lang="en-US" sz="1400" b="1" dirty="0">
                <a:solidFill>
                  <a:srgbClr val="2D2D2D"/>
                </a:solidFill>
                <a:latin typeface="Quattrocento Sans" pitchFamily="34" charset="0"/>
                <a:ea typeface="Quattrocento Sans" pitchFamily="34" charset="-122"/>
                <a:cs typeface="Quattrocento Sans" pitchFamily="34" charset="-120"/>
              </a:rPr>
              <a:t>Chi-Square Test:</a:t>
            </a:r>
            <a:r>
              <a:rPr lang="en-US" sz="1400" dirty="0">
                <a:solidFill>
                  <a:srgbClr val="2D2D2D"/>
                </a:solidFill>
                <a:latin typeface="Quattrocento Sans" pitchFamily="34" charset="0"/>
                <a:ea typeface="Quattrocento Sans" pitchFamily="34" charset="-122"/>
                <a:cs typeface="Quattrocento Sans" pitchFamily="34" charset="-120"/>
              </a:rPr>
              <a:t> Discount Band vs Segment | p = 0.782 &gt; 0.05 </a:t>
            </a:r>
            <a:r>
              <a:rPr lang="en-US" sz="1400" dirty="0">
                <a:latin typeface="Calibri" panose="020F0502020204030204" pitchFamily="34" charset="0"/>
              </a:rPr>
              <a:t>→ </a:t>
            </a:r>
            <a:r>
              <a:rPr lang="en-US" sz="1400" dirty="0">
                <a:solidFill>
                  <a:srgbClr val="FF0000"/>
                </a:solidFill>
                <a:latin typeface="Calibri" panose="020F0502020204030204" pitchFamily="34" charset="0"/>
              </a:rPr>
              <a:t>Fail to reject H₀</a:t>
            </a:r>
            <a:r>
              <a:rPr lang="en-US" sz="1400" dirty="0">
                <a:latin typeface="Calibri" panose="020F0502020204030204" pitchFamily="34" charset="0"/>
              </a:rPr>
              <a:t> </a:t>
            </a:r>
            <a:r>
              <a:rPr lang="en-US" sz="1400" dirty="0">
                <a:solidFill>
                  <a:srgbClr val="2D2D2D"/>
                </a:solidFill>
                <a:latin typeface="Quattrocento Sans" pitchFamily="34" charset="0"/>
                <a:ea typeface="Quattrocento Sans" pitchFamily="34" charset="-122"/>
                <a:cs typeface="Quattrocento Sans" pitchFamily="34" charset="-120"/>
              </a:rPr>
              <a:t>| No statistically significant relationship observed.</a:t>
            </a:r>
            <a:endParaRPr lang="en-US" sz="1600" dirty="0"/>
          </a:p>
        </p:txBody>
      </p:sp>
      <p:sp>
        <p:nvSpPr>
          <p:cNvPr id="20" name="Text 16"/>
          <p:cNvSpPr/>
          <p:nvPr/>
        </p:nvSpPr>
        <p:spPr>
          <a:xfrm>
            <a:off x="2540000" y="7231687"/>
            <a:ext cx="13208000" cy="1270000"/>
          </a:xfrm>
          <a:prstGeom prst="rect">
            <a:avLst/>
          </a:prstGeom>
          <a:noFill/>
          <a:ln/>
        </p:spPr>
        <p:txBody>
          <a:bodyPr wrap="square" lIns="0" tIns="0" rIns="0" bIns="0" rtlCol="0" anchor="ctr"/>
          <a:lstStyle/>
          <a:p>
            <a:pPr>
              <a:lnSpc>
                <a:spcPct val="150000"/>
              </a:lnSpc>
            </a:pPr>
            <a:r>
              <a:rPr lang="en-US" sz="1400" b="1" dirty="0">
                <a:solidFill>
                  <a:srgbClr val="2D2D2D"/>
                </a:solidFill>
                <a:latin typeface="Aptos" panose="020B0004020202020204" pitchFamily="34" charset="0"/>
                <a:ea typeface="QuattrocentoSans" pitchFamily="34" charset="-122"/>
                <a:cs typeface="QuattrocentoSans" pitchFamily="34" charset="-120"/>
              </a:rPr>
              <a:t>Strategic recommendation:</a:t>
            </a:r>
            <a:r>
              <a:rPr lang="en-US" sz="1400" dirty="0">
                <a:solidFill>
                  <a:srgbClr val="2D2D2D"/>
                </a:solidFill>
                <a:latin typeface="Aptos" panose="020B0004020202020204" pitchFamily="34" charset="0"/>
                <a:ea typeface="QuattrocentoSans" pitchFamily="34" charset="-122"/>
                <a:cs typeface="QuattrocentoSans" pitchFamily="34" charset="-120"/>
              </a:rPr>
              <a:t> Moderate discounting is more effective for sustaining long-term revenue than aggressive campaigns.</a:t>
            </a:r>
            <a:endParaRPr lang="en-US" sz="1600" dirty="0"/>
          </a:p>
          <a:p>
            <a:pPr>
              <a:lnSpc>
                <a:spcPct val="150000"/>
              </a:lnSpc>
              <a:spcBef>
                <a:spcPts val="400"/>
              </a:spcBef>
            </a:pPr>
            <a:r>
              <a:rPr lang="en-US" sz="1400" b="1" dirty="0">
                <a:solidFill>
                  <a:srgbClr val="2D2D2D"/>
                </a:solidFill>
                <a:latin typeface="Aptos" panose="020B0004020202020204" pitchFamily="34" charset="0"/>
                <a:ea typeface="QuattrocentoSans" pitchFamily="34" charset="-122"/>
                <a:cs typeface="QuattrocentoSans" pitchFamily="34" charset="-120"/>
              </a:rPr>
              <a:t>Medium discounts (11-25%)</a:t>
            </a:r>
            <a:r>
              <a:rPr lang="en-US" sz="1400" dirty="0">
                <a:solidFill>
                  <a:srgbClr val="2D2D2D"/>
                </a:solidFill>
                <a:latin typeface="Aptos" panose="020B0004020202020204" pitchFamily="34" charset="0"/>
                <a:ea typeface="QuattrocentoSans" pitchFamily="34" charset="-122"/>
                <a:cs typeface="QuattrocentoSans" pitchFamily="34" charset="-120"/>
              </a:rPr>
              <a:t> generate the strongest balance between customer acquisition and revenue contribution.</a:t>
            </a:r>
            <a:endParaRPr lang="en-US" sz="1600" dirty="0"/>
          </a:p>
          <a:p>
            <a:pPr>
              <a:lnSpc>
                <a:spcPct val="150000"/>
              </a:lnSpc>
              <a:spcBef>
                <a:spcPts val="400"/>
              </a:spcBef>
            </a:pPr>
            <a:r>
              <a:rPr lang="en-US" sz="1400" b="1" dirty="0">
                <a:solidFill>
                  <a:srgbClr val="2D2D2D"/>
                </a:solidFill>
                <a:latin typeface="Aptos" panose="020B0004020202020204" pitchFamily="34" charset="0"/>
                <a:ea typeface="QuattrocentoSans" pitchFamily="34" charset="-122"/>
                <a:cs typeface="QuattrocentoSans" pitchFamily="34" charset="-120"/>
              </a:rPr>
              <a:t>Very high discounts </a:t>
            </a:r>
            <a:r>
              <a:rPr lang="en-US" sz="1400" dirty="0">
                <a:solidFill>
                  <a:srgbClr val="2D2D2D"/>
                </a:solidFill>
                <a:latin typeface="Aptos" panose="020B0004020202020204" pitchFamily="34" charset="0"/>
                <a:ea typeface="QuattrocentoSans" pitchFamily="34" charset="-122"/>
                <a:cs typeface="QuattrocentoSans" pitchFamily="34" charset="-120"/>
              </a:rPr>
              <a:t>increase order value but contribute comparatively lower purchase volume and weaker long-term revenue sustainability.</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a:t>
            </a:r>
            <a:r>
              <a:rPr lang="en-US" sz="2800" b="1" dirty="0">
                <a:solidFill>
                  <a:srgbClr val="0B3C3D"/>
                </a:solidFill>
                <a:latin typeface="Quattrocento Sans" pitchFamily="34" charset="0"/>
                <a:ea typeface="Quattrocento Sans" pitchFamily="34" charset="-122"/>
                <a:cs typeface="Quattrocento Sans" pitchFamily="34" charset="-120"/>
              </a:rPr>
              <a:t> Price Band Analysis</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14</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400" b="1" dirty="0">
                <a:solidFill>
                  <a:srgbClr val="0B3C3D"/>
                </a:solidFill>
                <a:latin typeface="Aptos" panose="020B0004020202020204" pitchFamily="34" charset="0"/>
                <a:ea typeface="QuattrocentoSans" pitchFamily="34" charset="-122"/>
                <a:cs typeface="QuattrocentoSans" pitchFamily="34" charset="-120"/>
              </a:rPr>
              <a:t>Revenue concentrated within 5000-15000 and 30000+ price bands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642496124"/>
              </p:ext>
            </p:extLst>
          </p:nvPr>
        </p:nvGraphicFramePr>
        <p:xfrm>
          <a:off x="2540000" y="1524000"/>
          <a:ext cx="6769100" cy="4165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p:cNvGraphicFramePr/>
          <p:nvPr>
            <p:extLst>
              <p:ext uri="{D42A27DB-BD31-4B8C-83A1-F6EECF244321}">
                <p14:modId xmlns:p14="http://schemas.microsoft.com/office/powerpoint/2010/main" val="1698036731"/>
              </p:ext>
            </p:extLst>
          </p:nvPr>
        </p:nvGraphicFramePr>
        <p:xfrm>
          <a:off x="9855200" y="1524000"/>
          <a:ext cx="5892800" cy="4165600"/>
        </p:xfrm>
        <a:graphic>
          <a:graphicData uri="http://schemas.openxmlformats.org/drawingml/2006/chart">
            <c:chart xmlns:c="http://schemas.openxmlformats.org/drawingml/2006/chart" xmlns:r="http://schemas.openxmlformats.org/officeDocument/2006/relationships" r:id="rId4"/>
          </a:graphicData>
        </a:graphic>
      </p:graphicFrame>
      <p:sp>
        <p:nvSpPr>
          <p:cNvPr id="18" name="Shape 14"/>
          <p:cNvSpPr/>
          <p:nvPr/>
        </p:nvSpPr>
        <p:spPr>
          <a:xfrm>
            <a:off x="2540000" y="6040847"/>
            <a:ext cx="13208000" cy="635000"/>
          </a:xfrm>
          <a:prstGeom prst="rect">
            <a:avLst/>
          </a:prstGeom>
          <a:solidFill>
            <a:srgbClr val="0B3C3D"/>
          </a:solidFill>
          <a:ln/>
        </p:spPr>
        <p:txBody>
          <a:bodyPr/>
          <a:lstStyle/>
          <a:p>
            <a:endParaRPr lang="en-IN"/>
          </a:p>
        </p:txBody>
      </p:sp>
      <p:sp>
        <p:nvSpPr>
          <p:cNvPr id="19" name="Text 15"/>
          <p:cNvSpPr/>
          <p:nvPr/>
        </p:nvSpPr>
        <p:spPr>
          <a:xfrm>
            <a:off x="2743200" y="6091647"/>
            <a:ext cx="12801600" cy="508000"/>
          </a:xfrm>
          <a:prstGeom prst="rect">
            <a:avLst/>
          </a:prstGeom>
          <a:noFill/>
          <a:ln/>
        </p:spPr>
        <p:txBody>
          <a:bodyPr wrap="squar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P(Discount ≥ 25% | Price Band = 30000+) = 0.64 </a:t>
            </a:r>
            <a:r>
              <a:rPr lang="en-US" sz="1500" dirty="0">
                <a:solidFill>
                  <a:srgbClr val="FFFFFF"/>
                </a:solidFill>
                <a:latin typeface="Quattrocento Sans" pitchFamily="34" charset="0"/>
                <a:ea typeface="Quattrocento Sans" pitchFamily="34" charset="-122"/>
                <a:cs typeface="Quattrocento Sans" pitchFamily="34" charset="-120"/>
              </a:rPr>
              <a:t>| Nearly two-thirds of premium products receive high discounts, indicating stronger promotional dependence in the highest price segment.</a:t>
            </a:r>
            <a:endParaRPr lang="en-US" sz="1600" dirty="0"/>
          </a:p>
        </p:txBody>
      </p:sp>
      <p:sp>
        <p:nvSpPr>
          <p:cNvPr id="20" name="Text 16"/>
          <p:cNvSpPr/>
          <p:nvPr/>
        </p:nvSpPr>
        <p:spPr>
          <a:xfrm>
            <a:off x="2540000" y="7221947"/>
            <a:ext cx="13208000" cy="1668054"/>
          </a:xfrm>
          <a:prstGeom prst="rect">
            <a:avLst/>
          </a:prstGeom>
          <a:noFill/>
          <a:ln/>
        </p:spPr>
        <p:txBody>
          <a:bodyPr wrap="square" lIns="0" tIns="0" rIns="0" bIns="0" rtlCol="0" anchor="ctr"/>
          <a:lstStyle/>
          <a:p>
            <a:pPr>
              <a:lnSpc>
                <a:spcPct val="150000"/>
              </a:lnSpc>
            </a:pPr>
            <a:r>
              <a:rPr lang="en-US" sz="1500" b="1" dirty="0">
                <a:solidFill>
                  <a:srgbClr val="2D2D2D"/>
                </a:solidFill>
                <a:latin typeface="Aptos" panose="020B0004020202020204" pitchFamily="34" charset="0"/>
                <a:ea typeface="QuattrocentoSans" pitchFamily="34" charset="-122"/>
                <a:cs typeface="QuattrocentoSans" pitchFamily="34" charset="-120"/>
              </a:rPr>
              <a:t>Revenue Insight: </a:t>
            </a:r>
            <a:r>
              <a:rPr lang="en-US" sz="1500" dirty="0">
                <a:solidFill>
                  <a:srgbClr val="2D2D2D"/>
                </a:solidFill>
                <a:latin typeface="Aptos" panose="020B0004020202020204" pitchFamily="34" charset="0"/>
                <a:ea typeface="QuattrocentoSans" pitchFamily="34" charset="-122"/>
                <a:cs typeface="QuattrocentoSans" pitchFamily="34" charset="-120"/>
              </a:rPr>
              <a:t>5000–15000 and 30000+ price bands generate the highest revenue contribution, making them the key revenue drivers for the business.</a:t>
            </a:r>
          </a:p>
          <a:p>
            <a:pPr>
              <a:lnSpc>
                <a:spcPct val="150000"/>
              </a:lnSpc>
            </a:pPr>
            <a:r>
              <a:rPr lang="en-US" sz="1500" b="1" dirty="0">
                <a:solidFill>
                  <a:srgbClr val="2D2D2D"/>
                </a:solidFill>
                <a:latin typeface="Aptos" panose="020B0004020202020204" pitchFamily="34" charset="0"/>
                <a:ea typeface="QuattrocentoSans" pitchFamily="34" charset="-122"/>
                <a:cs typeface="QuattrocentoSans" pitchFamily="34" charset="-120"/>
              </a:rPr>
              <a:t>Discount Insight: </a:t>
            </a:r>
            <a:r>
              <a:rPr lang="en-US" sz="1500" dirty="0">
                <a:solidFill>
                  <a:srgbClr val="2D2D2D"/>
                </a:solidFill>
                <a:latin typeface="Aptos" panose="020B0004020202020204" pitchFamily="34" charset="0"/>
                <a:ea typeface="QuattrocentoSans" pitchFamily="34" charset="-122"/>
                <a:cs typeface="QuattrocentoSans" pitchFamily="34" charset="-120"/>
              </a:rPr>
              <a:t>The 5000–15000 price band achieves the highest revenue with a moderate average discount (17%), while the 30000+ segment requires higher discounts (33%) to maintain strong sales.</a:t>
            </a:r>
          </a:p>
          <a:p>
            <a:pPr>
              <a:lnSpc>
                <a:spcPct val="150000"/>
              </a:lnSpc>
            </a:pPr>
            <a:r>
              <a:rPr lang="en-US" sz="1500" b="1" dirty="0">
                <a:solidFill>
                  <a:srgbClr val="2D2D2D"/>
                </a:solidFill>
                <a:latin typeface="Aptos" panose="020B0004020202020204" pitchFamily="34" charset="0"/>
                <a:ea typeface="QuattrocentoSans" pitchFamily="34" charset="-122"/>
                <a:cs typeface="QuattrocentoSans" pitchFamily="34" charset="-120"/>
              </a:rPr>
              <a:t>Strategic Insight: </a:t>
            </a:r>
            <a:r>
              <a:rPr lang="en-US" sz="1500" dirty="0">
                <a:solidFill>
                  <a:srgbClr val="2D2D2D"/>
                </a:solidFill>
                <a:latin typeface="Aptos" panose="020B0004020202020204" pitchFamily="34" charset="0"/>
                <a:ea typeface="QuattrocentoSans" pitchFamily="34" charset="-122"/>
                <a:cs typeface="QuattrocentoSans" pitchFamily="34" charset="-120"/>
              </a:rPr>
              <a:t>Mid-priced products appear to deliver stronger revenue efficiency, whereas premium products rely more heavily on promotional discounts to drive demand.</a:t>
            </a:r>
          </a:p>
          <a:p>
            <a:pPr>
              <a:lnSpc>
                <a:spcPct val="150000"/>
              </a:lnSpc>
            </a:pPr>
            <a:endParaRPr lang="en-US" sz="15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Regional Analysis</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15</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South and North regions drive highest customer acquisition</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1635485129"/>
              </p:ext>
            </p:extLst>
          </p:nvPr>
        </p:nvGraphicFramePr>
        <p:xfrm>
          <a:off x="2539999" y="1524000"/>
          <a:ext cx="7805783" cy="54737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10541000" y="1524000"/>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REGIONAL INSIGHTS</a:t>
            </a:r>
            <a:endParaRPr lang="en-US" sz="1600" dirty="0"/>
          </a:p>
        </p:txBody>
      </p:sp>
      <p:sp>
        <p:nvSpPr>
          <p:cNvPr id="18" name="Text 15"/>
          <p:cNvSpPr/>
          <p:nvPr/>
        </p:nvSpPr>
        <p:spPr>
          <a:xfrm>
            <a:off x="10541000" y="1997167"/>
            <a:ext cx="5207000" cy="2667000"/>
          </a:xfrm>
          <a:prstGeom prst="rect">
            <a:avLst/>
          </a:prstGeom>
          <a:noFill/>
          <a:ln/>
        </p:spPr>
        <p:txBody>
          <a:bodyPr wrap="square" lIns="0" tIns="0" rIns="0" bIns="0" rtlCol="0" anchor="ctr"/>
          <a:lstStyle/>
          <a:p>
            <a:pPr>
              <a:lnSpc>
                <a:spcPct val="150000"/>
              </a:lnSpc>
            </a:pPr>
            <a:endParaRPr lang="en-US" sz="1600" b="1" dirty="0">
              <a:solidFill>
                <a:srgbClr val="2D2D2D"/>
              </a:solidFill>
              <a:latin typeface="Aptos" panose="020B0004020202020204" pitchFamily="34" charset="0"/>
              <a:ea typeface="QuattrocentoSans" pitchFamily="34" charset="-122"/>
              <a:cs typeface="QuattrocentoSans" pitchFamily="34" charset="-120"/>
            </a:endParaRPr>
          </a:p>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South leads</a:t>
            </a:r>
            <a:r>
              <a:rPr lang="en-US" sz="1600" dirty="0">
                <a:solidFill>
                  <a:srgbClr val="2D2D2D"/>
                </a:solidFill>
                <a:latin typeface="Aptos" panose="020B0004020202020204" pitchFamily="34" charset="0"/>
                <a:ea typeface="QuattrocentoSans" pitchFamily="34" charset="-122"/>
                <a:cs typeface="QuattrocentoSans" pitchFamily="34" charset="-120"/>
              </a:rPr>
              <a:t> with ~14,500 first purchases, followed by North at ~12,500 — together contributing the largest share of customer acquisitions.</a:t>
            </a:r>
            <a:endParaRPr lang="en-US" sz="2000"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Demand concentration</a:t>
            </a:r>
            <a:r>
              <a:rPr lang="en-US" sz="1600" dirty="0">
                <a:solidFill>
                  <a:srgbClr val="2D2D2D"/>
                </a:solidFill>
                <a:latin typeface="Aptos" panose="020B0004020202020204" pitchFamily="34" charset="0"/>
                <a:ea typeface="QuattrocentoSans" pitchFamily="34" charset="-122"/>
                <a:cs typeface="QuattrocentoSans" pitchFamily="34" charset="-120"/>
              </a:rPr>
              <a:t> in high-performing regions indicates stronger e-commerce penetration in high-demand geographic regions.</a:t>
            </a:r>
            <a:endParaRPr lang="en-US" sz="2000"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Northeast and Central</a:t>
            </a:r>
            <a:r>
              <a:rPr lang="en-US" sz="1600" dirty="0">
                <a:solidFill>
                  <a:srgbClr val="2D2D2D"/>
                </a:solidFill>
                <a:latin typeface="Aptos" panose="020B0004020202020204" pitchFamily="34" charset="0"/>
                <a:ea typeface="QuattrocentoSans" pitchFamily="34" charset="-122"/>
                <a:cs typeface="QuattrocentoSans" pitchFamily="34" charset="-120"/>
              </a:rPr>
              <a:t> regions show lower acquisition (~2,000 and ~3,000), representing growth opportunities.</a:t>
            </a:r>
            <a:endParaRPr lang="en-US" sz="2000" dirty="0"/>
          </a:p>
        </p:txBody>
      </p:sp>
      <p:sp>
        <p:nvSpPr>
          <p:cNvPr id="19" name="Shape 16"/>
          <p:cNvSpPr/>
          <p:nvPr/>
        </p:nvSpPr>
        <p:spPr>
          <a:xfrm>
            <a:off x="2463800" y="7391400"/>
            <a:ext cx="13208000" cy="711200"/>
          </a:xfrm>
          <a:prstGeom prst="rect">
            <a:avLst/>
          </a:prstGeom>
          <a:solidFill>
            <a:srgbClr val="D4E5E5"/>
          </a:solidFill>
          <a:ln/>
        </p:spPr>
        <p:txBody>
          <a:bodyPr/>
          <a:lstStyle/>
          <a:p>
            <a:endParaRPr lang="en-IN"/>
          </a:p>
        </p:txBody>
      </p:sp>
      <p:sp>
        <p:nvSpPr>
          <p:cNvPr id="20" name="Text 17"/>
          <p:cNvSpPr/>
          <p:nvPr/>
        </p:nvSpPr>
        <p:spPr>
          <a:xfrm>
            <a:off x="2540000" y="7493000"/>
            <a:ext cx="13081000" cy="457200"/>
          </a:xfrm>
          <a:prstGeom prst="rect">
            <a:avLst/>
          </a:prstGeom>
          <a:noFill/>
          <a:ln/>
        </p:spPr>
        <p:txBody>
          <a:bodyPr wrap="square" lIns="0" tIns="0" rIns="0" bIns="0" rtlCol="0" anchor="ctr"/>
          <a:lstStyle/>
          <a:p>
            <a:pPr>
              <a:lnSpc>
                <a:spcPct val="100000"/>
              </a:lnSpc>
            </a:pPr>
            <a:r>
              <a:rPr lang="en-US" sz="1600" b="1" dirty="0">
                <a:solidFill>
                  <a:srgbClr val="2D2D2D"/>
                </a:solidFill>
                <a:latin typeface="Quattrocento Sans" pitchFamily="34" charset="0"/>
                <a:ea typeface="Quattrocento Sans" pitchFamily="34" charset="-122"/>
                <a:cs typeface="Quattrocento Sans" pitchFamily="34" charset="-120"/>
              </a:rPr>
              <a:t>Chi-Square Test:</a:t>
            </a:r>
            <a:r>
              <a:rPr lang="en-US" sz="1600" dirty="0">
                <a:solidFill>
                  <a:srgbClr val="2D2D2D"/>
                </a:solidFill>
                <a:latin typeface="Quattrocento Sans" pitchFamily="34" charset="0"/>
                <a:ea typeface="Quattrocento Sans" pitchFamily="34" charset="-122"/>
                <a:cs typeface="Quattrocento Sans" pitchFamily="34" charset="-120"/>
              </a:rPr>
              <a:t> Region vs Customer Segment | p = 0.0048 &lt; 0.05 | Significant regional variation indicates customer acquisition patterns differ across geographic regions.</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Demographic Analysis</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16</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Middle-aged consumers (36-45) represent the largest first-time customer segment</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3755379893"/>
              </p:ext>
            </p:extLst>
          </p:nvPr>
        </p:nvGraphicFramePr>
        <p:xfrm>
          <a:off x="2540000" y="1523999"/>
          <a:ext cx="7805783" cy="5118826"/>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10541000" y="1524000"/>
            <a:ext cx="3175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DEMOGRAPHIC INSIGHTS</a:t>
            </a:r>
            <a:endParaRPr lang="en-US" sz="1600" dirty="0"/>
          </a:p>
        </p:txBody>
      </p:sp>
      <p:sp>
        <p:nvSpPr>
          <p:cNvPr id="18" name="Text 15"/>
          <p:cNvSpPr/>
          <p:nvPr/>
        </p:nvSpPr>
        <p:spPr>
          <a:xfrm>
            <a:off x="10541000" y="2127797"/>
            <a:ext cx="5207000" cy="2540000"/>
          </a:xfrm>
          <a:prstGeom prst="rect">
            <a:avLst/>
          </a:prstGeom>
          <a:noFill/>
          <a:ln/>
        </p:spPr>
        <p:txBody>
          <a:bodyPr wrap="square" lIns="0" tIns="0" rIns="0" bIns="0" rtlCol="0" anchor="ct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36-45 age group</a:t>
            </a:r>
            <a:r>
              <a:rPr lang="en-US" sz="1600" dirty="0">
                <a:solidFill>
                  <a:srgbClr val="2D2D2D"/>
                </a:solidFill>
                <a:latin typeface="Aptos" panose="020B0004020202020204" pitchFamily="34" charset="0"/>
                <a:ea typeface="QuattrocentoSans" pitchFamily="34" charset="-122"/>
                <a:cs typeface="QuattrocentoSans" pitchFamily="34" charset="-120"/>
              </a:rPr>
              <a:t> contributes the highest share of first-time purchases (~17,000), representing the core demographic with strong acquisition participation.</a:t>
            </a:r>
            <a:endParaRPr lang="en-US"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26-35 age group</a:t>
            </a:r>
            <a:r>
              <a:rPr lang="en-US" sz="1600" dirty="0">
                <a:solidFill>
                  <a:srgbClr val="2D2D2D"/>
                </a:solidFill>
                <a:latin typeface="Aptos" panose="020B0004020202020204" pitchFamily="34" charset="0"/>
                <a:ea typeface="QuattrocentoSans" pitchFamily="34" charset="-122"/>
                <a:cs typeface="QuattrocentoSans" pitchFamily="34" charset="-120"/>
              </a:rPr>
              <a:t> shows strong participation (~11,500), indicating high engagement among young working professionals.</a:t>
            </a:r>
            <a:endParaRPr lang="en-US"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65+ segment</a:t>
            </a:r>
            <a:r>
              <a:rPr lang="en-US" sz="1600" dirty="0">
                <a:solidFill>
                  <a:srgbClr val="2D2D2D"/>
                </a:solidFill>
                <a:latin typeface="Aptos" panose="020B0004020202020204" pitchFamily="34" charset="0"/>
                <a:ea typeface="QuattrocentoSans" pitchFamily="34" charset="-122"/>
                <a:cs typeface="QuattrocentoSans" pitchFamily="34" charset="-120"/>
              </a:rPr>
              <a:t> shows minimal engagement (~1,000), suggesting relatively lower engagement among senior demographics</a:t>
            </a:r>
            <a:endParaRPr lang="en-US" dirty="0"/>
          </a:p>
        </p:txBody>
      </p:sp>
      <p:sp>
        <p:nvSpPr>
          <p:cNvPr id="19" name="Shape 16"/>
          <p:cNvSpPr/>
          <p:nvPr/>
        </p:nvSpPr>
        <p:spPr>
          <a:xfrm>
            <a:off x="2540000" y="7036525"/>
            <a:ext cx="13208000" cy="711200"/>
          </a:xfrm>
          <a:prstGeom prst="rect">
            <a:avLst/>
          </a:prstGeom>
          <a:solidFill>
            <a:srgbClr val="0B3C3D"/>
          </a:solidFill>
          <a:ln/>
        </p:spPr>
        <p:txBody>
          <a:bodyPr/>
          <a:lstStyle/>
          <a:p>
            <a:endParaRPr lang="en-IN"/>
          </a:p>
        </p:txBody>
      </p:sp>
      <p:sp>
        <p:nvSpPr>
          <p:cNvPr id="20" name="Text 17"/>
          <p:cNvSpPr/>
          <p:nvPr/>
        </p:nvSpPr>
        <p:spPr>
          <a:xfrm>
            <a:off x="2743200" y="7138125"/>
            <a:ext cx="12801600" cy="457200"/>
          </a:xfrm>
          <a:prstGeom prst="rect">
            <a:avLst/>
          </a:prstGeom>
          <a:noFill/>
          <a:ln/>
        </p:spPr>
        <p:txBody>
          <a:bodyPr wrap="squar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Core Target:</a:t>
            </a:r>
            <a:r>
              <a:rPr lang="en-US" sz="1500" dirty="0">
                <a:solidFill>
                  <a:srgbClr val="FFFFFF"/>
                </a:solidFill>
                <a:latin typeface="Quattrocento Sans" pitchFamily="34" charset="0"/>
                <a:ea typeface="Quattrocento Sans" pitchFamily="34" charset="-122"/>
                <a:cs typeface="Quattrocento Sans" pitchFamily="34" charset="-120"/>
              </a:rPr>
              <a:t> Ages 26-45 account for the majority of first-time purchases — the primary market for acquisition campaigns.</a:t>
            </a:r>
            <a:endParaRPr lang="en-US" sz="1600" dirty="0"/>
          </a:p>
        </p:txBody>
      </p:sp>
      <p:sp>
        <p:nvSpPr>
          <p:cNvPr id="21" name="Text 18"/>
          <p:cNvSpPr/>
          <p:nvPr/>
        </p:nvSpPr>
        <p:spPr>
          <a:xfrm>
            <a:off x="2540000" y="7925525"/>
            <a:ext cx="13208000" cy="635000"/>
          </a:xfrm>
          <a:prstGeom prst="rect">
            <a:avLst/>
          </a:prstGeom>
          <a:noFill/>
          <a:ln/>
        </p:spPr>
        <p:txBody>
          <a:bodyPr wrap="square" lIns="0" tIns="0" rIns="0" bIns="0" rtlCol="0" anchor="ct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Strategic implication:</a:t>
            </a:r>
            <a:r>
              <a:rPr lang="en-US" sz="1600" dirty="0">
                <a:solidFill>
                  <a:srgbClr val="2D2D2D"/>
                </a:solidFill>
                <a:latin typeface="Aptos" panose="020B0004020202020204" pitchFamily="34" charset="0"/>
                <a:ea typeface="QuattrocentoSans" pitchFamily="34" charset="-122"/>
                <a:cs typeface="QuattrocentoSans" pitchFamily="34" charset="-120"/>
              </a:rPr>
              <a:t> Marketing and product strategies should prioritize the 26-45 age segment while exploring engagement opportunities for younger and older demographics.</a:t>
            </a:r>
            <a:endParaRPr lang="en-US"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Delivery &amp; Satisfaction</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17</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High delivery delay rates coexist with consistently positive customer ratings</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2398779213"/>
              </p:ext>
            </p:extLst>
          </p:nvPr>
        </p:nvGraphicFramePr>
        <p:xfrm>
          <a:off x="2540000" y="1524000"/>
          <a:ext cx="6350000" cy="4589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p:cNvGraphicFramePr/>
          <p:nvPr>
            <p:extLst>
              <p:ext uri="{D42A27DB-BD31-4B8C-83A1-F6EECF244321}">
                <p14:modId xmlns:p14="http://schemas.microsoft.com/office/powerpoint/2010/main" val="1115176033"/>
              </p:ext>
            </p:extLst>
          </p:nvPr>
        </p:nvGraphicFramePr>
        <p:xfrm>
          <a:off x="9144000" y="1524000"/>
          <a:ext cx="6604000" cy="4589780"/>
        </p:xfrm>
        <a:graphic>
          <a:graphicData uri="http://schemas.openxmlformats.org/drawingml/2006/chart">
            <c:chart xmlns:c="http://schemas.openxmlformats.org/drawingml/2006/chart" xmlns:r="http://schemas.openxmlformats.org/officeDocument/2006/relationships" r:id="rId4"/>
          </a:graphicData>
        </a:graphic>
      </p:graphicFrame>
      <p:sp>
        <p:nvSpPr>
          <p:cNvPr id="18" name="Shape 14"/>
          <p:cNvSpPr/>
          <p:nvPr/>
        </p:nvSpPr>
        <p:spPr>
          <a:xfrm>
            <a:off x="2540000" y="6707052"/>
            <a:ext cx="13208000" cy="711200"/>
          </a:xfrm>
          <a:prstGeom prst="rect">
            <a:avLst/>
          </a:prstGeom>
          <a:solidFill>
            <a:srgbClr val="D4E5E5"/>
          </a:solidFill>
          <a:ln/>
        </p:spPr>
        <p:txBody>
          <a:bodyPr/>
          <a:lstStyle/>
          <a:p>
            <a:endParaRPr lang="en-IN"/>
          </a:p>
        </p:txBody>
      </p:sp>
      <p:sp>
        <p:nvSpPr>
          <p:cNvPr id="19" name="Text 15"/>
          <p:cNvSpPr/>
          <p:nvPr/>
        </p:nvSpPr>
        <p:spPr>
          <a:xfrm>
            <a:off x="2743200" y="6732452"/>
            <a:ext cx="3810000" cy="254000"/>
          </a:xfrm>
          <a:prstGeom prst="rect">
            <a:avLst/>
          </a:prstGeom>
          <a:noFill/>
          <a:ln/>
        </p:spPr>
        <p:txBody>
          <a:bodyPr wrap="none" lIns="0" tIns="0" rIns="0" bIns="0" rtlCol="0" anchor="ctr"/>
          <a:lstStyle/>
          <a:p>
            <a:pPr>
              <a:lnSpc>
                <a:spcPct val="100000"/>
              </a:lnSpc>
            </a:pPr>
            <a:r>
              <a:rPr lang="en-US" sz="1300" kern="0" spc="200" dirty="0">
                <a:solidFill>
                  <a:srgbClr val="C58940"/>
                </a:solidFill>
                <a:latin typeface="Quattrocento Sans" pitchFamily="34" charset="0"/>
                <a:ea typeface="Quattrocento Sans" pitchFamily="34" charset="-122"/>
                <a:cs typeface="Quattrocento Sans" pitchFamily="34" charset="-120"/>
              </a:rPr>
              <a:t>STATISTICAL FINDING</a:t>
            </a:r>
            <a:endParaRPr lang="en-US" sz="1600" dirty="0"/>
          </a:p>
        </p:txBody>
      </p:sp>
      <p:sp>
        <p:nvSpPr>
          <p:cNvPr id="20" name="Text 16"/>
          <p:cNvSpPr/>
          <p:nvPr/>
        </p:nvSpPr>
        <p:spPr>
          <a:xfrm>
            <a:off x="2743200" y="7011852"/>
            <a:ext cx="6096000" cy="355600"/>
          </a:xfrm>
          <a:prstGeom prst="rect">
            <a:avLst/>
          </a:prstGeom>
          <a:noFill/>
          <a:ln/>
        </p:spPr>
        <p:txBody>
          <a:bodyPr wrap="square" lIns="0" tIns="0" rIns="0" bIns="0" rtlCol="0" anchor="ctr"/>
          <a:lstStyle/>
          <a:p>
            <a:pPr>
              <a:lnSpc>
                <a:spcPct val="100000"/>
              </a:lnSpc>
            </a:pPr>
            <a:r>
              <a:rPr lang="en-US" sz="1400" b="1" dirty="0">
                <a:solidFill>
                  <a:srgbClr val="2D2D2D"/>
                </a:solidFill>
                <a:latin typeface="Quattrocento Sans" pitchFamily="34" charset="0"/>
                <a:ea typeface="Quattrocento Sans" pitchFamily="34" charset="-122"/>
                <a:cs typeface="Quattrocento Sans" pitchFamily="34" charset="-120"/>
              </a:rPr>
              <a:t>T-Test (Delay vs Ratings):</a:t>
            </a:r>
            <a:r>
              <a:rPr lang="en-US" sz="1400" dirty="0">
                <a:solidFill>
                  <a:srgbClr val="2D2D2D"/>
                </a:solidFill>
                <a:latin typeface="Quattrocento Sans" pitchFamily="34" charset="0"/>
                <a:ea typeface="Quattrocento Sans" pitchFamily="34" charset="-122"/>
                <a:cs typeface="Quattrocento Sans" pitchFamily="34" charset="-120"/>
              </a:rPr>
              <a:t> p = 0.0978 | No significant rating impact</a:t>
            </a:r>
            <a:endParaRPr lang="en-US" sz="1600" dirty="0"/>
          </a:p>
        </p:txBody>
      </p:sp>
      <p:sp>
        <p:nvSpPr>
          <p:cNvPr id="21" name="Text 17"/>
          <p:cNvSpPr/>
          <p:nvPr/>
        </p:nvSpPr>
        <p:spPr>
          <a:xfrm>
            <a:off x="9144000" y="6732452"/>
            <a:ext cx="3810000" cy="254000"/>
          </a:xfrm>
          <a:prstGeom prst="rect">
            <a:avLst/>
          </a:prstGeom>
          <a:noFill/>
          <a:ln/>
        </p:spPr>
        <p:txBody>
          <a:bodyPr wrap="none" lIns="0" tIns="0" rIns="0" bIns="0" rtlCol="0" anchor="ctr"/>
          <a:lstStyle/>
          <a:p>
            <a:pPr>
              <a:lnSpc>
                <a:spcPct val="100000"/>
              </a:lnSpc>
            </a:pPr>
            <a:r>
              <a:rPr lang="en-US" sz="1300" kern="0" spc="200" dirty="0">
                <a:solidFill>
                  <a:srgbClr val="C58940"/>
                </a:solidFill>
                <a:latin typeface="Quattrocento Sans" pitchFamily="34" charset="0"/>
                <a:ea typeface="Quattrocento Sans" pitchFamily="34" charset="-122"/>
                <a:cs typeface="Quattrocento Sans" pitchFamily="34" charset="-120"/>
              </a:rPr>
              <a:t>PROBABILITY</a:t>
            </a:r>
            <a:endParaRPr lang="en-US" sz="1600" dirty="0"/>
          </a:p>
        </p:txBody>
      </p:sp>
      <p:sp>
        <p:nvSpPr>
          <p:cNvPr id="22" name="Text 18"/>
          <p:cNvSpPr/>
          <p:nvPr/>
        </p:nvSpPr>
        <p:spPr>
          <a:xfrm>
            <a:off x="9144000" y="7011852"/>
            <a:ext cx="6350000" cy="355600"/>
          </a:xfrm>
          <a:prstGeom prst="rect">
            <a:avLst/>
          </a:prstGeom>
          <a:noFill/>
          <a:ln/>
        </p:spPr>
        <p:txBody>
          <a:bodyPr wrap="square" lIns="0" tIns="0" rIns="0" bIns="0" rtlCol="0" anchor="ctr"/>
          <a:lstStyle/>
          <a:p>
            <a:pPr>
              <a:lnSpc>
                <a:spcPct val="100000"/>
              </a:lnSpc>
            </a:pPr>
            <a:r>
              <a:rPr lang="en-US" sz="1400" b="1" dirty="0">
                <a:solidFill>
                  <a:srgbClr val="2D2D2D"/>
                </a:solidFill>
                <a:latin typeface="Quattrocento Sans" pitchFamily="34" charset="0"/>
                <a:ea typeface="Quattrocento Sans" pitchFamily="34" charset="-122"/>
                <a:cs typeface="Quattrocento Sans" pitchFamily="34" charset="-120"/>
              </a:rPr>
              <a:t>P(Delayed Delivery) = 0.67</a:t>
            </a:r>
            <a:r>
              <a:rPr lang="en-US" sz="1400" dirty="0">
                <a:solidFill>
                  <a:srgbClr val="2D2D2D"/>
                </a:solidFill>
                <a:latin typeface="Quattrocento Sans" pitchFamily="34" charset="0"/>
                <a:ea typeface="Quattrocento Sans" pitchFamily="34" charset="-122"/>
                <a:cs typeface="Quattrocento Sans" pitchFamily="34" charset="-120"/>
              </a:rPr>
              <a:t> | Approximately 67% of deliveries are delayed</a:t>
            </a:r>
            <a:endParaRPr lang="en-US" sz="1600" dirty="0"/>
          </a:p>
        </p:txBody>
      </p:sp>
      <p:sp>
        <p:nvSpPr>
          <p:cNvPr id="23" name="Text 19"/>
          <p:cNvSpPr/>
          <p:nvPr/>
        </p:nvSpPr>
        <p:spPr>
          <a:xfrm>
            <a:off x="2540000" y="7621452"/>
            <a:ext cx="13208000" cy="1270000"/>
          </a:xfrm>
          <a:prstGeom prst="rect">
            <a:avLst/>
          </a:prstGeom>
          <a:noFill/>
          <a:ln/>
        </p:spPr>
        <p:txBody>
          <a:bodyPr wrap="square" lIns="0" tIns="0" rIns="0" bIns="0" rtlCol="0" anchor="ct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Systemic issue:</a:t>
            </a:r>
            <a:r>
              <a:rPr lang="en-US" sz="1600" dirty="0">
                <a:solidFill>
                  <a:srgbClr val="2D2D2D"/>
                </a:solidFill>
                <a:latin typeface="Aptos" panose="020B0004020202020204" pitchFamily="34" charset="0"/>
                <a:ea typeface="QuattrocentoSans" pitchFamily="34" charset="-122"/>
                <a:cs typeface="QuattrocentoSans" pitchFamily="34" charset="-120"/>
              </a:rPr>
              <a:t> Consistent 66-67% delay rates across all regions point to broader logistics and fulfillment inefficiencies, not isolated regional problems.</a:t>
            </a:r>
            <a:endParaRPr lang="en-US"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Customer resilience:</a:t>
            </a:r>
            <a:r>
              <a:rPr lang="en-US" sz="1600" dirty="0">
                <a:solidFill>
                  <a:srgbClr val="2D2D2D"/>
                </a:solidFill>
                <a:latin typeface="Aptos" panose="020B0004020202020204" pitchFamily="34" charset="0"/>
                <a:ea typeface="QuattrocentoSans" pitchFamily="34" charset="-122"/>
                <a:cs typeface="QuattrocentoSans" pitchFamily="34" charset="-120"/>
              </a:rPr>
              <a:t> 21,000 of 27,000 reviews are 4-5 stars, showing that delivery delays do not significantly impact overall satisfaction.</a:t>
            </a:r>
            <a:endParaRPr lang="en-US"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Executive KPI Dashboard</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18</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Executive KPI Dashboard</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sp>
        <p:nvSpPr>
          <p:cNvPr id="16" name="Shape 14"/>
          <p:cNvSpPr/>
          <p:nvPr/>
        </p:nvSpPr>
        <p:spPr>
          <a:xfrm>
            <a:off x="2540000" y="1625600"/>
            <a:ext cx="2489200" cy="1778000"/>
          </a:xfrm>
          <a:prstGeom prst="rect">
            <a:avLst/>
          </a:prstGeom>
          <a:solidFill>
            <a:srgbClr val="0B3C3D"/>
          </a:solidFill>
          <a:ln/>
        </p:spPr>
        <p:txBody>
          <a:bodyPr/>
          <a:lstStyle/>
          <a:p>
            <a:endParaRPr lang="en-IN"/>
          </a:p>
        </p:txBody>
      </p:sp>
      <p:sp>
        <p:nvSpPr>
          <p:cNvPr id="17" name="Text 15"/>
          <p:cNvSpPr/>
          <p:nvPr/>
        </p:nvSpPr>
        <p:spPr>
          <a:xfrm>
            <a:off x="2540000" y="1701800"/>
            <a:ext cx="2489200" cy="254000"/>
          </a:xfrm>
          <a:prstGeom prst="rect">
            <a:avLst/>
          </a:prstGeom>
          <a:noFill/>
          <a:ln/>
        </p:spPr>
        <p:txBody>
          <a:bodyPr wrap="non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TOTAL REVENUE</a:t>
            </a:r>
            <a:endParaRPr lang="en-US" dirty="0"/>
          </a:p>
        </p:txBody>
      </p:sp>
      <p:sp>
        <p:nvSpPr>
          <p:cNvPr id="18" name="Text 16"/>
          <p:cNvSpPr/>
          <p:nvPr/>
        </p:nvSpPr>
        <p:spPr>
          <a:xfrm>
            <a:off x="2540000" y="2006600"/>
            <a:ext cx="2489200" cy="635000"/>
          </a:xfrm>
          <a:prstGeom prst="rect">
            <a:avLst/>
          </a:prstGeom>
          <a:noFill/>
          <a:ln/>
        </p:spPr>
        <p:txBody>
          <a:bodyPr wrap="none" lIns="0" tIns="0" rIns="0" bIns="0" rtlCol="0" anchor="ctr"/>
          <a:lstStyle/>
          <a:p>
            <a:pPr algn="ctr">
              <a:lnSpc>
                <a:spcPct val="100000"/>
              </a:lnSpc>
            </a:pPr>
            <a:r>
              <a:rPr lang="en-US" sz="4000" b="1" dirty="0">
                <a:solidFill>
                  <a:srgbClr val="FFFFFF"/>
                </a:solidFill>
                <a:latin typeface="Quattrocento Sans" pitchFamily="34" charset="0"/>
                <a:ea typeface="Quattrocento Sans" pitchFamily="34" charset="-122"/>
                <a:cs typeface="Quattrocento Sans" pitchFamily="34" charset="-120"/>
              </a:rPr>
              <a:t>1.18bn</a:t>
            </a:r>
            <a:endParaRPr lang="en-US" dirty="0"/>
          </a:p>
        </p:txBody>
      </p:sp>
      <p:sp>
        <p:nvSpPr>
          <p:cNvPr id="19" name="Text 17"/>
          <p:cNvSpPr/>
          <p:nvPr/>
        </p:nvSpPr>
        <p:spPr>
          <a:xfrm>
            <a:off x="2540000" y="2717800"/>
            <a:ext cx="2489200" cy="304800"/>
          </a:xfrm>
          <a:prstGeom prst="rect">
            <a:avLst/>
          </a:prstGeom>
          <a:noFill/>
          <a:ln/>
        </p:spPr>
        <p:txBody>
          <a:bodyPr wrap="squar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Across all categories</a:t>
            </a:r>
            <a:endParaRPr lang="en-US" dirty="0"/>
          </a:p>
        </p:txBody>
      </p:sp>
      <p:sp>
        <p:nvSpPr>
          <p:cNvPr id="20" name="Shape 18"/>
          <p:cNvSpPr/>
          <p:nvPr/>
        </p:nvSpPr>
        <p:spPr>
          <a:xfrm>
            <a:off x="5181600" y="1625600"/>
            <a:ext cx="2489200" cy="1778000"/>
          </a:xfrm>
          <a:prstGeom prst="rect">
            <a:avLst/>
          </a:prstGeom>
          <a:solidFill>
            <a:srgbClr val="1A5C5C"/>
          </a:solidFill>
          <a:ln/>
        </p:spPr>
        <p:txBody>
          <a:bodyPr/>
          <a:lstStyle/>
          <a:p>
            <a:endParaRPr lang="en-IN"/>
          </a:p>
        </p:txBody>
      </p:sp>
      <p:sp>
        <p:nvSpPr>
          <p:cNvPr id="21" name="Text 19"/>
          <p:cNvSpPr/>
          <p:nvPr/>
        </p:nvSpPr>
        <p:spPr>
          <a:xfrm>
            <a:off x="5181600" y="1701800"/>
            <a:ext cx="2489200" cy="254000"/>
          </a:xfrm>
          <a:prstGeom prst="rect">
            <a:avLst/>
          </a:prstGeom>
          <a:noFill/>
          <a:ln/>
        </p:spPr>
        <p:txBody>
          <a:bodyPr wrap="non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REPEAT PURCHASE RATE</a:t>
            </a:r>
            <a:endParaRPr lang="en-US" dirty="0"/>
          </a:p>
        </p:txBody>
      </p:sp>
      <p:sp>
        <p:nvSpPr>
          <p:cNvPr id="22" name="Text 20"/>
          <p:cNvSpPr/>
          <p:nvPr/>
        </p:nvSpPr>
        <p:spPr>
          <a:xfrm>
            <a:off x="5181600" y="2006600"/>
            <a:ext cx="2489200" cy="635000"/>
          </a:xfrm>
          <a:prstGeom prst="rect">
            <a:avLst/>
          </a:prstGeom>
          <a:noFill/>
          <a:ln/>
        </p:spPr>
        <p:txBody>
          <a:bodyPr wrap="none" lIns="0" tIns="0" rIns="0" bIns="0" rtlCol="0" anchor="ctr"/>
          <a:lstStyle/>
          <a:p>
            <a:pPr algn="ctr">
              <a:lnSpc>
                <a:spcPct val="100000"/>
              </a:lnSpc>
            </a:pPr>
            <a:r>
              <a:rPr lang="en-US" sz="4000" b="1" dirty="0">
                <a:solidFill>
                  <a:srgbClr val="FFFFFF"/>
                </a:solidFill>
                <a:latin typeface="Quattrocento Sans" pitchFamily="34" charset="0"/>
                <a:ea typeface="Quattrocento Sans" pitchFamily="34" charset="-122"/>
                <a:cs typeface="Quattrocento Sans" pitchFamily="34" charset="-120"/>
              </a:rPr>
              <a:t>50.44%</a:t>
            </a:r>
            <a:endParaRPr lang="en-US" dirty="0"/>
          </a:p>
        </p:txBody>
      </p:sp>
      <p:sp>
        <p:nvSpPr>
          <p:cNvPr id="23" name="Text 21"/>
          <p:cNvSpPr/>
          <p:nvPr/>
        </p:nvSpPr>
        <p:spPr>
          <a:xfrm>
            <a:off x="5181600" y="2717800"/>
            <a:ext cx="2489200" cy="304800"/>
          </a:xfrm>
          <a:prstGeom prst="rect">
            <a:avLst/>
          </a:prstGeom>
          <a:noFill/>
          <a:ln/>
        </p:spPr>
        <p:txBody>
          <a:bodyPr wrap="squar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Of total customers</a:t>
            </a:r>
            <a:endParaRPr lang="en-US" dirty="0"/>
          </a:p>
        </p:txBody>
      </p:sp>
      <p:sp>
        <p:nvSpPr>
          <p:cNvPr id="24" name="Shape 22"/>
          <p:cNvSpPr/>
          <p:nvPr/>
        </p:nvSpPr>
        <p:spPr>
          <a:xfrm>
            <a:off x="7823200" y="1625600"/>
            <a:ext cx="2489200" cy="1778000"/>
          </a:xfrm>
          <a:prstGeom prst="rect">
            <a:avLst/>
          </a:prstGeom>
          <a:solidFill>
            <a:srgbClr val="C58940"/>
          </a:solidFill>
          <a:ln/>
        </p:spPr>
        <p:txBody>
          <a:bodyPr/>
          <a:lstStyle/>
          <a:p>
            <a:endParaRPr lang="en-IN"/>
          </a:p>
        </p:txBody>
      </p:sp>
      <p:sp>
        <p:nvSpPr>
          <p:cNvPr id="25" name="Text 23"/>
          <p:cNvSpPr/>
          <p:nvPr/>
        </p:nvSpPr>
        <p:spPr>
          <a:xfrm>
            <a:off x="7823200" y="1701800"/>
            <a:ext cx="2489200" cy="254000"/>
          </a:xfrm>
          <a:prstGeom prst="rect">
            <a:avLst/>
          </a:prstGeom>
          <a:noFill/>
          <a:ln/>
        </p:spPr>
        <p:txBody>
          <a:bodyPr wrap="non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AVG ORDER VALUE</a:t>
            </a:r>
            <a:endParaRPr lang="en-US" dirty="0"/>
          </a:p>
        </p:txBody>
      </p:sp>
      <p:sp>
        <p:nvSpPr>
          <p:cNvPr id="26" name="Text 24"/>
          <p:cNvSpPr/>
          <p:nvPr/>
        </p:nvSpPr>
        <p:spPr>
          <a:xfrm>
            <a:off x="7823200" y="2006600"/>
            <a:ext cx="2489200" cy="635000"/>
          </a:xfrm>
          <a:prstGeom prst="rect">
            <a:avLst/>
          </a:prstGeom>
          <a:noFill/>
          <a:ln/>
        </p:spPr>
        <p:txBody>
          <a:bodyPr wrap="none" lIns="0" tIns="0" rIns="0" bIns="0" rtlCol="0" anchor="ctr"/>
          <a:lstStyle/>
          <a:p>
            <a:pPr algn="ctr">
              <a:lnSpc>
                <a:spcPct val="100000"/>
              </a:lnSpc>
            </a:pPr>
            <a:r>
              <a:rPr lang="en-US" sz="4000" b="1" dirty="0">
                <a:solidFill>
                  <a:srgbClr val="FFFFFF"/>
                </a:solidFill>
                <a:latin typeface="Quattrocento Sans" pitchFamily="34" charset="0"/>
                <a:ea typeface="Quattrocento Sans" pitchFamily="34" charset="-122"/>
                <a:cs typeface="Quattrocento Sans" pitchFamily="34" charset="-120"/>
              </a:rPr>
              <a:t>11.83k</a:t>
            </a:r>
            <a:endParaRPr lang="en-US" dirty="0"/>
          </a:p>
        </p:txBody>
      </p:sp>
      <p:sp>
        <p:nvSpPr>
          <p:cNvPr id="27" name="Text 25"/>
          <p:cNvSpPr/>
          <p:nvPr/>
        </p:nvSpPr>
        <p:spPr>
          <a:xfrm>
            <a:off x="7823200" y="2717800"/>
            <a:ext cx="2489200" cy="304800"/>
          </a:xfrm>
          <a:prstGeom prst="rect">
            <a:avLst/>
          </a:prstGeom>
          <a:noFill/>
          <a:ln/>
        </p:spPr>
        <p:txBody>
          <a:bodyPr wrap="squar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Per transaction</a:t>
            </a:r>
            <a:endParaRPr lang="en-US" dirty="0"/>
          </a:p>
        </p:txBody>
      </p:sp>
      <p:sp>
        <p:nvSpPr>
          <p:cNvPr id="28" name="Shape 26"/>
          <p:cNvSpPr/>
          <p:nvPr/>
        </p:nvSpPr>
        <p:spPr>
          <a:xfrm>
            <a:off x="10464800" y="1625600"/>
            <a:ext cx="2489200" cy="1778000"/>
          </a:xfrm>
          <a:prstGeom prst="rect">
            <a:avLst/>
          </a:prstGeom>
          <a:solidFill>
            <a:srgbClr val="1A7A7A"/>
          </a:solidFill>
          <a:ln/>
        </p:spPr>
        <p:txBody>
          <a:bodyPr/>
          <a:lstStyle/>
          <a:p>
            <a:endParaRPr lang="en-IN"/>
          </a:p>
        </p:txBody>
      </p:sp>
      <p:sp>
        <p:nvSpPr>
          <p:cNvPr id="29" name="Text 27"/>
          <p:cNvSpPr/>
          <p:nvPr/>
        </p:nvSpPr>
        <p:spPr>
          <a:xfrm>
            <a:off x="10464800" y="1701800"/>
            <a:ext cx="2489200" cy="254000"/>
          </a:xfrm>
          <a:prstGeom prst="rect">
            <a:avLst/>
          </a:prstGeom>
          <a:noFill/>
          <a:ln/>
        </p:spPr>
        <p:txBody>
          <a:bodyPr wrap="non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AVG REVIEW SCORE</a:t>
            </a:r>
            <a:endParaRPr lang="en-US" dirty="0"/>
          </a:p>
        </p:txBody>
      </p:sp>
      <p:sp>
        <p:nvSpPr>
          <p:cNvPr id="30" name="Text 28"/>
          <p:cNvSpPr/>
          <p:nvPr/>
        </p:nvSpPr>
        <p:spPr>
          <a:xfrm>
            <a:off x="10464800" y="2006600"/>
            <a:ext cx="2489200" cy="635000"/>
          </a:xfrm>
          <a:prstGeom prst="rect">
            <a:avLst/>
          </a:prstGeom>
          <a:noFill/>
          <a:ln/>
        </p:spPr>
        <p:txBody>
          <a:bodyPr wrap="none" lIns="0" tIns="0" rIns="0" bIns="0" rtlCol="0" anchor="ctr"/>
          <a:lstStyle/>
          <a:p>
            <a:pPr algn="ctr">
              <a:lnSpc>
                <a:spcPct val="100000"/>
              </a:lnSpc>
            </a:pPr>
            <a:r>
              <a:rPr lang="en-US" sz="4000" b="1" dirty="0">
                <a:solidFill>
                  <a:srgbClr val="FFFFFF"/>
                </a:solidFill>
                <a:latin typeface="Quattrocento Sans" pitchFamily="34" charset="0"/>
                <a:ea typeface="Quattrocento Sans" pitchFamily="34" charset="-122"/>
                <a:cs typeface="Quattrocento Sans" pitchFamily="34" charset="-120"/>
              </a:rPr>
              <a:t>4.09</a:t>
            </a:r>
            <a:endParaRPr lang="en-US" dirty="0"/>
          </a:p>
        </p:txBody>
      </p:sp>
      <p:sp>
        <p:nvSpPr>
          <p:cNvPr id="31" name="Text 29"/>
          <p:cNvSpPr/>
          <p:nvPr/>
        </p:nvSpPr>
        <p:spPr>
          <a:xfrm>
            <a:off x="10464800" y="2717800"/>
            <a:ext cx="2489200" cy="304800"/>
          </a:xfrm>
          <a:prstGeom prst="rect">
            <a:avLst/>
          </a:prstGeom>
          <a:noFill/>
          <a:ln/>
        </p:spPr>
        <p:txBody>
          <a:bodyPr wrap="squar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Out of 5 stars</a:t>
            </a:r>
            <a:endParaRPr lang="en-US" dirty="0"/>
          </a:p>
        </p:txBody>
      </p:sp>
      <p:sp>
        <p:nvSpPr>
          <p:cNvPr id="32" name="Shape 30"/>
          <p:cNvSpPr/>
          <p:nvPr/>
        </p:nvSpPr>
        <p:spPr>
          <a:xfrm>
            <a:off x="13106400" y="1625600"/>
            <a:ext cx="2641600" cy="1778000"/>
          </a:xfrm>
          <a:prstGeom prst="rect">
            <a:avLst/>
          </a:prstGeom>
          <a:solidFill>
            <a:srgbClr val="8B4513"/>
          </a:solidFill>
          <a:ln/>
        </p:spPr>
        <p:txBody>
          <a:bodyPr/>
          <a:lstStyle/>
          <a:p>
            <a:endParaRPr lang="en-IN"/>
          </a:p>
        </p:txBody>
      </p:sp>
      <p:sp>
        <p:nvSpPr>
          <p:cNvPr id="33" name="Text 31"/>
          <p:cNvSpPr/>
          <p:nvPr/>
        </p:nvSpPr>
        <p:spPr>
          <a:xfrm>
            <a:off x="13106400" y="1701800"/>
            <a:ext cx="2641600" cy="254000"/>
          </a:xfrm>
          <a:prstGeom prst="rect">
            <a:avLst/>
          </a:prstGeom>
          <a:noFill/>
          <a:ln/>
        </p:spPr>
        <p:txBody>
          <a:bodyPr wrap="non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LATE DELIVERY RATE</a:t>
            </a:r>
            <a:endParaRPr lang="en-US" dirty="0"/>
          </a:p>
        </p:txBody>
      </p:sp>
      <p:sp>
        <p:nvSpPr>
          <p:cNvPr id="34" name="Text 32"/>
          <p:cNvSpPr/>
          <p:nvPr/>
        </p:nvSpPr>
        <p:spPr>
          <a:xfrm>
            <a:off x="13106400" y="2006600"/>
            <a:ext cx="2641600" cy="635000"/>
          </a:xfrm>
          <a:prstGeom prst="rect">
            <a:avLst/>
          </a:prstGeom>
          <a:noFill/>
          <a:ln/>
        </p:spPr>
        <p:txBody>
          <a:bodyPr wrap="none" lIns="0" tIns="0" rIns="0" bIns="0" rtlCol="0" anchor="ctr"/>
          <a:lstStyle/>
          <a:p>
            <a:pPr algn="ctr">
              <a:lnSpc>
                <a:spcPct val="100000"/>
              </a:lnSpc>
            </a:pPr>
            <a:r>
              <a:rPr lang="en-US" sz="4000" b="1" dirty="0">
                <a:solidFill>
                  <a:srgbClr val="FFFFFF"/>
                </a:solidFill>
                <a:latin typeface="Quattrocento Sans" pitchFamily="34" charset="0"/>
                <a:ea typeface="Quattrocento Sans" pitchFamily="34" charset="-122"/>
                <a:cs typeface="Quattrocento Sans" pitchFamily="34" charset="-120"/>
              </a:rPr>
              <a:t>66.68%</a:t>
            </a:r>
            <a:endParaRPr lang="en-US" dirty="0"/>
          </a:p>
        </p:txBody>
      </p:sp>
      <p:sp>
        <p:nvSpPr>
          <p:cNvPr id="35" name="Text 33"/>
          <p:cNvSpPr/>
          <p:nvPr/>
        </p:nvSpPr>
        <p:spPr>
          <a:xfrm>
            <a:off x="13106400" y="2717800"/>
            <a:ext cx="2641600" cy="304800"/>
          </a:xfrm>
          <a:prstGeom prst="rect">
            <a:avLst/>
          </a:prstGeom>
          <a:noFill/>
          <a:ln/>
        </p:spPr>
        <p:txBody>
          <a:bodyPr wrap="square" lIns="0" tIns="0" rIns="0" bIns="0" rtlCol="0" anchor="ctr"/>
          <a:lstStyle/>
          <a:p>
            <a:pPr algn="ct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Requires attention</a:t>
            </a:r>
            <a:endParaRPr lang="en-US" dirty="0"/>
          </a:p>
        </p:txBody>
      </p:sp>
      <p:sp>
        <p:nvSpPr>
          <p:cNvPr id="36" name="Text 34"/>
          <p:cNvSpPr/>
          <p:nvPr/>
        </p:nvSpPr>
        <p:spPr>
          <a:xfrm>
            <a:off x="2540000" y="4597402"/>
            <a:ext cx="381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PERFORMANCE SUMMARY</a:t>
            </a:r>
            <a:endParaRPr lang="en-US" sz="1600" dirty="0"/>
          </a:p>
        </p:txBody>
      </p:sp>
      <p:sp>
        <p:nvSpPr>
          <p:cNvPr id="37" name="Text 35"/>
          <p:cNvSpPr/>
          <p:nvPr/>
        </p:nvSpPr>
        <p:spPr>
          <a:xfrm>
            <a:off x="2540000" y="4886961"/>
            <a:ext cx="6350000" cy="2286000"/>
          </a:xfrm>
          <a:prstGeom prst="rect">
            <a:avLst/>
          </a:prstGeom>
          <a:noFill/>
          <a:ln/>
        </p:spPr>
        <p:txBody>
          <a:bodyPr wrap="square" lIns="0" tIns="0" rIns="0" bIns="0" rtlCol="0" anchor="ctr"/>
          <a:lstStyle/>
          <a:p>
            <a:pPr>
              <a:lnSpc>
                <a:spcPct val="160000"/>
              </a:lnSpc>
            </a:pPr>
            <a:r>
              <a:rPr lang="en-US" sz="1600" b="1" dirty="0">
                <a:solidFill>
                  <a:srgbClr val="2D2D2D"/>
                </a:solidFill>
                <a:latin typeface="Aptos" panose="020B0004020202020204" pitchFamily="34" charset="0"/>
                <a:ea typeface="QuattrocentoSans" pitchFamily="34" charset="-122"/>
                <a:cs typeface="QuattrocentoSans" pitchFamily="34" charset="-120"/>
              </a:rPr>
              <a:t>Revenue strength:</a:t>
            </a:r>
            <a:r>
              <a:rPr lang="en-US" sz="1600" dirty="0">
                <a:solidFill>
                  <a:srgbClr val="2D2D2D"/>
                </a:solidFill>
                <a:latin typeface="Aptos" panose="020B0004020202020204" pitchFamily="34" charset="0"/>
                <a:ea typeface="QuattrocentoSans" pitchFamily="34" charset="-122"/>
                <a:cs typeface="QuattrocentoSans" pitchFamily="34" charset="-120"/>
              </a:rPr>
              <a:t> 1.18bn total revenue with strong average order values of 11.83k indicates strong commercial performance.</a:t>
            </a:r>
            <a:endParaRPr lang="en-US" dirty="0"/>
          </a:p>
          <a:p>
            <a:pPr>
              <a:lnSpc>
                <a:spcPct val="160000"/>
              </a:lnSpc>
              <a:spcBef>
                <a:spcPts val="600"/>
              </a:spcBef>
            </a:pPr>
            <a:r>
              <a:rPr lang="en-US" sz="1600" b="1" dirty="0">
                <a:solidFill>
                  <a:srgbClr val="2D2D2D"/>
                </a:solidFill>
                <a:latin typeface="Aptos" panose="020B0004020202020204" pitchFamily="34" charset="0"/>
                <a:ea typeface="QuattrocentoSans" pitchFamily="34" charset="-122"/>
                <a:cs typeface="QuattrocentoSans" pitchFamily="34" charset="-120"/>
              </a:rPr>
              <a:t>Retention indicator:</a:t>
            </a:r>
            <a:r>
              <a:rPr lang="en-US" sz="1600" dirty="0">
                <a:solidFill>
                  <a:srgbClr val="2D2D2D"/>
                </a:solidFill>
                <a:latin typeface="Aptos" panose="020B0004020202020204" pitchFamily="34" charset="0"/>
                <a:ea typeface="QuattrocentoSans" pitchFamily="34" charset="-122"/>
                <a:cs typeface="QuattrocentoSans" pitchFamily="34" charset="-120"/>
              </a:rPr>
              <a:t> 50.44% repeat purchase rate indicates strong customer retention and recurring purchase behavior.</a:t>
            </a:r>
            <a:endParaRPr lang="en-US" dirty="0"/>
          </a:p>
        </p:txBody>
      </p:sp>
      <p:sp>
        <p:nvSpPr>
          <p:cNvPr id="38" name="Text 36"/>
          <p:cNvSpPr/>
          <p:nvPr/>
        </p:nvSpPr>
        <p:spPr>
          <a:xfrm>
            <a:off x="9144000" y="4886961"/>
            <a:ext cx="6604000" cy="2286000"/>
          </a:xfrm>
          <a:prstGeom prst="rect">
            <a:avLst/>
          </a:prstGeom>
          <a:noFill/>
          <a:ln/>
        </p:spPr>
        <p:txBody>
          <a:bodyPr wrap="square" lIns="0" tIns="0" rIns="0" bIns="0" rtlCol="0" anchor="ctr"/>
          <a:lstStyle/>
          <a:p>
            <a:pPr>
              <a:lnSpc>
                <a:spcPct val="160000"/>
              </a:lnSpc>
            </a:pPr>
            <a:r>
              <a:rPr lang="en-US" sz="1600" b="1" dirty="0">
                <a:solidFill>
                  <a:srgbClr val="2D2D2D"/>
                </a:solidFill>
                <a:latin typeface="Aptos" panose="020B0004020202020204" pitchFamily="34" charset="0"/>
                <a:ea typeface="QuattrocentoSans" pitchFamily="34" charset="-122"/>
                <a:cs typeface="QuattrocentoSans" pitchFamily="34" charset="-120"/>
              </a:rPr>
              <a:t>Customer satisfaction:</a:t>
            </a:r>
            <a:r>
              <a:rPr lang="en-US" sz="1600" dirty="0">
                <a:solidFill>
                  <a:srgbClr val="2D2D2D"/>
                </a:solidFill>
                <a:latin typeface="Aptos" panose="020B0004020202020204" pitchFamily="34" charset="0"/>
                <a:ea typeface="QuattrocentoSans" pitchFamily="34" charset="-122"/>
                <a:cs typeface="QuattrocentoSans" pitchFamily="34" charset="-120"/>
              </a:rPr>
              <a:t> 4.09 average review score confirms positive customer experience despite operational challenges.</a:t>
            </a:r>
            <a:endParaRPr lang="en-US" dirty="0"/>
          </a:p>
          <a:p>
            <a:pPr>
              <a:lnSpc>
                <a:spcPct val="160000"/>
              </a:lnSpc>
              <a:spcBef>
                <a:spcPts val="600"/>
              </a:spcBef>
            </a:pPr>
            <a:r>
              <a:rPr lang="en-US" sz="1600" b="1" dirty="0">
                <a:solidFill>
                  <a:srgbClr val="2D2D2D"/>
                </a:solidFill>
                <a:latin typeface="Aptos" panose="020B0004020202020204" pitchFamily="34" charset="0"/>
                <a:ea typeface="QuattrocentoSans" pitchFamily="34" charset="-122"/>
                <a:cs typeface="QuattrocentoSans" pitchFamily="34" charset="-120"/>
              </a:rPr>
              <a:t>Operational risk:</a:t>
            </a:r>
            <a:r>
              <a:rPr lang="en-US" sz="1600" dirty="0">
                <a:solidFill>
                  <a:srgbClr val="2D2D2D"/>
                </a:solidFill>
                <a:latin typeface="Aptos" panose="020B0004020202020204" pitchFamily="34" charset="0"/>
                <a:ea typeface="QuattrocentoSans" pitchFamily="34" charset="-122"/>
                <a:cs typeface="QuattrocentoSans" pitchFamily="34" charset="-120"/>
              </a:rPr>
              <a:t> 66.68% late delivery rate is the most critical KPI requiring immediate operational intervention.</a:t>
            </a:r>
            <a:endParaRPr lang="en-US"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Inventory Analysis</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rPr>
              <a:t>20</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Limited edition and preorder inventory deliver highest profitability</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1806006954"/>
              </p:ext>
            </p:extLst>
          </p:nvPr>
        </p:nvGraphicFramePr>
        <p:xfrm>
          <a:off x="2539999" y="1523999"/>
          <a:ext cx="7779657" cy="4919617"/>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10541000" y="1524000"/>
            <a:ext cx="3175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INVENTORY INSIGHTS</a:t>
            </a:r>
            <a:endParaRPr lang="en-US" sz="1600" dirty="0"/>
          </a:p>
        </p:txBody>
      </p:sp>
      <p:sp>
        <p:nvSpPr>
          <p:cNvPr id="18" name="Text 15"/>
          <p:cNvSpPr/>
          <p:nvPr/>
        </p:nvSpPr>
        <p:spPr>
          <a:xfrm>
            <a:off x="10541000" y="1879599"/>
            <a:ext cx="5207000" cy="3436983"/>
          </a:xfrm>
          <a:prstGeom prst="rect">
            <a:avLst/>
          </a:prstGeom>
          <a:noFill/>
          <a:ln/>
        </p:spPr>
        <p:txBody>
          <a:bodyPr wrap="square" lIns="0" tIns="0" rIns="0" bIns="0" rtlCol="0" anchor="ct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Limited Edition and Preorder</a:t>
            </a:r>
            <a:r>
              <a:rPr lang="en-US" sz="1600" dirty="0">
                <a:solidFill>
                  <a:srgbClr val="2D2D2D"/>
                </a:solidFill>
                <a:latin typeface="Aptos" panose="020B0004020202020204" pitchFamily="34" charset="0"/>
                <a:ea typeface="QuattrocentoSans" pitchFamily="34" charset="-122"/>
                <a:cs typeface="QuattrocentoSans" pitchFamily="34" charset="-120"/>
              </a:rPr>
              <a:t> products generate the highest average profit margins across inventory categories.</a:t>
            </a:r>
            <a:endParaRPr lang="en-US" sz="1600"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Low-stock products</a:t>
            </a:r>
            <a:r>
              <a:rPr lang="en-US" sz="1600" dirty="0">
                <a:solidFill>
                  <a:srgbClr val="2D2D2D"/>
                </a:solidFill>
                <a:latin typeface="Aptos" panose="020B0004020202020204" pitchFamily="34" charset="0"/>
                <a:ea typeface="QuattrocentoSans" pitchFamily="34" charset="-122"/>
                <a:cs typeface="QuattrocentoSans" pitchFamily="34" charset="-120"/>
              </a:rPr>
              <a:t> show comparatively lower profitability, indicating possible inventory management inefficiencies.</a:t>
            </a:r>
            <a:endParaRPr lang="en-US" sz="1600"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Margin spread:</a:t>
            </a:r>
            <a:r>
              <a:rPr lang="en-US" sz="1600" dirty="0">
                <a:solidFill>
                  <a:srgbClr val="2D2D2D"/>
                </a:solidFill>
                <a:latin typeface="Aptos" panose="020B0004020202020204" pitchFamily="34" charset="0"/>
                <a:ea typeface="QuattrocentoSans" pitchFamily="34" charset="-122"/>
                <a:cs typeface="QuattrocentoSans" pitchFamily="34" charset="-120"/>
              </a:rPr>
              <a:t> 170-point difference between highest (Limited Edition: 750) and lowest (Low Stock: 580) indicates significant inventory strategy impact.</a:t>
            </a:r>
            <a:endParaRPr lang="en-US" sz="1600" dirty="0"/>
          </a:p>
        </p:txBody>
      </p:sp>
      <p:sp>
        <p:nvSpPr>
          <p:cNvPr id="19" name="Shape 16"/>
          <p:cNvSpPr/>
          <p:nvPr/>
        </p:nvSpPr>
        <p:spPr>
          <a:xfrm>
            <a:off x="2540000" y="6926217"/>
            <a:ext cx="13208000" cy="635000"/>
          </a:xfrm>
          <a:prstGeom prst="rect">
            <a:avLst/>
          </a:prstGeom>
          <a:solidFill>
            <a:srgbClr val="0B3C3D"/>
          </a:solidFill>
          <a:ln/>
        </p:spPr>
        <p:txBody>
          <a:bodyPr/>
          <a:lstStyle/>
          <a:p>
            <a:endParaRPr lang="en-IN"/>
          </a:p>
        </p:txBody>
      </p:sp>
      <p:sp>
        <p:nvSpPr>
          <p:cNvPr id="20" name="Text 17"/>
          <p:cNvSpPr/>
          <p:nvPr/>
        </p:nvSpPr>
        <p:spPr>
          <a:xfrm>
            <a:off x="2743200" y="6977017"/>
            <a:ext cx="12801600" cy="508000"/>
          </a:xfrm>
          <a:prstGeom prst="rect">
            <a:avLst/>
          </a:prstGeom>
          <a:noFill/>
          <a:ln/>
        </p:spPr>
        <p:txBody>
          <a:bodyPr wrap="squar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Recommendation:</a:t>
            </a:r>
            <a:r>
              <a:rPr lang="en-US" sz="1600" dirty="0">
                <a:solidFill>
                  <a:srgbClr val="FFFFFF"/>
                </a:solidFill>
                <a:latin typeface="Quattrocento Sans" pitchFamily="34" charset="0"/>
                <a:ea typeface="Quattrocento Sans" pitchFamily="34" charset="-122"/>
                <a:cs typeface="Quattrocento Sans" pitchFamily="34" charset="-120"/>
              </a:rPr>
              <a:t> Increase limited edition and preorder inventory focus.</a:t>
            </a:r>
            <a:endParaRPr lang="en-US" dirty="0"/>
          </a:p>
        </p:txBody>
      </p:sp>
      <p:sp>
        <p:nvSpPr>
          <p:cNvPr id="21" name="Text 18"/>
          <p:cNvSpPr/>
          <p:nvPr/>
        </p:nvSpPr>
        <p:spPr>
          <a:xfrm>
            <a:off x="2540000" y="7764417"/>
            <a:ext cx="13208000" cy="762000"/>
          </a:xfrm>
          <a:prstGeom prst="rect">
            <a:avLst/>
          </a:prstGeom>
          <a:noFill/>
          <a:ln/>
        </p:spPr>
        <p:txBody>
          <a:bodyPr wrap="square" lIns="0" tIns="0" rIns="0" bIns="0" rtlCol="0" anchor="ct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Operational insight:</a:t>
            </a:r>
            <a:r>
              <a:rPr lang="en-US" sz="1600" dirty="0">
                <a:solidFill>
                  <a:srgbClr val="2D2D2D"/>
                </a:solidFill>
                <a:latin typeface="Aptos" panose="020B0004020202020204" pitchFamily="34" charset="0"/>
                <a:ea typeface="QuattrocentoSans" pitchFamily="34" charset="-122"/>
                <a:cs typeface="QuattrocentoSans" pitchFamily="34" charset="-120"/>
              </a:rPr>
              <a:t> “Available on Demand” inventory outperforms “Low Stock” inventory profitability, indicating more effective inventory utilization.</a:t>
            </a:r>
            <a:endParaRPr lang="en-US"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21844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02 Business Analytics &gt; </a:t>
            </a:r>
            <a:r>
              <a:rPr lang="en-US" sz="2800" b="1" dirty="0">
                <a:solidFill>
                  <a:srgbClr val="0B3C3D"/>
                </a:solidFill>
                <a:latin typeface="Quattrocento Sans" pitchFamily="34" charset="0"/>
                <a:ea typeface="Quattrocento Sans" pitchFamily="34" charset="-122"/>
                <a:cs typeface="Quattrocento Sans" pitchFamily="34" charset="-120"/>
              </a:rPr>
              <a:t>Revenue Forecast</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21</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Revenue forecasting indicates stable future demand with recurring seasonal peak</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16" name="Chart 0"/>
          <p:cNvGraphicFramePr/>
          <p:nvPr>
            <p:extLst>
              <p:ext uri="{D42A27DB-BD31-4B8C-83A1-F6EECF244321}">
                <p14:modId xmlns:p14="http://schemas.microsoft.com/office/powerpoint/2010/main" val="3072901385"/>
              </p:ext>
            </p:extLst>
          </p:nvPr>
        </p:nvGraphicFramePr>
        <p:xfrm>
          <a:off x="2540000" y="1524000"/>
          <a:ext cx="13208000" cy="4759596"/>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2540000" y="6515468"/>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FORECAST INSIGHTS</a:t>
            </a:r>
            <a:endParaRPr lang="en-US" sz="1600" dirty="0"/>
          </a:p>
        </p:txBody>
      </p:sp>
      <p:sp>
        <p:nvSpPr>
          <p:cNvPr id="18" name="Text 15"/>
          <p:cNvSpPr/>
          <p:nvPr/>
        </p:nvSpPr>
        <p:spPr>
          <a:xfrm>
            <a:off x="2540000" y="7250619"/>
            <a:ext cx="13208000" cy="1270000"/>
          </a:xfrm>
          <a:prstGeom prst="rect">
            <a:avLst/>
          </a:prstGeom>
          <a:noFill/>
          <a:ln/>
        </p:spPr>
        <p:txBody>
          <a:bodyPr wrap="square" lIns="0" tIns="0" rIns="0" bIns="0" rtlCol="0" anchor="ct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Recurring Q4 revenue peaks </a:t>
            </a:r>
            <a:r>
              <a:rPr lang="en-US" sz="1600" dirty="0">
                <a:solidFill>
                  <a:srgbClr val="2D2D2D"/>
                </a:solidFill>
                <a:latin typeface="Aptos" panose="020B0004020202020204" pitchFamily="34" charset="0"/>
                <a:ea typeface="QuattrocentoSans" pitchFamily="34" charset="-122"/>
                <a:cs typeface="QuattrocentoSans" pitchFamily="34" charset="-120"/>
              </a:rPr>
              <a:t>suggest continued seasonal demand concentration during year-end periods. Forecast trends suggest continued seasonal revenue peaks during future Q4 periods.</a:t>
            </a:r>
          </a:p>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Increasing uncertainty:</a:t>
            </a:r>
            <a:r>
              <a:rPr lang="en-US" sz="1600" dirty="0">
                <a:solidFill>
                  <a:srgbClr val="2D2D2D"/>
                </a:solidFill>
                <a:latin typeface="Aptos" panose="020B0004020202020204" pitchFamily="34" charset="0"/>
                <a:ea typeface="QuattrocentoSans" pitchFamily="34" charset="-122"/>
                <a:cs typeface="QuattrocentoSans" pitchFamily="34" charset="-120"/>
              </a:rPr>
              <a:t> Forecast confidence decreases over longer horizons, reflecting changing market conditions.</a:t>
            </a:r>
            <a:endParaRPr lang="en-US" sz="1600" dirty="0"/>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Stable baseline:</a:t>
            </a:r>
            <a:r>
              <a:rPr lang="en-US" sz="1600" dirty="0">
                <a:solidFill>
                  <a:srgbClr val="2D2D2D"/>
                </a:solidFill>
                <a:latin typeface="Aptos" panose="020B0004020202020204" pitchFamily="34" charset="0"/>
                <a:ea typeface="QuattrocentoSans" pitchFamily="34" charset="-122"/>
                <a:cs typeface="QuattrocentoSans" pitchFamily="34" charset="-120"/>
              </a:rPr>
              <a:t> Non-peak quarters maintain 0.3-0.7M, indicating consistent underlying demand. Business planning should align with predictable seasonal cycles.</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B3C3D">
              <a:alpha val="3922"/>
            </a:srgbClr>
          </a:solidFill>
          <a:ln w="12700">
            <a:solidFill>
              <a:srgbClr val="0B3C3D">
                <a:alpha val="18824"/>
              </a:srgbClr>
            </a:solidFill>
            <a:prstDash val="solid"/>
          </a:ln>
        </p:spPr>
        <p:txBody>
          <a:bodyPr/>
          <a:lstStyle/>
          <a:p>
            <a:endParaRPr lang="en-IN"/>
          </a:p>
        </p:txBody>
      </p:sp>
      <p:sp>
        <p:nvSpPr>
          <p:cNvPr id="3" name="Shape 1"/>
          <p:cNvSpPr/>
          <p:nvPr/>
        </p:nvSpPr>
        <p:spPr>
          <a:xfrm>
            <a:off x="2540000" y="2286000"/>
            <a:ext cx="3810000" cy="3810000"/>
          </a:xfrm>
          <a:prstGeom prst="rect">
            <a:avLst/>
          </a:prstGeom>
          <a:solidFill>
            <a:srgbClr val="0B3C3D">
              <a:alpha val="3922"/>
            </a:srgbClr>
          </a:solidFill>
          <a:ln w="25400">
            <a:solidFill>
              <a:srgbClr val="0B3C3D">
                <a:alpha val="31373"/>
              </a:srgbClr>
            </a:solidFill>
            <a:prstDash val="solid"/>
          </a:ln>
        </p:spPr>
        <p:txBody>
          <a:bodyPr/>
          <a:lstStyle/>
          <a:p>
            <a:endParaRPr lang="en-IN"/>
          </a:p>
        </p:txBody>
      </p:sp>
      <p:sp>
        <p:nvSpPr>
          <p:cNvPr id="4" name="Shape 2"/>
          <p:cNvSpPr/>
          <p:nvPr/>
        </p:nvSpPr>
        <p:spPr>
          <a:xfrm>
            <a:off x="3048000" y="2794000"/>
            <a:ext cx="2794000" cy="2794000"/>
          </a:xfrm>
          <a:prstGeom prst="rect">
            <a:avLst/>
          </a:prstGeom>
          <a:solidFill>
            <a:srgbClr val="FFFFFF"/>
          </a:solidFill>
          <a:ln w="25400">
            <a:solidFill>
              <a:srgbClr val="0B3C3D"/>
            </a:solidFill>
            <a:prstDash val="solid"/>
          </a:ln>
        </p:spPr>
        <p:txBody>
          <a:bodyPr/>
          <a:lstStyle/>
          <a:p>
            <a:endParaRPr lang="en-IN"/>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00000"/>
              </a:lnSpc>
            </a:pPr>
            <a:r>
              <a:rPr lang="en-US" sz="8000" b="1" dirty="0">
                <a:solidFill>
                  <a:srgbClr val="0B3C3D"/>
                </a:solidFill>
                <a:latin typeface="Quattrocento Sans" pitchFamily="34" charset="0"/>
                <a:ea typeface="Quattrocento Sans" pitchFamily="34" charset="-122"/>
                <a:cs typeface="Quattrocento Sans" pitchFamily="34" charset="-120"/>
              </a:rPr>
              <a:t>03</a:t>
            </a:r>
            <a:endParaRPr lang="en-US" sz="1600" dirty="0"/>
          </a:p>
        </p:txBody>
      </p:sp>
      <p:sp>
        <p:nvSpPr>
          <p:cNvPr id="6" name="Shape 4"/>
          <p:cNvSpPr/>
          <p:nvPr/>
        </p:nvSpPr>
        <p:spPr>
          <a:xfrm>
            <a:off x="7620000" y="2794000"/>
            <a:ext cx="12700" cy="2794000"/>
          </a:xfrm>
          <a:prstGeom prst="rect">
            <a:avLst/>
          </a:prstGeom>
          <a:solidFill>
            <a:srgbClr val="B0BEC5"/>
          </a:solidFill>
          <a:ln/>
        </p:spPr>
        <p:txBody>
          <a:bodyPr/>
          <a:lstStyle/>
          <a:p>
            <a:endParaRPr lang="en-IN"/>
          </a:p>
        </p:txBody>
      </p:sp>
      <p:sp>
        <p:nvSpPr>
          <p:cNvPr id="7" name="Text 5"/>
          <p:cNvSpPr/>
          <p:nvPr/>
        </p:nvSpPr>
        <p:spPr>
          <a:xfrm>
            <a:off x="8128000" y="2921000"/>
            <a:ext cx="7112000" cy="304800"/>
          </a:xfrm>
          <a:prstGeom prst="rect">
            <a:avLst/>
          </a:prstGeom>
          <a:noFill/>
          <a:ln/>
        </p:spPr>
        <p:txBody>
          <a:bodyPr wrap="none" lIns="0" tIns="0" rIns="0" bIns="0" rtlCol="0" anchor="ctr"/>
          <a:lstStyle/>
          <a:p>
            <a:pPr>
              <a:lnSpc>
                <a:spcPct val="100000"/>
              </a:lnSpc>
            </a:pPr>
            <a:r>
              <a:rPr lang="en-US" sz="1400" kern="0" spc="400" dirty="0">
                <a:solidFill>
                  <a:srgbClr val="C58940"/>
                </a:solidFill>
                <a:latin typeface="Quattrocento Sans" pitchFamily="34" charset="0"/>
                <a:ea typeface="Quattrocento Sans" pitchFamily="34" charset="-122"/>
                <a:cs typeface="Quattrocento Sans" pitchFamily="34" charset="-120"/>
              </a:rPr>
              <a:t>CHAPTER THREE</a:t>
            </a:r>
            <a:endParaRPr lang="en-US" sz="16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nSpc>
                <a:spcPct val="100000"/>
              </a:lnSpc>
            </a:pPr>
            <a:r>
              <a:rPr lang="en-US" sz="3600" b="1" dirty="0">
                <a:solidFill>
                  <a:srgbClr val="0B3C3D"/>
                </a:solidFill>
                <a:latin typeface="Quattrocento Sans" pitchFamily="34" charset="0"/>
                <a:ea typeface="Quattrocento Sans" pitchFamily="34" charset="-122"/>
                <a:cs typeface="Quattrocento Sans" pitchFamily="34" charset="-120"/>
              </a:rPr>
              <a:t>Automation &amp; Database</a:t>
            </a:r>
            <a:endParaRPr lang="en-US" sz="1600" dirty="0"/>
          </a:p>
        </p:txBody>
      </p:sp>
      <p:sp>
        <p:nvSpPr>
          <p:cNvPr id="9" name="Text 7"/>
          <p:cNvSpPr/>
          <p:nvPr/>
        </p:nvSpPr>
        <p:spPr>
          <a:xfrm>
            <a:off x="8128000" y="4419600"/>
            <a:ext cx="7366000" cy="355600"/>
          </a:xfrm>
          <a:prstGeom prst="rect">
            <a:avLst/>
          </a:prstGeom>
          <a:noFill/>
          <a:ln/>
        </p:spPr>
        <p:txBody>
          <a:bodyPr wrap="none" lIns="0" tIns="0" rIns="0" bIns="0" rtlCol="0" anchor="ctr"/>
          <a:lstStyle/>
          <a:p>
            <a:pPr>
              <a:lnSpc>
                <a:spcPct val="100000"/>
              </a:lnSpc>
            </a:pPr>
            <a:r>
              <a:rPr lang="en-US" sz="1600" dirty="0">
                <a:solidFill>
                  <a:srgbClr val="8A8A8A"/>
                </a:solidFill>
                <a:latin typeface="Quattrocento Sans" pitchFamily="34" charset="0"/>
                <a:ea typeface="Quattrocento Sans" pitchFamily="34" charset="-122"/>
                <a:cs typeface="Quattrocento Sans" pitchFamily="34" charset="-120"/>
              </a:rPr>
              <a:t>SQL triggers, procedures, and views for operational intelligence</a:t>
            </a:r>
            <a:endParaRPr lang="en-US" sz="1600" dirty="0"/>
          </a:p>
        </p:txBody>
      </p:sp>
      <p:sp>
        <p:nvSpPr>
          <p:cNvPr id="10" name="Shape 8"/>
          <p:cNvSpPr/>
          <p:nvPr/>
        </p:nvSpPr>
        <p:spPr>
          <a:xfrm>
            <a:off x="8128000" y="5029200"/>
            <a:ext cx="2540000" cy="25400"/>
          </a:xfrm>
          <a:prstGeom prst="rect">
            <a:avLst/>
          </a:prstGeom>
          <a:solidFill>
            <a:srgbClr val="C58940"/>
          </a:solidFill>
          <a:ln/>
        </p:spPr>
        <p:txBody>
          <a:bodyPr/>
          <a:lstStyle/>
          <a:p>
            <a:endParaRPr lang="en-IN"/>
          </a:p>
        </p:txBody>
      </p:sp>
      <p:sp>
        <p:nvSpPr>
          <p:cNvPr id="11" name="Text 9"/>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0B3C3D"/>
                </a:solidFill>
                <a:latin typeface="Quattrocento Sans" pitchFamily="34" charset="0"/>
                <a:ea typeface="Quattrocento Sans" pitchFamily="34" charset="-122"/>
                <a:cs typeface="Quattrocento Sans" pitchFamily="34" charset="-120"/>
              </a:rPr>
              <a:t>22</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33528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700" b="1" dirty="0">
                <a:solidFill>
                  <a:srgbClr val="FFFFFF"/>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03 Automation &amp; Database &gt; </a:t>
            </a:r>
            <a:r>
              <a:rPr lang="en-US" sz="2800" b="1" dirty="0">
                <a:solidFill>
                  <a:srgbClr val="0B3C3D"/>
                </a:solidFill>
                <a:latin typeface="Quattrocento Sans" pitchFamily="34" charset="0"/>
                <a:ea typeface="Quattrocento Sans" pitchFamily="34" charset="-122"/>
                <a:cs typeface="Quattrocento Sans" pitchFamily="34" charset="-120"/>
              </a:rPr>
              <a:t>SQL Implementation</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23</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400" b="1" dirty="0">
                <a:solidFill>
                  <a:srgbClr val="0B3C3D"/>
                </a:solidFill>
                <a:latin typeface="Aptos" panose="020B0004020202020204" pitchFamily="34" charset="0"/>
                <a:ea typeface="QuattrocentoSans" pitchFamily="34" charset="-122"/>
                <a:cs typeface="QuattrocentoSans" pitchFamily="34" charset="-120"/>
              </a:rPr>
              <a:t>Automated triggers and procedures power real-time operational insights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sp>
        <p:nvSpPr>
          <p:cNvPr id="16" name="Text 14"/>
          <p:cNvSpPr/>
          <p:nvPr/>
        </p:nvSpPr>
        <p:spPr>
          <a:xfrm>
            <a:off x="2540000" y="1574800"/>
            <a:ext cx="6096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AUTOMATIONS IMPLEMENTED</a:t>
            </a:r>
            <a:endParaRPr lang="en-US" sz="1600" dirty="0"/>
          </a:p>
        </p:txBody>
      </p:sp>
      <p:sp>
        <p:nvSpPr>
          <p:cNvPr id="17" name="Shape 15"/>
          <p:cNvSpPr/>
          <p:nvPr/>
        </p:nvSpPr>
        <p:spPr>
          <a:xfrm>
            <a:off x="2540000" y="1930400"/>
            <a:ext cx="6350000" cy="1450800"/>
          </a:xfrm>
          <a:prstGeom prst="rect">
            <a:avLst/>
          </a:prstGeom>
          <a:solidFill>
            <a:srgbClr val="FFFFFF"/>
          </a:solidFill>
          <a:ln w="12700">
            <a:solidFill>
              <a:srgbClr val="B0BEC5"/>
            </a:solidFill>
            <a:prstDash val="solid"/>
          </a:ln>
        </p:spPr>
        <p:txBody>
          <a:bodyPr/>
          <a:lstStyle/>
          <a:p>
            <a:endParaRPr lang="en-IN"/>
          </a:p>
        </p:txBody>
      </p:sp>
      <p:sp>
        <p:nvSpPr>
          <p:cNvPr id="18" name="Text 16"/>
          <p:cNvSpPr/>
          <p:nvPr/>
        </p:nvSpPr>
        <p:spPr>
          <a:xfrm>
            <a:off x="2692400" y="1981200"/>
            <a:ext cx="6045200" cy="304800"/>
          </a:xfrm>
          <a:prstGeom prst="rect">
            <a:avLst/>
          </a:prstGeom>
          <a:noFill/>
          <a:ln/>
        </p:spPr>
        <p:txBody>
          <a:bodyPr wrap="none" lIns="0" tIns="0" rIns="0" bIns="0" rtlCol="0" anchor="ctr"/>
          <a:lstStyle/>
          <a:p>
            <a:pP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Trigger: update_customer_segment</a:t>
            </a:r>
            <a:endParaRPr lang="en-US" dirty="0"/>
          </a:p>
        </p:txBody>
      </p:sp>
      <p:sp>
        <p:nvSpPr>
          <p:cNvPr id="19" name="Text 17"/>
          <p:cNvSpPr/>
          <p:nvPr/>
        </p:nvSpPr>
        <p:spPr>
          <a:xfrm>
            <a:off x="2692400" y="2311400"/>
            <a:ext cx="6045200" cy="558800"/>
          </a:xfrm>
          <a:prstGeom prst="rect">
            <a:avLst/>
          </a:prstGeom>
          <a:noFill/>
          <a:ln/>
        </p:spPr>
        <p:txBody>
          <a:bodyPr wrap="square" lIns="0" tIns="0" rIns="0" bIns="0" rtlCol="0" anchor="ctr"/>
          <a:lstStyle/>
          <a:p>
            <a:pPr>
              <a:lnSpc>
                <a:spcPct val="140000"/>
              </a:lnSpc>
            </a:pPr>
            <a:r>
              <a:rPr lang="en-US" sz="1400" dirty="0">
                <a:solidFill>
                  <a:srgbClr val="2D2D2D"/>
                </a:solidFill>
                <a:latin typeface="Quattrocento Sans" pitchFamily="34" charset="0"/>
                <a:ea typeface="Quattrocento Sans" pitchFamily="34" charset="-122"/>
                <a:cs typeface="Quattrocento Sans" pitchFamily="34" charset="-120"/>
              </a:rPr>
              <a:t>Automatically classifies customers into New, Returning, and Loyal segments based on purchase history.</a:t>
            </a:r>
            <a:endParaRPr lang="en-US" dirty="0"/>
          </a:p>
        </p:txBody>
      </p:sp>
      <p:sp>
        <p:nvSpPr>
          <p:cNvPr id="20" name="Shape 18"/>
          <p:cNvSpPr/>
          <p:nvPr/>
        </p:nvSpPr>
        <p:spPr>
          <a:xfrm>
            <a:off x="2540000" y="3622770"/>
            <a:ext cx="6350000" cy="1449859"/>
          </a:xfrm>
          <a:prstGeom prst="rect">
            <a:avLst/>
          </a:prstGeom>
          <a:solidFill>
            <a:srgbClr val="FFFFFF"/>
          </a:solidFill>
          <a:ln w="12700">
            <a:solidFill>
              <a:srgbClr val="B0BEC5"/>
            </a:solidFill>
            <a:prstDash val="solid"/>
          </a:ln>
        </p:spPr>
        <p:txBody>
          <a:bodyPr/>
          <a:lstStyle/>
          <a:p>
            <a:endParaRPr lang="en-IN"/>
          </a:p>
        </p:txBody>
      </p:sp>
      <p:sp>
        <p:nvSpPr>
          <p:cNvPr id="21" name="Text 19"/>
          <p:cNvSpPr/>
          <p:nvPr/>
        </p:nvSpPr>
        <p:spPr>
          <a:xfrm>
            <a:off x="2692400" y="3673571"/>
            <a:ext cx="6045200" cy="304800"/>
          </a:xfrm>
          <a:prstGeom prst="rect">
            <a:avLst/>
          </a:prstGeom>
          <a:noFill/>
          <a:ln/>
        </p:spPr>
        <p:txBody>
          <a:bodyPr wrap="none" lIns="0" tIns="0" rIns="0" bIns="0" rtlCol="0" anchor="ctr"/>
          <a:lstStyle/>
          <a:p>
            <a:pP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Trigger: update_delivery_status</a:t>
            </a:r>
            <a:endParaRPr lang="en-US" dirty="0"/>
          </a:p>
        </p:txBody>
      </p:sp>
      <p:sp>
        <p:nvSpPr>
          <p:cNvPr id="22" name="Text 20"/>
          <p:cNvSpPr/>
          <p:nvPr/>
        </p:nvSpPr>
        <p:spPr>
          <a:xfrm>
            <a:off x="2692400" y="4003771"/>
            <a:ext cx="6045200" cy="558800"/>
          </a:xfrm>
          <a:prstGeom prst="rect">
            <a:avLst/>
          </a:prstGeom>
          <a:noFill/>
          <a:ln/>
        </p:spPr>
        <p:txBody>
          <a:bodyPr wrap="square" lIns="0" tIns="0" rIns="0" bIns="0" rtlCol="0" anchor="ctr"/>
          <a:lstStyle/>
          <a:p>
            <a:pPr>
              <a:lnSpc>
                <a:spcPct val="140000"/>
              </a:lnSpc>
            </a:pPr>
            <a:r>
              <a:rPr lang="en-US" sz="1400" dirty="0">
                <a:solidFill>
                  <a:srgbClr val="2D2D2D"/>
                </a:solidFill>
                <a:latin typeface="Quattrocento Sans" pitchFamily="34" charset="0"/>
                <a:ea typeface="Quattrocento Sans" pitchFamily="34" charset="-122"/>
                <a:cs typeface="Quattrocento Sans" pitchFamily="34" charset="-120"/>
              </a:rPr>
              <a:t>Flags orders as Delayed or On-Time using estimated vs actual delivery dates.</a:t>
            </a:r>
            <a:endParaRPr lang="en-US" dirty="0"/>
          </a:p>
        </p:txBody>
      </p:sp>
      <p:sp>
        <p:nvSpPr>
          <p:cNvPr id="23" name="Text 21"/>
          <p:cNvSpPr/>
          <p:nvPr/>
        </p:nvSpPr>
        <p:spPr>
          <a:xfrm>
            <a:off x="9144000" y="1574800"/>
            <a:ext cx="6604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PROCEDURES &amp; VIEWS</a:t>
            </a:r>
            <a:endParaRPr lang="en-US" sz="1600" dirty="0"/>
          </a:p>
        </p:txBody>
      </p:sp>
      <p:sp>
        <p:nvSpPr>
          <p:cNvPr id="24" name="Shape 22"/>
          <p:cNvSpPr/>
          <p:nvPr/>
        </p:nvSpPr>
        <p:spPr>
          <a:xfrm>
            <a:off x="9144000" y="1930400"/>
            <a:ext cx="6604000" cy="1450800"/>
          </a:xfrm>
          <a:prstGeom prst="rect">
            <a:avLst/>
          </a:prstGeom>
          <a:solidFill>
            <a:srgbClr val="FFFFFF"/>
          </a:solidFill>
          <a:ln w="12700">
            <a:solidFill>
              <a:srgbClr val="B0BEC5"/>
            </a:solidFill>
            <a:prstDash val="solid"/>
          </a:ln>
        </p:spPr>
        <p:txBody>
          <a:bodyPr/>
          <a:lstStyle/>
          <a:p>
            <a:endParaRPr lang="en-IN"/>
          </a:p>
        </p:txBody>
      </p:sp>
      <p:sp>
        <p:nvSpPr>
          <p:cNvPr id="25" name="Text 23"/>
          <p:cNvSpPr/>
          <p:nvPr/>
        </p:nvSpPr>
        <p:spPr>
          <a:xfrm>
            <a:off x="9296400" y="1981200"/>
            <a:ext cx="6299200" cy="304800"/>
          </a:xfrm>
          <a:prstGeom prst="rect">
            <a:avLst/>
          </a:prstGeom>
          <a:noFill/>
          <a:ln/>
        </p:spPr>
        <p:txBody>
          <a:bodyPr wrap="none" lIns="0" tIns="0" rIns="0" bIns="0" rtlCol="0" anchor="ctr"/>
          <a:lstStyle/>
          <a:p>
            <a:pP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Procedure: category_revenue()</a:t>
            </a:r>
            <a:endParaRPr lang="en-US" dirty="0"/>
          </a:p>
        </p:txBody>
      </p:sp>
      <p:sp>
        <p:nvSpPr>
          <p:cNvPr id="26" name="Text 24"/>
          <p:cNvSpPr/>
          <p:nvPr/>
        </p:nvSpPr>
        <p:spPr>
          <a:xfrm>
            <a:off x="9296400" y="2311400"/>
            <a:ext cx="6299200" cy="558800"/>
          </a:xfrm>
          <a:prstGeom prst="rect">
            <a:avLst/>
          </a:prstGeom>
          <a:noFill/>
          <a:ln/>
        </p:spPr>
        <p:txBody>
          <a:bodyPr wrap="square" lIns="0" tIns="0" rIns="0" bIns="0" rtlCol="0" anchor="ctr"/>
          <a:lstStyle/>
          <a:p>
            <a:pPr>
              <a:lnSpc>
                <a:spcPct val="140000"/>
              </a:lnSpc>
            </a:pPr>
            <a:r>
              <a:rPr lang="en-US" sz="1400" dirty="0">
                <a:solidFill>
                  <a:srgbClr val="2D2D2D"/>
                </a:solidFill>
                <a:latin typeface="Quattrocento Sans" pitchFamily="34" charset="0"/>
                <a:ea typeface="Quattrocento Sans" pitchFamily="34" charset="-122"/>
                <a:cs typeface="Quattrocento Sans" pitchFamily="34" charset="-120"/>
              </a:rPr>
              <a:t>Calculates category-wise revenue. Example: Furniture Decor -&gt; 125.5M revenue.</a:t>
            </a:r>
            <a:endParaRPr lang="en-US" dirty="0"/>
          </a:p>
        </p:txBody>
      </p:sp>
      <p:sp>
        <p:nvSpPr>
          <p:cNvPr id="27" name="Shape 25"/>
          <p:cNvSpPr/>
          <p:nvPr/>
        </p:nvSpPr>
        <p:spPr>
          <a:xfrm>
            <a:off x="9144000" y="3622771"/>
            <a:ext cx="6602400" cy="1450800"/>
          </a:xfrm>
          <a:prstGeom prst="rect">
            <a:avLst/>
          </a:prstGeom>
          <a:solidFill>
            <a:srgbClr val="FFFFFF"/>
          </a:solidFill>
          <a:ln w="12700">
            <a:solidFill>
              <a:srgbClr val="B0BEC5"/>
            </a:solidFill>
            <a:prstDash val="solid"/>
          </a:ln>
        </p:spPr>
        <p:txBody>
          <a:bodyPr/>
          <a:lstStyle/>
          <a:p>
            <a:endParaRPr lang="en-IN"/>
          </a:p>
        </p:txBody>
      </p:sp>
      <p:sp>
        <p:nvSpPr>
          <p:cNvPr id="28" name="Text 26"/>
          <p:cNvSpPr/>
          <p:nvPr/>
        </p:nvSpPr>
        <p:spPr>
          <a:xfrm>
            <a:off x="9296400" y="3673571"/>
            <a:ext cx="6299200" cy="304800"/>
          </a:xfrm>
          <a:prstGeom prst="rect">
            <a:avLst/>
          </a:prstGeom>
          <a:noFill/>
          <a:ln/>
        </p:spPr>
        <p:txBody>
          <a:bodyPr wrap="none" lIns="0" tIns="0" rIns="0" bIns="0" rtlCol="0" anchor="ctr"/>
          <a:lstStyle/>
          <a:p>
            <a:pP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Procedure: repeat_purchase_summary()</a:t>
            </a:r>
            <a:endParaRPr lang="en-US" dirty="0"/>
          </a:p>
        </p:txBody>
      </p:sp>
      <p:sp>
        <p:nvSpPr>
          <p:cNvPr id="29" name="Text 27"/>
          <p:cNvSpPr/>
          <p:nvPr/>
        </p:nvSpPr>
        <p:spPr>
          <a:xfrm>
            <a:off x="9296400" y="4003771"/>
            <a:ext cx="6299200" cy="558800"/>
          </a:xfrm>
          <a:prstGeom prst="rect">
            <a:avLst/>
          </a:prstGeom>
          <a:noFill/>
          <a:ln/>
        </p:spPr>
        <p:txBody>
          <a:bodyPr wrap="square" lIns="0" tIns="0" rIns="0" bIns="0" rtlCol="0" anchor="ctr"/>
          <a:lstStyle/>
          <a:p>
            <a:pPr>
              <a:lnSpc>
                <a:spcPct val="140000"/>
              </a:lnSpc>
            </a:pPr>
            <a:r>
              <a:rPr lang="en-US" sz="1400" dirty="0">
                <a:solidFill>
                  <a:srgbClr val="2D2D2D"/>
                </a:solidFill>
                <a:latin typeface="Quattrocento Sans" pitchFamily="34" charset="0"/>
                <a:ea typeface="Quattrocento Sans" pitchFamily="34" charset="-122"/>
                <a:cs typeface="Quattrocento Sans" pitchFamily="34" charset="-120"/>
              </a:rPr>
              <a:t>Analyzes repeat customers and spending: Loyal 6,083 (7,758 avg), New 20,763 (7,984 avg), Returning 14,573 (7,801 avg).</a:t>
            </a:r>
            <a:endParaRPr lang="en-US" dirty="0"/>
          </a:p>
        </p:txBody>
      </p:sp>
      <p:sp>
        <p:nvSpPr>
          <p:cNvPr id="30" name="Text 28"/>
          <p:cNvSpPr/>
          <p:nvPr/>
        </p:nvSpPr>
        <p:spPr>
          <a:xfrm>
            <a:off x="2540000" y="5615463"/>
            <a:ext cx="381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VIEWS IMPLEMENTED</a:t>
            </a:r>
            <a:endParaRPr lang="en-US" sz="1600" dirty="0"/>
          </a:p>
        </p:txBody>
      </p:sp>
      <p:sp>
        <p:nvSpPr>
          <p:cNvPr id="31" name="Shape 29"/>
          <p:cNvSpPr/>
          <p:nvPr/>
        </p:nvSpPr>
        <p:spPr>
          <a:xfrm>
            <a:off x="2540000" y="6144062"/>
            <a:ext cx="6350000" cy="635000"/>
          </a:xfrm>
          <a:prstGeom prst="rect">
            <a:avLst/>
          </a:prstGeom>
          <a:solidFill>
            <a:srgbClr val="0B3C3D"/>
          </a:solidFill>
          <a:ln/>
        </p:spPr>
        <p:txBody>
          <a:bodyPr/>
          <a:lstStyle/>
          <a:p>
            <a:endParaRPr lang="en-IN"/>
          </a:p>
        </p:txBody>
      </p:sp>
      <p:sp>
        <p:nvSpPr>
          <p:cNvPr id="32" name="Text 30"/>
          <p:cNvSpPr/>
          <p:nvPr/>
        </p:nvSpPr>
        <p:spPr>
          <a:xfrm>
            <a:off x="2692400" y="6283762"/>
            <a:ext cx="6045200" cy="304800"/>
          </a:xfrm>
          <a:prstGeom prst="rect">
            <a:avLst/>
          </a:prstGeom>
          <a:noFill/>
          <a:ln/>
        </p:spPr>
        <p:txBody>
          <a:bodyPr wrap="squar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customer_purchase_summary</a:t>
            </a:r>
            <a:r>
              <a:rPr lang="en-US" sz="1600" dirty="0">
                <a:solidFill>
                  <a:srgbClr val="FFFFFF"/>
                </a:solidFill>
                <a:latin typeface="Quattrocento Sans" pitchFamily="34" charset="0"/>
                <a:ea typeface="Quattrocento Sans" pitchFamily="34" charset="-122"/>
                <a:cs typeface="Quattrocento Sans" pitchFamily="34" charset="-120"/>
              </a:rPr>
              <a:t> -&gt; AOV &amp; spending insights across segments</a:t>
            </a:r>
            <a:endParaRPr lang="en-US" sz="2000" dirty="0"/>
          </a:p>
        </p:txBody>
      </p:sp>
      <p:sp>
        <p:nvSpPr>
          <p:cNvPr id="33" name="Shape 31"/>
          <p:cNvSpPr/>
          <p:nvPr/>
        </p:nvSpPr>
        <p:spPr>
          <a:xfrm>
            <a:off x="9144000" y="6144062"/>
            <a:ext cx="6604000" cy="635000"/>
          </a:xfrm>
          <a:prstGeom prst="rect">
            <a:avLst/>
          </a:prstGeom>
          <a:solidFill>
            <a:srgbClr val="1A5C5C"/>
          </a:solidFill>
          <a:ln/>
        </p:spPr>
        <p:txBody>
          <a:bodyPr/>
          <a:lstStyle/>
          <a:p>
            <a:endParaRPr lang="en-IN"/>
          </a:p>
        </p:txBody>
      </p:sp>
      <p:sp>
        <p:nvSpPr>
          <p:cNvPr id="34" name="Text 32"/>
          <p:cNvSpPr/>
          <p:nvPr/>
        </p:nvSpPr>
        <p:spPr>
          <a:xfrm>
            <a:off x="9296400" y="6169462"/>
            <a:ext cx="6299200" cy="304800"/>
          </a:xfrm>
          <a:prstGeom prst="rect">
            <a:avLst/>
          </a:prstGeom>
          <a:noFill/>
          <a:ln/>
        </p:spPr>
        <p:txBody>
          <a:bodyPr wrap="square" lIns="0" tIns="0" rIns="0" bIns="0" rtlCol="0" anchor="ctr" anchorCtr="0"/>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delivery_performance</a:t>
            </a:r>
            <a:r>
              <a:rPr lang="en-US" sz="1600" dirty="0">
                <a:solidFill>
                  <a:srgbClr val="FFFFFF"/>
                </a:solidFill>
                <a:latin typeface="Quattrocento Sans" pitchFamily="34" charset="0"/>
                <a:ea typeface="Quattrocento Sans" pitchFamily="34" charset="-122"/>
                <a:cs typeface="Quattrocento Sans" pitchFamily="34" charset="-120"/>
              </a:rPr>
              <a:t> -&gt; Regional delivery analytics and delay tracking</a:t>
            </a:r>
            <a:endParaRPr lang="en-US" sz="2000" dirty="0"/>
          </a:p>
        </p:txBody>
      </p:sp>
      <p:sp>
        <p:nvSpPr>
          <p:cNvPr id="35" name="Text 33"/>
          <p:cNvSpPr/>
          <p:nvPr/>
        </p:nvSpPr>
        <p:spPr>
          <a:xfrm>
            <a:off x="2540000" y="7058462"/>
            <a:ext cx="13208000" cy="1016000"/>
          </a:xfrm>
          <a:prstGeom prst="rect">
            <a:avLst/>
          </a:prstGeom>
          <a:noFill/>
          <a:ln/>
        </p:spPr>
        <p:txBody>
          <a:bodyPr wrap="square" lIns="0" tIns="0" rIns="0" bIns="0" rtlCol="0" anchor="ct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Operational impact:</a:t>
            </a:r>
            <a:r>
              <a:rPr lang="en-US" sz="1600" dirty="0">
                <a:solidFill>
                  <a:srgbClr val="2D2D2D"/>
                </a:solidFill>
                <a:latin typeface="Aptos" panose="020B0004020202020204" pitchFamily="34" charset="0"/>
                <a:ea typeface="QuattrocentoSans" pitchFamily="34" charset="-122"/>
                <a:cs typeface="QuattrocentoSans" pitchFamily="34" charset="-120"/>
              </a:rPr>
              <a:t> Automated segmentation and delivery tracking enable real-time decision-making without manual data processing. Category and loyalty procedures provide on-demand analytical insights.</a:t>
            </a:r>
            <a:endParaRPr lang="en-US"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B3C3D">
              <a:alpha val="3922"/>
            </a:srgbClr>
          </a:solidFill>
          <a:ln w="12700">
            <a:solidFill>
              <a:srgbClr val="0B3C3D">
                <a:alpha val="18824"/>
              </a:srgbClr>
            </a:solidFill>
            <a:prstDash val="solid"/>
          </a:ln>
        </p:spPr>
        <p:txBody>
          <a:bodyPr/>
          <a:lstStyle/>
          <a:p>
            <a:endParaRPr lang="en-IN"/>
          </a:p>
        </p:txBody>
      </p:sp>
      <p:sp>
        <p:nvSpPr>
          <p:cNvPr id="3" name="Shape 1"/>
          <p:cNvSpPr/>
          <p:nvPr/>
        </p:nvSpPr>
        <p:spPr>
          <a:xfrm>
            <a:off x="2540000" y="2286000"/>
            <a:ext cx="3810000" cy="3810000"/>
          </a:xfrm>
          <a:prstGeom prst="rect">
            <a:avLst/>
          </a:prstGeom>
          <a:solidFill>
            <a:srgbClr val="0B3C3D">
              <a:alpha val="3922"/>
            </a:srgbClr>
          </a:solidFill>
          <a:ln w="25400">
            <a:solidFill>
              <a:srgbClr val="0B3C3D">
                <a:alpha val="31373"/>
              </a:srgbClr>
            </a:solidFill>
            <a:prstDash val="solid"/>
          </a:ln>
        </p:spPr>
        <p:txBody>
          <a:bodyPr/>
          <a:lstStyle/>
          <a:p>
            <a:endParaRPr lang="en-IN"/>
          </a:p>
        </p:txBody>
      </p:sp>
      <p:sp>
        <p:nvSpPr>
          <p:cNvPr id="4" name="Shape 2"/>
          <p:cNvSpPr/>
          <p:nvPr/>
        </p:nvSpPr>
        <p:spPr>
          <a:xfrm>
            <a:off x="3048000" y="2794000"/>
            <a:ext cx="2794000" cy="2794000"/>
          </a:xfrm>
          <a:prstGeom prst="rect">
            <a:avLst/>
          </a:prstGeom>
          <a:solidFill>
            <a:srgbClr val="FFFFFF"/>
          </a:solidFill>
          <a:ln w="25400">
            <a:solidFill>
              <a:srgbClr val="0B3C3D"/>
            </a:solidFill>
            <a:prstDash val="solid"/>
          </a:ln>
        </p:spPr>
        <p:txBody>
          <a:bodyPr/>
          <a:lstStyle/>
          <a:p>
            <a:endParaRPr lang="en-IN"/>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00000"/>
              </a:lnSpc>
            </a:pPr>
            <a:r>
              <a:rPr lang="en-US" sz="8000" b="1" dirty="0">
                <a:solidFill>
                  <a:srgbClr val="0B3C3D"/>
                </a:solidFill>
                <a:latin typeface="Quattrocento Sans" pitchFamily="34" charset="0"/>
                <a:ea typeface="Quattrocento Sans" pitchFamily="34" charset="-122"/>
                <a:cs typeface="Quattrocento Sans" pitchFamily="34" charset="-120"/>
              </a:rPr>
              <a:t>04</a:t>
            </a:r>
            <a:endParaRPr lang="en-US" sz="1600" dirty="0"/>
          </a:p>
        </p:txBody>
      </p:sp>
      <p:sp>
        <p:nvSpPr>
          <p:cNvPr id="6" name="Shape 4"/>
          <p:cNvSpPr/>
          <p:nvPr/>
        </p:nvSpPr>
        <p:spPr>
          <a:xfrm>
            <a:off x="7620000" y="2794000"/>
            <a:ext cx="12700" cy="2794000"/>
          </a:xfrm>
          <a:prstGeom prst="rect">
            <a:avLst/>
          </a:prstGeom>
          <a:solidFill>
            <a:srgbClr val="B0BEC5"/>
          </a:solidFill>
          <a:ln/>
        </p:spPr>
        <p:txBody>
          <a:bodyPr/>
          <a:lstStyle/>
          <a:p>
            <a:endParaRPr lang="en-IN"/>
          </a:p>
        </p:txBody>
      </p:sp>
      <p:sp>
        <p:nvSpPr>
          <p:cNvPr id="7" name="Text 5"/>
          <p:cNvSpPr/>
          <p:nvPr/>
        </p:nvSpPr>
        <p:spPr>
          <a:xfrm>
            <a:off x="8128000" y="2921000"/>
            <a:ext cx="7112000" cy="304800"/>
          </a:xfrm>
          <a:prstGeom prst="rect">
            <a:avLst/>
          </a:prstGeom>
          <a:noFill/>
          <a:ln/>
        </p:spPr>
        <p:txBody>
          <a:bodyPr wrap="none" lIns="0" tIns="0" rIns="0" bIns="0" rtlCol="0" anchor="ctr"/>
          <a:lstStyle/>
          <a:p>
            <a:pPr>
              <a:lnSpc>
                <a:spcPct val="100000"/>
              </a:lnSpc>
            </a:pPr>
            <a:r>
              <a:rPr lang="en-US" sz="1400" kern="0" spc="400" dirty="0">
                <a:solidFill>
                  <a:srgbClr val="C58940"/>
                </a:solidFill>
                <a:latin typeface="Quattrocento Sans" pitchFamily="34" charset="0"/>
                <a:ea typeface="Quattrocento Sans" pitchFamily="34" charset="-122"/>
                <a:cs typeface="Quattrocento Sans" pitchFamily="34" charset="-120"/>
              </a:rPr>
              <a:t>CHAPTER FOUR</a:t>
            </a:r>
            <a:endParaRPr lang="en-US" sz="16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nSpc>
                <a:spcPct val="100000"/>
              </a:lnSpc>
            </a:pPr>
            <a:r>
              <a:rPr lang="en-US" sz="3600" b="1" dirty="0">
                <a:solidFill>
                  <a:srgbClr val="0B3C3D"/>
                </a:solidFill>
                <a:latin typeface="Quattrocento Sans" pitchFamily="34" charset="0"/>
                <a:ea typeface="Quattrocento Sans" pitchFamily="34" charset="-122"/>
                <a:cs typeface="Quattrocento Sans" pitchFamily="34" charset="-120"/>
              </a:rPr>
              <a:t>Machine Learning</a:t>
            </a:r>
            <a:endParaRPr lang="en-US" sz="1600" dirty="0"/>
          </a:p>
        </p:txBody>
      </p:sp>
      <p:sp>
        <p:nvSpPr>
          <p:cNvPr id="9" name="Text 7"/>
          <p:cNvSpPr/>
          <p:nvPr/>
        </p:nvSpPr>
        <p:spPr>
          <a:xfrm>
            <a:off x="8128000" y="4419600"/>
            <a:ext cx="7366000" cy="355600"/>
          </a:xfrm>
          <a:prstGeom prst="rect">
            <a:avLst/>
          </a:prstGeom>
          <a:noFill/>
          <a:ln/>
        </p:spPr>
        <p:txBody>
          <a:bodyPr wrap="none" lIns="0" tIns="0" rIns="0" bIns="0" rtlCol="0" anchor="ctr"/>
          <a:lstStyle/>
          <a:p>
            <a:pPr>
              <a:lnSpc>
                <a:spcPct val="100000"/>
              </a:lnSpc>
            </a:pPr>
            <a:r>
              <a:rPr lang="en-US" sz="1600" dirty="0">
                <a:solidFill>
                  <a:srgbClr val="8A8A8A"/>
                </a:solidFill>
                <a:latin typeface="Quattrocento Sans" pitchFamily="34" charset="0"/>
                <a:ea typeface="Quattrocento Sans" pitchFamily="34" charset="-122"/>
                <a:cs typeface="Quattrocento Sans" pitchFamily="34" charset="-120"/>
              </a:rPr>
              <a:t>Regression, classification, and clustering model evaluation</a:t>
            </a:r>
            <a:endParaRPr lang="en-US" sz="1600" dirty="0"/>
          </a:p>
        </p:txBody>
      </p:sp>
      <p:sp>
        <p:nvSpPr>
          <p:cNvPr id="10" name="Shape 8"/>
          <p:cNvSpPr/>
          <p:nvPr/>
        </p:nvSpPr>
        <p:spPr>
          <a:xfrm>
            <a:off x="8128000" y="5029200"/>
            <a:ext cx="2540000" cy="25400"/>
          </a:xfrm>
          <a:prstGeom prst="rect">
            <a:avLst/>
          </a:prstGeom>
          <a:solidFill>
            <a:srgbClr val="C58940"/>
          </a:solidFill>
          <a:ln/>
        </p:spPr>
        <p:txBody>
          <a:bodyPr/>
          <a:lstStyle/>
          <a:p>
            <a:endParaRPr lang="en-IN"/>
          </a:p>
        </p:txBody>
      </p:sp>
      <p:sp>
        <p:nvSpPr>
          <p:cNvPr id="11" name="Text 9"/>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0B3C3D"/>
                </a:solidFill>
                <a:latin typeface="Quattrocento Sans" pitchFamily="34" charset="0"/>
                <a:ea typeface="Quattrocento Sans" pitchFamily="34" charset="-122"/>
                <a:cs typeface="Quattrocento Sans" pitchFamily="34" charset="-120"/>
              </a:rPr>
              <a:t>24</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45212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04 Machine Learning &gt; </a:t>
            </a:r>
            <a:r>
              <a:rPr lang="en-US" sz="2800" b="1" dirty="0">
                <a:solidFill>
                  <a:srgbClr val="0B3C3D"/>
                </a:solidFill>
                <a:latin typeface="Quattrocento Sans" pitchFamily="34" charset="0"/>
                <a:ea typeface="Quattrocento Sans" pitchFamily="34" charset="-122"/>
                <a:cs typeface="Quattrocento Sans" pitchFamily="34" charset="-120"/>
              </a:rPr>
              <a:t>Regression Models</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25</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Regression models show weak predictive power</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25" name="Table 0"/>
          <p:cNvGraphicFramePr>
            <a:graphicFrameLocks noGrp="1"/>
          </p:cNvGraphicFramePr>
          <p:nvPr>
            <p:extLst>
              <p:ext uri="{D42A27DB-BD31-4B8C-83A1-F6EECF244321}">
                <p14:modId xmlns:p14="http://schemas.microsoft.com/office/powerpoint/2010/main" val="597137088"/>
              </p:ext>
            </p:extLst>
          </p:nvPr>
        </p:nvGraphicFramePr>
        <p:xfrm>
          <a:off x="2540000" y="1641567"/>
          <a:ext cx="13208000" cy="3740695"/>
        </p:xfrm>
        <a:graphic>
          <a:graphicData uri="http://schemas.openxmlformats.org/drawingml/2006/table">
            <a:tbl>
              <a:tblPr/>
              <a:tblGrid>
                <a:gridCol w="2905760">
                  <a:extLst>
                    <a:ext uri="{9D8B030D-6E8A-4147-A177-3AD203B41FA5}">
                      <a16:colId xmlns:a16="http://schemas.microsoft.com/office/drawing/2014/main" val="20000"/>
                    </a:ext>
                  </a:extLst>
                </a:gridCol>
                <a:gridCol w="29057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5811520">
                  <a:extLst>
                    <a:ext uri="{9D8B030D-6E8A-4147-A177-3AD203B41FA5}">
                      <a16:colId xmlns:a16="http://schemas.microsoft.com/office/drawing/2014/main" val="20003"/>
                    </a:ext>
                  </a:extLst>
                </a:gridCol>
              </a:tblGrid>
              <a:tr h="748139">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Model</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Target</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R2 Score</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Observation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extLst>
                  <a:ext uri="{0D108BD9-81ED-4DB2-BD59-A6C34878D82A}">
                    <a16:rowId xmlns:a16="http://schemas.microsoft.com/office/drawing/2014/main" val="10000"/>
                  </a:ext>
                </a:extLst>
              </a:tr>
              <a:tr h="748139">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Multiple Linear Regression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Shipping Cost</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0.324 </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Operational variables show limited explanatory power for shipping cost prediction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8139">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KNN Regressor</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Shipping Cost</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0.459</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Shipping cost exhibits some predictable patterns, though substantial variation remains unexplained.</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extLst>
                  <a:ext uri="{0D108BD9-81ED-4DB2-BD59-A6C34878D82A}">
                    <a16:rowId xmlns:a16="http://schemas.microsoft.com/office/drawing/2014/main" val="10002"/>
                  </a:ext>
                </a:extLst>
              </a:tr>
              <a:tr h="748139">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Multiple Linear Regression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Delivery Days</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-0.000</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No meaningful linear relationship identified — Delivery days could not be reliably predicted using the available business variables.</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8139">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KNN Regressor</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Delivery Days</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-0.199</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Non-linear model performed worse, confirming delivery behavior is not pattern-driven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extLst>
                  <a:ext uri="{0D108BD9-81ED-4DB2-BD59-A6C34878D82A}">
                    <a16:rowId xmlns:a16="http://schemas.microsoft.com/office/drawing/2014/main" val="10004"/>
                  </a:ext>
                </a:extLst>
              </a:tr>
            </a:tbl>
          </a:graphicData>
        </a:graphic>
      </p:graphicFrame>
      <p:sp>
        <p:nvSpPr>
          <p:cNvPr id="17" name="Text 14"/>
          <p:cNvSpPr/>
          <p:nvPr/>
        </p:nvSpPr>
        <p:spPr>
          <a:xfrm>
            <a:off x="2540000" y="5619982"/>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FEATURES USED</a:t>
            </a:r>
            <a:endParaRPr lang="en-US" sz="1600" dirty="0"/>
          </a:p>
        </p:txBody>
      </p:sp>
      <p:sp>
        <p:nvSpPr>
          <p:cNvPr id="18" name="Text 15"/>
          <p:cNvSpPr/>
          <p:nvPr/>
        </p:nvSpPr>
        <p:spPr>
          <a:xfrm>
            <a:off x="2540000" y="6500949"/>
            <a:ext cx="6350000" cy="1270000"/>
          </a:xfrm>
          <a:prstGeom prst="rect">
            <a:avLst/>
          </a:prstGeom>
          <a:noFill/>
          <a:ln/>
        </p:spPr>
        <p:txBody>
          <a:bodyPr wrap="square" lIns="0" tIns="0" rIns="0" bIns="0" rtlCol="0" anchor="ctr"/>
          <a:lstStyle/>
          <a:p>
            <a:pPr>
              <a:lnSpc>
                <a:spcPct val="150000"/>
              </a:lnSpc>
            </a:pPr>
            <a:endParaRPr lang="en-US" sz="2000" dirty="0"/>
          </a:p>
        </p:txBody>
      </p:sp>
      <p:sp>
        <p:nvSpPr>
          <p:cNvPr id="19" name="Text 16"/>
          <p:cNvSpPr/>
          <p:nvPr/>
        </p:nvSpPr>
        <p:spPr>
          <a:xfrm>
            <a:off x="2540000" y="7058657"/>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INTERPRETATION</a:t>
            </a:r>
            <a:endParaRPr lang="en-US" sz="1600" dirty="0"/>
          </a:p>
        </p:txBody>
      </p:sp>
      <p:sp>
        <p:nvSpPr>
          <p:cNvPr id="20" name="Text 17"/>
          <p:cNvSpPr/>
          <p:nvPr/>
        </p:nvSpPr>
        <p:spPr>
          <a:xfrm>
            <a:off x="2540000" y="7244611"/>
            <a:ext cx="13208000" cy="1651000"/>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600" dirty="0">
                <a:solidFill>
                  <a:srgbClr val="2D2D2D"/>
                </a:solidFill>
                <a:latin typeface="Aptos" panose="020B0004020202020204" pitchFamily="34" charset="0"/>
                <a:ea typeface="QuattrocentoSans" pitchFamily="34" charset="-122"/>
                <a:cs typeface="QuattrocentoSans" pitchFamily="34" charset="-120"/>
              </a:rPr>
              <a:t>Linear and non-linear regression models both produced low R² scores.</a:t>
            </a:r>
          </a:p>
          <a:p>
            <a:pPr marL="285750" indent="-285750">
              <a:lnSpc>
                <a:spcPct val="150000"/>
              </a:lnSpc>
              <a:buFont typeface="Arial" panose="020B0604020202020204" pitchFamily="34" charset="0"/>
              <a:buChar char="•"/>
            </a:pPr>
            <a:r>
              <a:rPr lang="en-IN" sz="1600" dirty="0">
                <a:solidFill>
                  <a:srgbClr val="2D2D2D"/>
                </a:solidFill>
                <a:latin typeface="Aptos" panose="020B0004020202020204" pitchFamily="34" charset="0"/>
                <a:ea typeface="QuattrocentoSans" pitchFamily="34" charset="-122"/>
              </a:rPr>
              <a:t>Available business variables explain only a small portion of variation in shipping cost and delivery time.</a:t>
            </a:r>
          </a:p>
          <a:p>
            <a:pPr marL="285750" indent="-285750">
              <a:lnSpc>
                <a:spcPct val="150000"/>
              </a:lnSpc>
              <a:buFont typeface="Arial" panose="020B0604020202020204" pitchFamily="34" charset="0"/>
              <a:buChar char="•"/>
            </a:pPr>
            <a:r>
              <a:rPr lang="en-IN" sz="1600" dirty="0">
                <a:solidFill>
                  <a:srgbClr val="2D2D2D"/>
                </a:solidFill>
                <a:latin typeface="Aptos" panose="020B0004020202020204" pitchFamily="34" charset="0"/>
                <a:ea typeface="QuattrocentoSans" pitchFamily="34" charset="-122"/>
              </a:rPr>
              <a:t>Important drivers are likely missing from the dataset.</a:t>
            </a:r>
          </a:p>
          <a:p>
            <a:pPr marL="285750" indent="-285750">
              <a:lnSpc>
                <a:spcPct val="150000"/>
              </a:lnSpc>
              <a:buFont typeface="Arial" panose="020B0604020202020204" pitchFamily="34" charset="0"/>
              <a:buChar char="•"/>
            </a:pPr>
            <a:r>
              <a:rPr lang="en-IN" sz="1600" dirty="0">
                <a:solidFill>
                  <a:srgbClr val="2D2D2D"/>
                </a:solidFill>
                <a:latin typeface="Aptos" panose="020B0004020202020204" pitchFamily="34" charset="0"/>
                <a:ea typeface="QuattrocentoSans" pitchFamily="34" charset="-122"/>
              </a:rPr>
              <a:t>Delivery performance appears influenced by external operational factors not captured in the data.</a:t>
            </a:r>
            <a:endParaRPr lang="en-US" sz="1600" dirty="0">
              <a:solidFill>
                <a:srgbClr val="2D2D2D"/>
              </a:solidFill>
              <a:latin typeface="Aptos" panose="020B0004020202020204" pitchFamily="34" charset="0"/>
              <a:ea typeface="QuattrocentoSans" pitchFamily="34" charset="-122"/>
            </a:endParaRPr>
          </a:p>
        </p:txBody>
      </p:sp>
      <p:sp>
        <p:nvSpPr>
          <p:cNvPr id="16" name="Shape 14">
            <a:extLst>
              <a:ext uri="{FF2B5EF4-FFF2-40B4-BE49-F238E27FC236}">
                <a16:creationId xmlns:a16="http://schemas.microsoft.com/office/drawing/2014/main" id="{9CC0A8D0-9C31-51E6-5346-EAB6B3521290}"/>
              </a:ext>
            </a:extLst>
          </p:cNvPr>
          <p:cNvSpPr/>
          <p:nvPr/>
        </p:nvSpPr>
        <p:spPr>
          <a:xfrm>
            <a:off x="2540000" y="5948810"/>
            <a:ext cx="13208000" cy="909190"/>
          </a:xfrm>
          <a:prstGeom prst="rect">
            <a:avLst/>
          </a:prstGeom>
          <a:solidFill>
            <a:srgbClr val="D4E5E5"/>
          </a:solidFill>
          <a:ln/>
        </p:spPr>
        <p:txBody>
          <a:bodyP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Shipping Cost:</a:t>
            </a:r>
            <a:r>
              <a:rPr lang="en-US" sz="1600" dirty="0">
                <a:solidFill>
                  <a:srgbClr val="2D2D2D"/>
                </a:solidFill>
                <a:latin typeface="Aptos" panose="020B0004020202020204" pitchFamily="34" charset="0"/>
                <a:ea typeface="QuattrocentoSans" pitchFamily="34" charset="-122"/>
                <a:cs typeface="QuattrocentoSans" pitchFamily="34" charset="-120"/>
              </a:rPr>
              <a:t> </a:t>
            </a:r>
            <a:r>
              <a:rPr lang="en-IN" sz="1600" dirty="0">
                <a:solidFill>
                  <a:srgbClr val="2D2D2D"/>
                </a:solidFill>
                <a:latin typeface="Aptos" panose="020B0004020202020204" pitchFamily="34" charset="0"/>
                <a:ea typeface="QuattrocentoSans" pitchFamily="34" charset="-122"/>
              </a:rPr>
              <a:t>Quantity</a:t>
            </a:r>
            <a:r>
              <a:rPr lang="en-US" sz="1600" dirty="0">
                <a:solidFill>
                  <a:srgbClr val="2D2D2D"/>
                </a:solidFill>
                <a:latin typeface="Aptos" panose="020B0004020202020204" pitchFamily="34" charset="0"/>
                <a:ea typeface="QuattrocentoSans" pitchFamily="34" charset="-122"/>
              </a:rPr>
              <a:t>, </a:t>
            </a:r>
            <a:r>
              <a:rPr lang="en-IN" sz="1600" dirty="0">
                <a:solidFill>
                  <a:srgbClr val="2D2D2D"/>
                </a:solidFill>
                <a:latin typeface="Aptos" panose="020B0004020202020204" pitchFamily="34" charset="0"/>
                <a:ea typeface="QuattrocentoSans" pitchFamily="34" charset="-122"/>
              </a:rPr>
              <a:t>Discount</a:t>
            </a:r>
            <a:r>
              <a:rPr lang="en-US" sz="1600" dirty="0">
                <a:solidFill>
                  <a:srgbClr val="2D2D2D"/>
                </a:solidFill>
                <a:latin typeface="Aptos" panose="020B0004020202020204" pitchFamily="34" charset="0"/>
                <a:ea typeface="QuattrocentoSans" pitchFamily="34" charset="-122"/>
              </a:rPr>
              <a:t>, </a:t>
            </a:r>
            <a:r>
              <a:rPr lang="en-IN" sz="1600" dirty="0">
                <a:solidFill>
                  <a:srgbClr val="2D2D2D"/>
                </a:solidFill>
                <a:latin typeface="Aptos" panose="020B0004020202020204" pitchFamily="34" charset="0"/>
                <a:ea typeface="QuattrocentoSans" pitchFamily="34" charset="-122"/>
              </a:rPr>
              <a:t>Product Weight</a:t>
            </a:r>
            <a:r>
              <a:rPr lang="en-US" sz="1600" dirty="0">
                <a:solidFill>
                  <a:srgbClr val="2D2D2D"/>
                </a:solidFill>
                <a:latin typeface="Aptos" panose="020B0004020202020204" pitchFamily="34" charset="0"/>
                <a:ea typeface="QuattrocentoSans" pitchFamily="34" charset="-122"/>
              </a:rPr>
              <a:t>, </a:t>
            </a:r>
            <a:r>
              <a:rPr lang="en-IN" sz="1600" dirty="0">
                <a:solidFill>
                  <a:srgbClr val="2D2D2D"/>
                </a:solidFill>
                <a:latin typeface="Aptos" panose="020B0004020202020204" pitchFamily="34" charset="0"/>
                <a:ea typeface="QuattrocentoSans" pitchFamily="34" charset="-122"/>
              </a:rPr>
              <a:t>Profit Margin</a:t>
            </a:r>
            <a:r>
              <a:rPr lang="en-US" sz="1600" dirty="0">
                <a:solidFill>
                  <a:srgbClr val="2D2D2D"/>
                </a:solidFill>
                <a:latin typeface="Aptos" panose="020B0004020202020204" pitchFamily="34" charset="0"/>
                <a:ea typeface="QuattrocentoSans" pitchFamily="34" charset="-122"/>
              </a:rPr>
              <a:t>,  Purchase Sequence, </a:t>
            </a:r>
            <a:r>
              <a:rPr lang="en-IN" sz="1600" dirty="0">
                <a:solidFill>
                  <a:srgbClr val="2D2D2D"/>
                </a:solidFill>
                <a:latin typeface="Aptos" panose="020B0004020202020204" pitchFamily="34" charset="0"/>
                <a:ea typeface="QuattrocentoSans" pitchFamily="34" charset="-122"/>
              </a:rPr>
              <a:t>Product Category</a:t>
            </a:r>
            <a:endParaRPr lang="en-US" sz="1600" dirty="0">
              <a:solidFill>
                <a:srgbClr val="2D2D2D"/>
              </a:solidFill>
              <a:latin typeface="Aptos" panose="020B0004020202020204" pitchFamily="34" charset="0"/>
              <a:ea typeface="QuattrocentoSans" pitchFamily="34" charset="-122"/>
            </a:endParaRPr>
          </a:p>
          <a:p>
            <a:pPr>
              <a:lnSpc>
                <a:spcPct val="150000"/>
              </a:lnSpc>
              <a:spcBef>
                <a:spcPts val="400"/>
              </a:spcBef>
            </a:pPr>
            <a:r>
              <a:rPr lang="en-US" sz="1600" b="1" dirty="0">
                <a:solidFill>
                  <a:srgbClr val="2D2D2D"/>
                </a:solidFill>
                <a:latin typeface="Aptos" panose="020B0004020202020204" pitchFamily="34" charset="0"/>
                <a:ea typeface="QuattrocentoSans" pitchFamily="34" charset="-122"/>
                <a:cs typeface="QuattrocentoSans" pitchFamily="34" charset="-120"/>
              </a:rPr>
              <a:t>Delivery Days:</a:t>
            </a:r>
            <a:r>
              <a:rPr lang="en-US" sz="1600" dirty="0">
                <a:solidFill>
                  <a:srgbClr val="2D2D2D"/>
                </a:solidFill>
                <a:latin typeface="Aptos" panose="020B0004020202020204" pitchFamily="34" charset="0"/>
                <a:ea typeface="QuattrocentoSans" pitchFamily="34" charset="-122"/>
                <a:cs typeface="QuattrocentoSans" pitchFamily="34" charset="-120"/>
              </a:rPr>
              <a:t> </a:t>
            </a:r>
            <a:r>
              <a:rPr lang="en-IN" sz="1600" dirty="0">
                <a:solidFill>
                  <a:srgbClr val="2D2D2D"/>
                </a:solidFill>
                <a:latin typeface="Aptos" panose="020B0004020202020204" pitchFamily="34" charset="0"/>
                <a:ea typeface="QuattrocentoSans" pitchFamily="34" charset="-122"/>
              </a:rPr>
              <a:t>Discount</a:t>
            </a:r>
            <a:r>
              <a:rPr lang="en-US" sz="1600" dirty="0">
                <a:solidFill>
                  <a:srgbClr val="2D2D2D"/>
                </a:solidFill>
                <a:latin typeface="Aptos" panose="020B0004020202020204" pitchFamily="34" charset="0"/>
                <a:ea typeface="QuattrocentoSans" pitchFamily="34" charset="-122"/>
              </a:rPr>
              <a:t>, </a:t>
            </a:r>
            <a:r>
              <a:rPr lang="en-IN" sz="1600" dirty="0">
                <a:solidFill>
                  <a:srgbClr val="2D2D2D"/>
                </a:solidFill>
                <a:latin typeface="Aptos" panose="020B0004020202020204" pitchFamily="34" charset="0"/>
                <a:ea typeface="QuattrocentoSans" pitchFamily="34" charset="-122"/>
              </a:rPr>
              <a:t>Product Weight</a:t>
            </a:r>
            <a:r>
              <a:rPr lang="en-US" sz="1600" dirty="0">
                <a:solidFill>
                  <a:srgbClr val="2D2D2D"/>
                </a:solidFill>
                <a:latin typeface="Aptos" panose="020B0004020202020204" pitchFamily="34" charset="0"/>
                <a:ea typeface="QuattrocentoSans" pitchFamily="34" charset="-122"/>
              </a:rPr>
              <a:t>, Profit Margin, </a:t>
            </a:r>
            <a:r>
              <a:rPr lang="en-IN" sz="1600" dirty="0">
                <a:solidFill>
                  <a:srgbClr val="2D2D2D"/>
                </a:solidFill>
                <a:latin typeface="Aptos" panose="020B0004020202020204" pitchFamily="34" charset="0"/>
                <a:ea typeface="QuattrocentoSans" pitchFamily="34" charset="-122"/>
              </a:rPr>
              <a:t>Stock Availability, Shipping Cost, Region</a:t>
            </a:r>
            <a:endParaRPr lang="en-US" sz="1600" dirty="0">
              <a:solidFill>
                <a:srgbClr val="2D2D2D"/>
              </a:solidFill>
              <a:latin typeface="Aptos" panose="020B0004020202020204" pitchFamily="34" charset="0"/>
              <a:ea typeface="QuattrocentoSans" pitchFamily="34" charset="-122"/>
            </a:endParaRPr>
          </a:p>
          <a:p>
            <a:endParaRPr lang="en-IN"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45212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04 Machine Learning &gt; </a:t>
            </a:r>
            <a:r>
              <a:rPr lang="en-US" sz="2800" b="1" dirty="0">
                <a:solidFill>
                  <a:srgbClr val="0B3C3D"/>
                </a:solidFill>
                <a:latin typeface="Quattrocento Sans" pitchFamily="34" charset="0"/>
                <a:ea typeface="Quattrocento Sans" pitchFamily="34" charset="-122"/>
                <a:cs typeface="Quattrocento Sans" pitchFamily="34" charset="-120"/>
              </a:rPr>
              <a:t>Classification Models</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26</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Repeat purchase behavior is more predictable than profitability</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graphicFrame>
        <p:nvGraphicFramePr>
          <p:cNvPr id="26" name="Table 0"/>
          <p:cNvGraphicFramePr>
            <a:graphicFrameLocks noGrp="1"/>
          </p:cNvGraphicFramePr>
          <p:nvPr>
            <p:extLst>
              <p:ext uri="{D42A27DB-BD31-4B8C-83A1-F6EECF244321}">
                <p14:modId xmlns:p14="http://schemas.microsoft.com/office/powerpoint/2010/main" val="253947789"/>
              </p:ext>
            </p:extLst>
          </p:nvPr>
        </p:nvGraphicFramePr>
        <p:xfrm>
          <a:off x="2540000" y="1523999"/>
          <a:ext cx="13208000" cy="2862652"/>
        </p:xfrm>
        <a:graphic>
          <a:graphicData uri="http://schemas.openxmlformats.org/drawingml/2006/table">
            <a:tbl>
              <a:tblPr/>
              <a:tblGrid>
                <a:gridCol w="1981200">
                  <a:extLst>
                    <a:ext uri="{9D8B030D-6E8A-4147-A177-3AD203B41FA5}">
                      <a16:colId xmlns:a16="http://schemas.microsoft.com/office/drawing/2014/main" val="20000"/>
                    </a:ext>
                  </a:extLst>
                </a:gridCol>
                <a:gridCol w="2641600">
                  <a:extLst>
                    <a:ext uri="{9D8B030D-6E8A-4147-A177-3AD203B41FA5}">
                      <a16:colId xmlns:a16="http://schemas.microsoft.com/office/drawing/2014/main" val="20001"/>
                    </a:ext>
                  </a:extLst>
                </a:gridCol>
                <a:gridCol w="1320800">
                  <a:extLst>
                    <a:ext uri="{9D8B030D-6E8A-4147-A177-3AD203B41FA5}">
                      <a16:colId xmlns:a16="http://schemas.microsoft.com/office/drawing/2014/main" val="20002"/>
                    </a:ext>
                  </a:extLst>
                </a:gridCol>
                <a:gridCol w="1320800">
                  <a:extLst>
                    <a:ext uri="{9D8B030D-6E8A-4147-A177-3AD203B41FA5}">
                      <a16:colId xmlns:a16="http://schemas.microsoft.com/office/drawing/2014/main" val="20003"/>
                    </a:ext>
                  </a:extLst>
                </a:gridCol>
                <a:gridCol w="1320800">
                  <a:extLst>
                    <a:ext uri="{9D8B030D-6E8A-4147-A177-3AD203B41FA5}">
                      <a16:colId xmlns:a16="http://schemas.microsoft.com/office/drawing/2014/main" val="20004"/>
                    </a:ext>
                  </a:extLst>
                </a:gridCol>
                <a:gridCol w="1320800">
                  <a:extLst>
                    <a:ext uri="{9D8B030D-6E8A-4147-A177-3AD203B41FA5}">
                      <a16:colId xmlns:a16="http://schemas.microsoft.com/office/drawing/2014/main" val="20005"/>
                    </a:ext>
                  </a:extLst>
                </a:gridCol>
                <a:gridCol w="3302000">
                  <a:extLst>
                    <a:ext uri="{9D8B030D-6E8A-4147-A177-3AD203B41FA5}">
                      <a16:colId xmlns:a16="http://schemas.microsoft.com/office/drawing/2014/main" val="20006"/>
                    </a:ext>
                  </a:extLst>
                </a:gridCol>
              </a:tblGrid>
              <a:tr h="550510">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Model</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Target</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ctr"/>
                      <a:r>
                        <a:rPr lang="en-US" sz="1400" b="1" u="none" dirty="0">
                          <a:solidFill>
                            <a:srgbClr val="FFFFFF"/>
                          </a:solidFill>
                          <a:latin typeface="微软雅黑" pitchFamily="34" charset="0"/>
                          <a:ea typeface="微软雅黑" pitchFamily="34" charset="-122"/>
                          <a:cs typeface="微软雅黑" pitchFamily="34" charset="-120"/>
                        </a:rPr>
                        <a:t>Accuracy</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ctr"/>
                      <a:r>
                        <a:rPr lang="en-US" sz="1400" b="1" u="none" dirty="0">
                          <a:solidFill>
                            <a:srgbClr val="FFFFFF"/>
                          </a:solidFill>
                          <a:latin typeface="微软雅黑" pitchFamily="34" charset="0"/>
                          <a:ea typeface="微软雅黑" pitchFamily="34" charset="-122"/>
                          <a:cs typeface="微软雅黑" pitchFamily="34" charset="-120"/>
                        </a:rPr>
                        <a:t>Precision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ctr"/>
                      <a:r>
                        <a:rPr lang="en-US" sz="1400" b="1" u="none" dirty="0">
                          <a:solidFill>
                            <a:srgbClr val="FFFFFF"/>
                          </a:solidFill>
                          <a:latin typeface="微软雅黑" pitchFamily="34" charset="0"/>
                          <a:ea typeface="微软雅黑" pitchFamily="34" charset="-122"/>
                          <a:cs typeface="微软雅黑" pitchFamily="34" charset="-120"/>
                        </a:rPr>
                        <a:t>Recall</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ctr"/>
                      <a:r>
                        <a:rPr lang="en-US" sz="1400" b="1" u="none" dirty="0">
                          <a:solidFill>
                            <a:srgbClr val="FFFFFF"/>
                          </a:solidFill>
                          <a:latin typeface="微软雅黑" pitchFamily="34" charset="0"/>
                          <a:ea typeface="微软雅黑" pitchFamily="34" charset="-122"/>
                          <a:cs typeface="微软雅黑" pitchFamily="34" charset="-120"/>
                        </a:rPr>
                        <a:t>F1 Score</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Key Insight</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extLst>
                  <a:ext uri="{0D108BD9-81ED-4DB2-BD59-A6C34878D82A}">
                    <a16:rowId xmlns:a16="http://schemas.microsoft.com/office/drawing/2014/main" val="10000"/>
                  </a:ext>
                </a:extLst>
              </a:tr>
              <a:tr h="550510">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Logistic Reg.</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High Profit Margin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0.674</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0.655</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0.383</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0.484</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Moderate precision, low recall</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0510">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KNN Classifier </a:t>
                      </a:r>
                      <a:r>
                        <a:rPr lang="en-IN" sz="1900" b="0" i="0" kern="1200" dirty="0">
                          <a:solidFill>
                            <a:schemeClr val="tx1"/>
                          </a:solidFill>
                          <a:effectLst/>
                          <a:latin typeface="+mn-lt"/>
                          <a:ea typeface="+mn-ea"/>
                          <a:cs typeface="+mn-cs"/>
                        </a:rPr>
                        <a:t>✅</a:t>
                      </a:r>
                      <a:endParaRPr lang="en-US" sz="19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b="1" u="none" dirty="0">
                          <a:solidFill>
                            <a:srgbClr val="2D2D2D"/>
                          </a:solidFill>
                          <a:latin typeface="微软雅黑" pitchFamily="34" charset="0"/>
                          <a:ea typeface="微软雅黑" pitchFamily="34" charset="-122"/>
                          <a:cs typeface="微软雅黑" pitchFamily="34" charset="-120"/>
                        </a:rPr>
                        <a:t>High Profit Margin</a:t>
                      </a:r>
                      <a:endParaRPr lang="en-US" sz="1400" b="1"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0.697 </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0.653</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0.505</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0.570</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KNN gave the best overall result for profit margin prediction.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extLst>
                  <a:ext uri="{0D108BD9-81ED-4DB2-BD59-A6C34878D82A}">
                    <a16:rowId xmlns:a16="http://schemas.microsoft.com/office/drawing/2014/main" val="10002"/>
                  </a:ext>
                </a:extLst>
              </a:tr>
              <a:tr h="660612">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Logistic Reg. </a:t>
                      </a:r>
                      <a:r>
                        <a:rPr lang="en-IN" sz="1900" b="0" i="0" kern="1200" dirty="0">
                          <a:solidFill>
                            <a:schemeClr val="tx1"/>
                          </a:solidFill>
                          <a:effectLst/>
                          <a:latin typeface="+mn-lt"/>
                          <a:ea typeface="+mn-ea"/>
                          <a:cs typeface="+mn-cs"/>
                        </a:rPr>
                        <a:t>✅</a:t>
                      </a:r>
                      <a:endParaRPr lang="en-US" sz="19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b="1" u="none" dirty="0">
                          <a:solidFill>
                            <a:srgbClr val="2D2D2D"/>
                          </a:solidFill>
                          <a:latin typeface="微软雅黑" pitchFamily="34" charset="0"/>
                          <a:ea typeface="微软雅黑" pitchFamily="34" charset="-122"/>
                          <a:cs typeface="微软雅黑" pitchFamily="34" charset="-120"/>
                        </a:rPr>
                        <a:t>Repeat Purchase</a:t>
                      </a:r>
                      <a:endParaRPr lang="en-US" sz="1400" b="1"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0.692 </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0.692</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1.000</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0.818</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Repeat purchase customers can be identified more reliably than high-profit customers.</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0510">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KNN Classifier</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Repeat Purchase</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0.676</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0.696</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0.944</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0.802</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High precision, strong recall</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extLst>
                  <a:ext uri="{0D108BD9-81ED-4DB2-BD59-A6C34878D82A}">
                    <a16:rowId xmlns:a16="http://schemas.microsoft.com/office/drawing/2014/main" val="10004"/>
                  </a:ext>
                </a:extLst>
              </a:tr>
            </a:tbl>
          </a:graphicData>
        </a:graphic>
      </p:graphicFrame>
      <p:sp>
        <p:nvSpPr>
          <p:cNvPr id="19" name="Text 16"/>
          <p:cNvSpPr/>
          <p:nvPr/>
        </p:nvSpPr>
        <p:spPr>
          <a:xfrm>
            <a:off x="7683500" y="5901826"/>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BUSINESS RECOMMENDATIONS</a:t>
            </a:r>
            <a:endParaRPr lang="en-US" sz="1600" dirty="0"/>
          </a:p>
        </p:txBody>
      </p:sp>
      <p:sp>
        <p:nvSpPr>
          <p:cNvPr id="22" name="Text 14">
            <a:extLst>
              <a:ext uri="{FF2B5EF4-FFF2-40B4-BE49-F238E27FC236}">
                <a16:creationId xmlns:a16="http://schemas.microsoft.com/office/drawing/2014/main" id="{8AF60658-B933-3613-56D6-2555D4996C88}"/>
              </a:ext>
            </a:extLst>
          </p:cNvPr>
          <p:cNvSpPr/>
          <p:nvPr/>
        </p:nvSpPr>
        <p:spPr>
          <a:xfrm>
            <a:off x="2540000" y="4495513"/>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FEATURES USED</a:t>
            </a:r>
            <a:endParaRPr lang="en-US" sz="1600" dirty="0"/>
          </a:p>
        </p:txBody>
      </p:sp>
      <p:sp>
        <p:nvSpPr>
          <p:cNvPr id="23" name="Shape 14">
            <a:extLst>
              <a:ext uri="{FF2B5EF4-FFF2-40B4-BE49-F238E27FC236}">
                <a16:creationId xmlns:a16="http://schemas.microsoft.com/office/drawing/2014/main" id="{E50BD312-8223-A6EE-F4B7-42F61D090C52}"/>
              </a:ext>
            </a:extLst>
          </p:cNvPr>
          <p:cNvSpPr/>
          <p:nvPr/>
        </p:nvSpPr>
        <p:spPr>
          <a:xfrm>
            <a:off x="2540000" y="4824341"/>
            <a:ext cx="13208000" cy="909190"/>
          </a:xfrm>
          <a:prstGeom prst="rect">
            <a:avLst/>
          </a:prstGeom>
          <a:solidFill>
            <a:srgbClr val="D4E5E5"/>
          </a:solidFill>
          <a:ln/>
        </p:spPr>
        <p:txBody>
          <a:bodyPr/>
          <a:lstStyle/>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High Profit Margin: </a:t>
            </a:r>
            <a:r>
              <a:rPr lang="en-US" sz="1600" dirty="0">
                <a:solidFill>
                  <a:srgbClr val="2D2D2D"/>
                </a:solidFill>
                <a:latin typeface="Aptos" panose="020B0004020202020204" pitchFamily="34" charset="0"/>
                <a:ea typeface="QuattrocentoSans" pitchFamily="34" charset="-122"/>
                <a:cs typeface="QuattrocentoSans" pitchFamily="34" charset="-120"/>
              </a:rPr>
              <a:t>Customer </a:t>
            </a:r>
            <a:r>
              <a:rPr lang="en-IN" sz="1600" dirty="0"/>
              <a:t>Segment</a:t>
            </a:r>
            <a:r>
              <a:rPr lang="en-US" sz="1600" dirty="0">
                <a:solidFill>
                  <a:srgbClr val="2D2D2D"/>
                </a:solidFill>
                <a:latin typeface="Aptos" panose="020B0004020202020204" pitchFamily="34" charset="0"/>
                <a:ea typeface="QuattrocentoSans" pitchFamily="34" charset="-122"/>
                <a:cs typeface="QuattrocentoSans" pitchFamily="34" charset="-120"/>
              </a:rPr>
              <a:t>, Payment Type, </a:t>
            </a:r>
            <a:r>
              <a:rPr lang="en-IN" sz="1600" dirty="0"/>
              <a:t>Quantity</a:t>
            </a:r>
            <a:r>
              <a:rPr lang="en-US" sz="1600" dirty="0">
                <a:solidFill>
                  <a:srgbClr val="2D2D2D"/>
                </a:solidFill>
                <a:latin typeface="Aptos" panose="020B0004020202020204" pitchFamily="34" charset="0"/>
                <a:ea typeface="QuattrocentoSans" pitchFamily="34" charset="-122"/>
                <a:cs typeface="QuattrocentoSans" pitchFamily="34" charset="-120"/>
              </a:rPr>
              <a:t>, </a:t>
            </a:r>
            <a:r>
              <a:rPr lang="en-IN" sz="1600" dirty="0"/>
              <a:t>Discount, S</a:t>
            </a:r>
            <a:r>
              <a:rPr lang="en-US" sz="1600" dirty="0">
                <a:solidFill>
                  <a:srgbClr val="2D2D2D"/>
                </a:solidFill>
                <a:latin typeface="Aptos" panose="020B0004020202020204" pitchFamily="34" charset="0"/>
                <a:ea typeface="QuattrocentoSans" pitchFamily="34" charset="-122"/>
                <a:cs typeface="QuattrocentoSans" pitchFamily="34" charset="-120"/>
              </a:rPr>
              <a:t>hipping Cost, Region</a:t>
            </a:r>
          </a:p>
          <a:p>
            <a:pPr>
              <a:lnSpc>
                <a:spcPct val="150000"/>
              </a:lnSpc>
            </a:pPr>
            <a:r>
              <a:rPr lang="en-US" sz="1600" b="1" dirty="0">
                <a:solidFill>
                  <a:srgbClr val="2D2D2D"/>
                </a:solidFill>
                <a:latin typeface="Aptos" panose="020B0004020202020204" pitchFamily="34" charset="0"/>
                <a:ea typeface="QuattrocentoSans" pitchFamily="34" charset="-122"/>
                <a:cs typeface="QuattrocentoSans" pitchFamily="34" charset="-120"/>
              </a:rPr>
              <a:t>Repeat Purchase Flag: </a:t>
            </a:r>
            <a:r>
              <a:rPr lang="en-US" sz="1600" dirty="0">
                <a:solidFill>
                  <a:srgbClr val="2D2D2D"/>
                </a:solidFill>
                <a:latin typeface="Aptos" panose="020B0004020202020204" pitchFamily="34" charset="0"/>
                <a:ea typeface="QuattrocentoSans" pitchFamily="34" charset="-122"/>
                <a:cs typeface="QuattrocentoSans" pitchFamily="34" charset="-120"/>
              </a:rPr>
              <a:t>Age Group, Payment Type, </a:t>
            </a:r>
            <a:r>
              <a:rPr lang="en-IN" sz="1600" dirty="0"/>
              <a:t>Discount, C</a:t>
            </a:r>
            <a:r>
              <a:rPr lang="en-US" sz="1600" dirty="0">
                <a:solidFill>
                  <a:srgbClr val="2D2D2D"/>
                </a:solidFill>
                <a:latin typeface="Aptos" panose="020B0004020202020204" pitchFamily="34" charset="0"/>
                <a:ea typeface="QuattrocentoSans" pitchFamily="34" charset="-122"/>
                <a:cs typeface="QuattrocentoSans" pitchFamily="34" charset="-120"/>
              </a:rPr>
              <a:t>ategory, Region</a:t>
            </a:r>
          </a:p>
        </p:txBody>
      </p:sp>
      <p:sp>
        <p:nvSpPr>
          <p:cNvPr id="25" name="Shape 29">
            <a:extLst>
              <a:ext uri="{FF2B5EF4-FFF2-40B4-BE49-F238E27FC236}">
                <a16:creationId xmlns:a16="http://schemas.microsoft.com/office/drawing/2014/main" id="{F21795D1-6785-34D2-0D4F-90061F5150AD}"/>
              </a:ext>
            </a:extLst>
          </p:cNvPr>
          <p:cNvSpPr/>
          <p:nvPr/>
        </p:nvSpPr>
        <p:spPr>
          <a:xfrm>
            <a:off x="2603500" y="6266493"/>
            <a:ext cx="6692900" cy="2605414"/>
          </a:xfrm>
          <a:prstGeom prst="rect">
            <a:avLst/>
          </a:prstGeom>
          <a:solidFill>
            <a:srgbClr val="0B3C3D">
              <a:alpha val="85000"/>
            </a:srgbClr>
          </a:solidFill>
          <a:ln/>
        </p:spPr>
        <p:txBody>
          <a:bodyPr/>
          <a:lstStyle/>
          <a:p>
            <a:pPr>
              <a:lnSpc>
                <a:spcPct val="150000"/>
              </a:lnSpc>
            </a:pPr>
            <a:r>
              <a:rPr lang="en-US" sz="1600" b="1" dirty="0">
                <a:solidFill>
                  <a:schemeClr val="bg1"/>
                </a:solidFill>
                <a:latin typeface="Aptos" panose="020B0004020202020204" pitchFamily="34" charset="0"/>
                <a:ea typeface="QuattrocentoSans" pitchFamily="34" charset="-122"/>
                <a:cs typeface="QuattrocentoSans" pitchFamily="34" charset="-120"/>
              </a:rPr>
              <a:t>Repeat Purchase Prediction</a:t>
            </a:r>
          </a:p>
          <a:p>
            <a:pPr>
              <a:lnSpc>
                <a:spcPct val="150000"/>
              </a:lnSpc>
            </a:pPr>
            <a:r>
              <a:rPr lang="en-US" sz="1600" dirty="0">
                <a:solidFill>
                  <a:srgbClr val="FFFFFF">
                    <a:alpha val="80000"/>
                  </a:srgbClr>
                </a:solidFill>
                <a:latin typeface="Quattrocento Sans" pitchFamily="34" charset="0"/>
              </a:rPr>
              <a:t>Selected Model: Logistic Regression</a:t>
            </a:r>
          </a:p>
          <a:p>
            <a:pPr>
              <a:lnSpc>
                <a:spcPct val="150000"/>
              </a:lnSpc>
            </a:pPr>
            <a:r>
              <a:rPr lang="en-US" sz="1600" dirty="0">
                <a:solidFill>
                  <a:srgbClr val="FFFFFF">
                    <a:alpha val="80000"/>
                  </a:srgbClr>
                </a:solidFill>
                <a:latin typeface="Quattrocento Sans" pitchFamily="34" charset="0"/>
              </a:rPr>
              <a:t>Benefits:</a:t>
            </a:r>
          </a:p>
          <a:p>
            <a:pPr marL="285750" indent="-285750">
              <a:lnSpc>
                <a:spcPct val="150000"/>
              </a:lnSpc>
              <a:buFont typeface="Arial" panose="020B0604020202020204" pitchFamily="34" charset="0"/>
              <a:buChar char="•"/>
            </a:pPr>
            <a:r>
              <a:rPr lang="en-US" sz="1600" dirty="0">
                <a:solidFill>
                  <a:srgbClr val="FFFFFF">
                    <a:alpha val="80000"/>
                  </a:srgbClr>
                </a:solidFill>
                <a:latin typeface="Quattrocento Sans" pitchFamily="34" charset="0"/>
              </a:rPr>
              <a:t>Identify customers likely to purchase again.</a:t>
            </a:r>
          </a:p>
          <a:p>
            <a:pPr marL="285750" indent="-285750">
              <a:lnSpc>
                <a:spcPct val="150000"/>
              </a:lnSpc>
              <a:buFont typeface="Arial" panose="020B0604020202020204" pitchFamily="34" charset="0"/>
              <a:buChar char="•"/>
            </a:pPr>
            <a:r>
              <a:rPr lang="en-US" sz="1600" dirty="0">
                <a:solidFill>
                  <a:srgbClr val="FFFFFF">
                    <a:alpha val="80000"/>
                  </a:srgbClr>
                </a:solidFill>
                <a:latin typeface="Quattrocento Sans" pitchFamily="34" charset="0"/>
              </a:rPr>
              <a:t>Offer loyalty discounts to customers likely to buy again.</a:t>
            </a:r>
          </a:p>
          <a:p>
            <a:pPr marL="285750" indent="-285750">
              <a:lnSpc>
                <a:spcPct val="150000"/>
              </a:lnSpc>
              <a:buFont typeface="Arial" panose="020B0604020202020204" pitchFamily="34" charset="0"/>
              <a:buChar char="•"/>
            </a:pPr>
            <a:r>
              <a:rPr lang="en-US" sz="1600" dirty="0">
                <a:solidFill>
                  <a:srgbClr val="FFFFFF">
                    <a:alpha val="80000"/>
                  </a:srgbClr>
                </a:solidFill>
                <a:latin typeface="Quattrocento Sans" pitchFamily="34" charset="0"/>
              </a:rPr>
              <a:t>Reduce customer acquisition cost.</a:t>
            </a:r>
          </a:p>
          <a:p>
            <a:pPr marL="285750" indent="-285750">
              <a:lnSpc>
                <a:spcPct val="150000"/>
              </a:lnSpc>
              <a:buFont typeface="Arial" panose="020B0604020202020204" pitchFamily="34" charset="0"/>
              <a:buChar char="•"/>
            </a:pPr>
            <a:r>
              <a:rPr lang="en-US" sz="1500" dirty="0">
                <a:solidFill>
                  <a:srgbClr val="FFFFFF">
                    <a:alpha val="80000"/>
                  </a:srgbClr>
                </a:solidFill>
                <a:latin typeface="Quattrocento Sans" pitchFamily="34" charset="0"/>
              </a:rPr>
              <a:t>Focus retention efforts on customers with high repeat purchase probability.</a:t>
            </a:r>
            <a:endParaRPr lang="en-IN" sz="1500" dirty="0">
              <a:solidFill>
                <a:schemeClr val="bg1"/>
              </a:solidFill>
            </a:endParaRPr>
          </a:p>
        </p:txBody>
      </p:sp>
      <p:sp>
        <p:nvSpPr>
          <p:cNvPr id="27" name="Shape 29">
            <a:extLst>
              <a:ext uri="{FF2B5EF4-FFF2-40B4-BE49-F238E27FC236}">
                <a16:creationId xmlns:a16="http://schemas.microsoft.com/office/drawing/2014/main" id="{CB2EDBC3-B67D-04CE-3854-96F2D649E8CE}"/>
              </a:ext>
            </a:extLst>
          </p:cNvPr>
          <p:cNvSpPr/>
          <p:nvPr/>
        </p:nvSpPr>
        <p:spPr>
          <a:xfrm>
            <a:off x="9588500" y="6261443"/>
            <a:ext cx="6350000" cy="2605414"/>
          </a:xfrm>
          <a:prstGeom prst="rect">
            <a:avLst/>
          </a:prstGeom>
          <a:solidFill>
            <a:srgbClr val="0B3C3D">
              <a:alpha val="85000"/>
            </a:srgbClr>
          </a:solidFill>
          <a:ln/>
        </p:spPr>
        <p:txBody>
          <a:bodyPr/>
          <a:lstStyle/>
          <a:p>
            <a:pPr>
              <a:lnSpc>
                <a:spcPct val="150000"/>
              </a:lnSpc>
            </a:pPr>
            <a:r>
              <a:rPr lang="en-US" sz="1600" b="1" dirty="0">
                <a:solidFill>
                  <a:schemeClr val="bg1"/>
                </a:solidFill>
                <a:latin typeface="Aptos" panose="020B0004020202020204" pitchFamily="34" charset="0"/>
                <a:ea typeface="QuattrocentoSans" pitchFamily="34" charset="-122"/>
                <a:cs typeface="QuattrocentoSans" pitchFamily="34" charset="-120"/>
              </a:rPr>
              <a:t>High Profit Margin Prediction</a:t>
            </a:r>
          </a:p>
          <a:p>
            <a:pPr>
              <a:lnSpc>
                <a:spcPct val="150000"/>
              </a:lnSpc>
            </a:pPr>
            <a:r>
              <a:rPr lang="en-US" sz="1600" dirty="0">
                <a:solidFill>
                  <a:srgbClr val="FFFFFF">
                    <a:alpha val="80000"/>
                  </a:srgbClr>
                </a:solidFill>
                <a:latin typeface="Quattrocento Sans" pitchFamily="34" charset="0"/>
              </a:rPr>
              <a:t>Selected Model: KNN</a:t>
            </a:r>
          </a:p>
          <a:p>
            <a:pPr>
              <a:lnSpc>
                <a:spcPct val="150000"/>
              </a:lnSpc>
            </a:pPr>
            <a:r>
              <a:rPr lang="en-US" sz="1600" dirty="0">
                <a:solidFill>
                  <a:srgbClr val="FFFFFF">
                    <a:alpha val="80000"/>
                  </a:srgbClr>
                </a:solidFill>
                <a:latin typeface="Quattrocento Sans" pitchFamily="34" charset="0"/>
              </a:rPr>
              <a:t>Benefits:</a:t>
            </a:r>
          </a:p>
          <a:p>
            <a:pPr marL="285750" indent="-285750">
              <a:lnSpc>
                <a:spcPct val="150000"/>
              </a:lnSpc>
              <a:buFont typeface="Arial" panose="020B0604020202020204" pitchFamily="34" charset="0"/>
              <a:buChar char="•"/>
            </a:pPr>
            <a:r>
              <a:rPr lang="en-US" sz="1600" dirty="0">
                <a:solidFill>
                  <a:srgbClr val="FFFFFF">
                    <a:alpha val="80000"/>
                  </a:srgbClr>
                </a:solidFill>
                <a:latin typeface="Quattrocento Sans" pitchFamily="34" charset="0"/>
              </a:rPr>
              <a:t>Identify profitable customer segments.</a:t>
            </a:r>
          </a:p>
          <a:p>
            <a:pPr marL="285750" indent="-285750">
              <a:lnSpc>
                <a:spcPct val="150000"/>
              </a:lnSpc>
              <a:buFont typeface="Arial" panose="020B0604020202020204" pitchFamily="34" charset="0"/>
              <a:buChar char="•"/>
            </a:pPr>
            <a:r>
              <a:rPr lang="en-US" sz="1600" dirty="0">
                <a:solidFill>
                  <a:srgbClr val="FFFFFF">
                    <a:alpha val="80000"/>
                  </a:srgbClr>
                </a:solidFill>
                <a:latin typeface="Quattrocento Sans" pitchFamily="34" charset="0"/>
              </a:rPr>
              <a:t>Avoid giving unnecessary discounts to already profitable customers.</a:t>
            </a:r>
          </a:p>
          <a:p>
            <a:pPr marL="285750" indent="-285750">
              <a:lnSpc>
                <a:spcPct val="150000"/>
              </a:lnSpc>
              <a:buFont typeface="Arial" panose="020B0604020202020204" pitchFamily="34" charset="0"/>
              <a:buChar char="•"/>
            </a:pPr>
            <a:r>
              <a:rPr lang="en-US" sz="1600" dirty="0">
                <a:solidFill>
                  <a:srgbClr val="FFFFFF">
                    <a:alpha val="80000"/>
                  </a:srgbClr>
                </a:solidFill>
                <a:latin typeface="Quattrocento Sans" pitchFamily="34" charset="0"/>
              </a:rPr>
              <a:t>Focus marketing budget on high-margin customers.</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45212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04 Machine Learning &gt; </a:t>
            </a:r>
            <a:r>
              <a:rPr lang="en-US" sz="2800" b="1" dirty="0">
                <a:solidFill>
                  <a:srgbClr val="0B3C3D"/>
                </a:solidFill>
                <a:latin typeface="Quattrocento Sans" pitchFamily="34" charset="0"/>
                <a:ea typeface="Quattrocento Sans" pitchFamily="34" charset="-122"/>
                <a:cs typeface="Quattrocento Sans" pitchFamily="34" charset="-120"/>
              </a:rPr>
              <a:t>KMeans Clustering</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27</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err="1">
                <a:solidFill>
                  <a:srgbClr val="0B3C3D"/>
                </a:solidFill>
                <a:latin typeface="Aptos" panose="020B0004020202020204" pitchFamily="34" charset="0"/>
                <a:ea typeface="QuattrocentoSans" pitchFamily="34" charset="-122"/>
                <a:cs typeface="QuattrocentoSans" pitchFamily="34" charset="-120"/>
              </a:rPr>
              <a:t>KMeans</a:t>
            </a:r>
            <a:r>
              <a:rPr lang="en-US" sz="2000" b="1" dirty="0">
                <a:solidFill>
                  <a:srgbClr val="0B3C3D"/>
                </a:solidFill>
                <a:latin typeface="Aptos" panose="020B0004020202020204" pitchFamily="34" charset="0"/>
                <a:ea typeface="QuattrocentoSans" pitchFamily="34" charset="-122"/>
                <a:cs typeface="QuattrocentoSans" pitchFamily="34" charset="-120"/>
              </a:rPr>
              <a:t> identified three customer segments with different purchasing characteristics</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sp>
        <p:nvSpPr>
          <p:cNvPr id="16" name="Shape 14"/>
          <p:cNvSpPr/>
          <p:nvPr/>
        </p:nvSpPr>
        <p:spPr>
          <a:xfrm>
            <a:off x="2540000" y="1574800"/>
            <a:ext cx="4191000" cy="3302000"/>
          </a:xfrm>
          <a:prstGeom prst="rect">
            <a:avLst/>
          </a:prstGeom>
          <a:solidFill>
            <a:srgbClr val="0B3C3D"/>
          </a:solidFill>
          <a:ln/>
        </p:spPr>
        <p:txBody>
          <a:bodyPr/>
          <a:lstStyle/>
          <a:p>
            <a:endParaRPr lang="en-IN"/>
          </a:p>
        </p:txBody>
      </p:sp>
      <p:sp>
        <p:nvSpPr>
          <p:cNvPr id="17" name="Text 15"/>
          <p:cNvSpPr/>
          <p:nvPr/>
        </p:nvSpPr>
        <p:spPr>
          <a:xfrm>
            <a:off x="2692400" y="1676400"/>
            <a:ext cx="3886200" cy="304800"/>
          </a:xfrm>
          <a:prstGeom prst="rect">
            <a:avLst/>
          </a:prstGeom>
          <a:noFill/>
          <a:ln/>
        </p:spPr>
        <p:txBody>
          <a:bodyPr wrap="none" lIns="0" tIns="0" rIns="0" bIns="0" rtlCol="0" anchor="ctr"/>
          <a:lstStyle/>
          <a:p>
            <a:pPr>
              <a:lnSpc>
                <a:spcPct val="100000"/>
              </a:lnSpc>
            </a:pPr>
            <a:r>
              <a:rPr lang="en-US" sz="1500" b="1" dirty="0">
                <a:solidFill>
                  <a:srgbClr val="C58940"/>
                </a:solidFill>
                <a:latin typeface="Quattrocento Sans" pitchFamily="34" charset="0"/>
                <a:ea typeface="Quattrocento Sans" pitchFamily="34" charset="-122"/>
                <a:cs typeface="Quattrocento Sans" pitchFamily="34" charset="-120"/>
              </a:rPr>
              <a:t>CLUSTER 0 — VALUE CUSTOMERS</a:t>
            </a:r>
            <a:endParaRPr lang="en-US" sz="1500" b="1" dirty="0"/>
          </a:p>
        </p:txBody>
      </p:sp>
      <p:sp>
        <p:nvSpPr>
          <p:cNvPr id="18" name="Text 16"/>
          <p:cNvSpPr/>
          <p:nvPr/>
        </p:nvSpPr>
        <p:spPr>
          <a:xfrm>
            <a:off x="2692400" y="2032000"/>
            <a:ext cx="3886200" cy="508000"/>
          </a:xfrm>
          <a:prstGeom prst="rect">
            <a:avLst/>
          </a:prstGeom>
          <a:noFill/>
          <a:ln/>
        </p:spPr>
        <p:txBody>
          <a:bodyPr wrap="none" lIns="0" tIns="0" rIns="0" bIns="0" rtlCol="0" anchor="ctr"/>
          <a:lstStyle/>
          <a:p>
            <a:pPr>
              <a:lnSpc>
                <a:spcPct val="100000"/>
              </a:lnSpc>
            </a:pPr>
            <a:r>
              <a:rPr lang="en-US" sz="3200" b="1" dirty="0">
                <a:solidFill>
                  <a:srgbClr val="FFFFFF"/>
                </a:solidFill>
                <a:latin typeface="Quattrocento Sans" pitchFamily="34" charset="0"/>
                <a:ea typeface="Quattrocento Sans" pitchFamily="34" charset="-122"/>
                <a:cs typeface="Quattrocento Sans" pitchFamily="34" charset="-120"/>
              </a:rPr>
              <a:t>71,206 (56%)</a:t>
            </a:r>
            <a:endParaRPr lang="en-US" sz="1600" dirty="0"/>
          </a:p>
        </p:txBody>
      </p:sp>
      <p:sp>
        <p:nvSpPr>
          <p:cNvPr id="19" name="Text 17"/>
          <p:cNvSpPr/>
          <p:nvPr/>
        </p:nvSpPr>
        <p:spPr>
          <a:xfrm>
            <a:off x="2692400" y="2616200"/>
            <a:ext cx="3886200" cy="2159000"/>
          </a:xfrm>
          <a:prstGeom prst="rect">
            <a:avLst/>
          </a:prstGeom>
          <a:noFill/>
          <a:ln/>
        </p:spPr>
        <p:txBody>
          <a:bodyPr wrap="square" lIns="0" tIns="0" rIns="0" bIns="0" rtlCol="0" anchor="ctr"/>
          <a:lstStyle/>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Average Discount: 9.7% </a:t>
            </a:r>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Average Review Score: 4.75 (highest)</a:t>
            </a:r>
            <a:endParaRPr lang="en-US" sz="15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Average Profit Margin: 331</a:t>
            </a:r>
            <a:endParaRPr lang="en-US" sz="1500" dirty="0"/>
          </a:p>
          <a:p>
            <a:pPr>
              <a:lnSpc>
                <a:spcPct val="160000"/>
              </a:lnSpc>
              <a:spcBef>
                <a:spcPts val="600"/>
              </a:spcBef>
            </a:pPr>
            <a:r>
              <a:rPr lang="en-US" sz="1500" b="1" dirty="0">
                <a:solidFill>
                  <a:srgbClr val="FFFFFF">
                    <a:alpha val="80000"/>
                  </a:srgbClr>
                </a:solidFill>
                <a:latin typeface="Quattrocento Sans" pitchFamily="34" charset="0"/>
                <a:ea typeface="Quattrocento Sans" pitchFamily="34" charset="-122"/>
                <a:cs typeface="Quattrocento Sans" pitchFamily="34" charset="-120"/>
              </a:rPr>
              <a:t>Low discount sensitivity, high satisfaction, Lower profitability</a:t>
            </a:r>
            <a:endParaRPr lang="en-US" sz="1500" dirty="0"/>
          </a:p>
        </p:txBody>
      </p:sp>
      <p:sp>
        <p:nvSpPr>
          <p:cNvPr id="20" name="Shape 18"/>
          <p:cNvSpPr/>
          <p:nvPr/>
        </p:nvSpPr>
        <p:spPr>
          <a:xfrm>
            <a:off x="6934200" y="1574800"/>
            <a:ext cx="4191000" cy="3302000"/>
          </a:xfrm>
          <a:prstGeom prst="rect">
            <a:avLst/>
          </a:prstGeom>
          <a:solidFill>
            <a:srgbClr val="1A5C5C"/>
          </a:solidFill>
          <a:ln/>
        </p:spPr>
        <p:txBody>
          <a:bodyPr/>
          <a:lstStyle/>
          <a:p>
            <a:endParaRPr lang="en-IN"/>
          </a:p>
        </p:txBody>
      </p:sp>
      <p:sp>
        <p:nvSpPr>
          <p:cNvPr id="21" name="Text 19"/>
          <p:cNvSpPr/>
          <p:nvPr/>
        </p:nvSpPr>
        <p:spPr>
          <a:xfrm>
            <a:off x="7086600" y="1676400"/>
            <a:ext cx="3886200" cy="304800"/>
          </a:xfrm>
          <a:prstGeom prst="rect">
            <a:avLst/>
          </a:prstGeom>
          <a:noFill/>
          <a:ln/>
        </p:spPr>
        <p:txBody>
          <a:bodyPr wrap="none" lIns="0" tIns="0" rIns="0" bIns="0" rtlCol="0" anchor="ctr"/>
          <a:lstStyle/>
          <a:p>
            <a:pPr>
              <a:lnSpc>
                <a:spcPct val="100000"/>
              </a:lnSpc>
            </a:pPr>
            <a:r>
              <a:rPr lang="en-US" sz="1500" b="1" dirty="0">
                <a:solidFill>
                  <a:srgbClr val="C58940"/>
                </a:solidFill>
                <a:latin typeface="Quattrocento Sans" pitchFamily="34" charset="0"/>
                <a:ea typeface="Quattrocento Sans" pitchFamily="34" charset="-122"/>
                <a:cs typeface="Quattrocento Sans" pitchFamily="34" charset="-120"/>
              </a:rPr>
              <a:t>CLUSTER 1 — AT-RISK CUSTOMERS</a:t>
            </a:r>
            <a:endParaRPr lang="en-US" sz="1500" dirty="0"/>
          </a:p>
        </p:txBody>
      </p:sp>
      <p:sp>
        <p:nvSpPr>
          <p:cNvPr id="22" name="Text 20"/>
          <p:cNvSpPr/>
          <p:nvPr/>
        </p:nvSpPr>
        <p:spPr>
          <a:xfrm>
            <a:off x="7086600" y="2032000"/>
            <a:ext cx="3886200" cy="508000"/>
          </a:xfrm>
          <a:prstGeom prst="rect">
            <a:avLst/>
          </a:prstGeom>
          <a:noFill/>
          <a:ln/>
        </p:spPr>
        <p:txBody>
          <a:bodyPr wrap="none" lIns="0" tIns="0" rIns="0" bIns="0" rtlCol="0" anchor="ctr"/>
          <a:lstStyle/>
          <a:p>
            <a:pPr>
              <a:lnSpc>
                <a:spcPct val="100000"/>
              </a:lnSpc>
            </a:pPr>
            <a:r>
              <a:rPr lang="en-US" sz="3200" b="1" dirty="0">
                <a:solidFill>
                  <a:srgbClr val="FFFFFF"/>
                </a:solidFill>
                <a:latin typeface="Quattrocento Sans" pitchFamily="34" charset="0"/>
                <a:ea typeface="Quattrocento Sans" pitchFamily="34" charset="-122"/>
                <a:cs typeface="Quattrocento Sans" pitchFamily="34" charset="-120"/>
              </a:rPr>
              <a:t>29,061 (23%)</a:t>
            </a:r>
            <a:endParaRPr lang="en-US" sz="1600" dirty="0"/>
          </a:p>
        </p:txBody>
      </p:sp>
      <p:sp>
        <p:nvSpPr>
          <p:cNvPr id="23" name="Text 21"/>
          <p:cNvSpPr/>
          <p:nvPr/>
        </p:nvSpPr>
        <p:spPr>
          <a:xfrm>
            <a:off x="7086600" y="2616200"/>
            <a:ext cx="3886200" cy="2159000"/>
          </a:xfrm>
          <a:prstGeom prst="rect">
            <a:avLst/>
          </a:prstGeom>
          <a:noFill/>
          <a:ln/>
        </p:spPr>
        <p:txBody>
          <a:bodyPr wrap="square" lIns="0" tIns="0" rIns="0" bIns="0" rtlCol="0" anchor="ctr"/>
          <a:lstStyle/>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Average Discount: 13.4%</a:t>
            </a:r>
            <a:endParaRPr lang="en-US" sz="15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Average Review Score: 2.68 (lowest)</a:t>
            </a:r>
            <a:endParaRPr lang="en-US" sz="15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Average Profit Margin: 553</a:t>
            </a:r>
            <a:endParaRPr lang="en-US" sz="1500" dirty="0"/>
          </a:p>
          <a:p>
            <a:pPr>
              <a:lnSpc>
                <a:spcPct val="160000"/>
              </a:lnSpc>
              <a:spcBef>
                <a:spcPts val="600"/>
              </a:spcBef>
            </a:pPr>
            <a:r>
              <a:rPr lang="en-US" sz="1500" b="1" dirty="0">
                <a:solidFill>
                  <a:srgbClr val="FFFFFF">
                    <a:alpha val="80000"/>
                  </a:srgbClr>
                </a:solidFill>
                <a:latin typeface="Quattrocento Sans" pitchFamily="34" charset="0"/>
                <a:ea typeface="Quattrocento Sans" pitchFamily="34" charset="-122"/>
                <a:cs typeface="Quattrocento Sans" pitchFamily="34" charset="-120"/>
              </a:rPr>
              <a:t>Moderate profit, Lowest review scores, Customer experience needs improvement</a:t>
            </a:r>
            <a:endParaRPr lang="en-US" sz="1500" dirty="0"/>
          </a:p>
        </p:txBody>
      </p:sp>
      <p:sp>
        <p:nvSpPr>
          <p:cNvPr id="24" name="Shape 22"/>
          <p:cNvSpPr/>
          <p:nvPr/>
        </p:nvSpPr>
        <p:spPr>
          <a:xfrm>
            <a:off x="11328400" y="1574800"/>
            <a:ext cx="4419600" cy="3302000"/>
          </a:xfrm>
          <a:prstGeom prst="rect">
            <a:avLst/>
          </a:prstGeom>
          <a:solidFill>
            <a:srgbClr val="C58940"/>
          </a:solidFill>
          <a:ln/>
        </p:spPr>
        <p:txBody>
          <a:bodyPr/>
          <a:lstStyle/>
          <a:p>
            <a:endParaRPr lang="en-IN"/>
          </a:p>
        </p:txBody>
      </p:sp>
      <p:sp>
        <p:nvSpPr>
          <p:cNvPr id="25" name="Text 23"/>
          <p:cNvSpPr/>
          <p:nvPr/>
        </p:nvSpPr>
        <p:spPr>
          <a:xfrm>
            <a:off x="11480800" y="1676400"/>
            <a:ext cx="4114800" cy="3048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CLUSTER 2 — HIGH-VALUE PREMIUM</a:t>
            </a:r>
            <a:endParaRPr lang="en-US" sz="1500" dirty="0"/>
          </a:p>
        </p:txBody>
      </p:sp>
      <p:sp>
        <p:nvSpPr>
          <p:cNvPr id="26" name="Text 24"/>
          <p:cNvSpPr/>
          <p:nvPr/>
        </p:nvSpPr>
        <p:spPr>
          <a:xfrm>
            <a:off x="11480800" y="2032000"/>
            <a:ext cx="4114800" cy="508000"/>
          </a:xfrm>
          <a:prstGeom prst="rect">
            <a:avLst/>
          </a:prstGeom>
          <a:noFill/>
          <a:ln/>
        </p:spPr>
        <p:txBody>
          <a:bodyPr wrap="none" lIns="0" tIns="0" rIns="0" bIns="0" rtlCol="0" anchor="ctr"/>
          <a:lstStyle/>
          <a:p>
            <a:pPr>
              <a:lnSpc>
                <a:spcPct val="100000"/>
              </a:lnSpc>
            </a:pPr>
            <a:r>
              <a:rPr lang="en-US" sz="3200" b="1" dirty="0">
                <a:solidFill>
                  <a:srgbClr val="FFFFFF"/>
                </a:solidFill>
                <a:latin typeface="Quattrocento Sans" pitchFamily="34" charset="0"/>
                <a:ea typeface="Quattrocento Sans" pitchFamily="34" charset="-122"/>
                <a:cs typeface="Quattrocento Sans" pitchFamily="34" charset="-120"/>
              </a:rPr>
              <a:t>27,375 (21%)</a:t>
            </a:r>
            <a:endParaRPr lang="en-US" sz="1600" dirty="0"/>
          </a:p>
        </p:txBody>
      </p:sp>
      <p:sp>
        <p:nvSpPr>
          <p:cNvPr id="27" name="Text 25"/>
          <p:cNvSpPr/>
          <p:nvPr/>
        </p:nvSpPr>
        <p:spPr>
          <a:xfrm>
            <a:off x="11480800" y="2616200"/>
            <a:ext cx="4114800" cy="2159000"/>
          </a:xfrm>
          <a:prstGeom prst="rect">
            <a:avLst/>
          </a:prstGeom>
          <a:noFill/>
          <a:ln/>
        </p:spPr>
        <p:txBody>
          <a:bodyPr wrap="square" lIns="0" tIns="0" rIns="0" bIns="0" rtlCol="0" anchor="ctr"/>
          <a:lstStyle/>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Average Discount: 23.0% </a:t>
            </a:r>
            <a:endParaRPr lang="en-US" sz="15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Average Review Score: 4.75</a:t>
            </a:r>
            <a:endParaRPr lang="en-US" sz="15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Average Profit Margin: 1,126</a:t>
            </a:r>
            <a:endParaRPr lang="en-US" sz="1500" dirty="0"/>
          </a:p>
          <a:p>
            <a:pPr>
              <a:lnSpc>
                <a:spcPct val="160000"/>
              </a:lnSpc>
              <a:spcBef>
                <a:spcPts val="600"/>
              </a:spcBef>
            </a:pPr>
            <a:r>
              <a:rPr lang="en-US" sz="1500" b="1" dirty="0">
                <a:solidFill>
                  <a:srgbClr val="FFFFFF">
                    <a:alpha val="80000"/>
                  </a:srgbClr>
                </a:solidFill>
                <a:latin typeface="Quattrocento Sans" pitchFamily="34" charset="0"/>
                <a:ea typeface="Quattrocento Sans" pitchFamily="34" charset="-122"/>
                <a:cs typeface="Quattrocento Sans" pitchFamily="34" charset="-120"/>
              </a:rPr>
              <a:t>Highest profitability, High satisfaction, Higher discount exposure</a:t>
            </a:r>
            <a:endParaRPr lang="en-US" sz="1500" dirty="0"/>
          </a:p>
        </p:txBody>
      </p:sp>
      <p:sp>
        <p:nvSpPr>
          <p:cNvPr id="28" name="Text 26"/>
          <p:cNvSpPr/>
          <p:nvPr/>
        </p:nvSpPr>
        <p:spPr>
          <a:xfrm>
            <a:off x="2540000" y="5080000"/>
            <a:ext cx="381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CLUSTERING PERFORMANCE</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746210902"/>
              </p:ext>
            </p:extLst>
          </p:nvPr>
        </p:nvGraphicFramePr>
        <p:xfrm>
          <a:off x="2540001" y="5490752"/>
          <a:ext cx="5788454" cy="806270"/>
        </p:xfrm>
        <a:graphic>
          <a:graphicData uri="http://schemas.openxmlformats.org/drawingml/2006/table">
            <a:tbl>
              <a:tblPr/>
              <a:tblGrid>
                <a:gridCol w="1927555">
                  <a:extLst>
                    <a:ext uri="{9D8B030D-6E8A-4147-A177-3AD203B41FA5}">
                      <a16:colId xmlns:a16="http://schemas.microsoft.com/office/drawing/2014/main" val="20000"/>
                    </a:ext>
                  </a:extLst>
                </a:gridCol>
                <a:gridCol w="1927555">
                  <a:extLst>
                    <a:ext uri="{9D8B030D-6E8A-4147-A177-3AD203B41FA5}">
                      <a16:colId xmlns:a16="http://schemas.microsoft.com/office/drawing/2014/main" val="20001"/>
                    </a:ext>
                  </a:extLst>
                </a:gridCol>
                <a:gridCol w="1933344">
                  <a:extLst>
                    <a:ext uri="{9D8B030D-6E8A-4147-A177-3AD203B41FA5}">
                      <a16:colId xmlns:a16="http://schemas.microsoft.com/office/drawing/2014/main" val="20002"/>
                    </a:ext>
                  </a:extLst>
                </a:gridCol>
              </a:tblGrid>
              <a:tr h="289430">
                <a:tc>
                  <a:txBody>
                    <a:bodyPr/>
                    <a:lstStyle/>
                    <a:p>
                      <a:pPr algn="ctr"/>
                      <a:r>
                        <a:rPr lang="en-US" sz="1400" b="1" u="none" dirty="0">
                          <a:solidFill>
                            <a:srgbClr val="FFFFFF"/>
                          </a:solidFill>
                          <a:latin typeface="微软雅黑" pitchFamily="34" charset="0"/>
                          <a:ea typeface="微软雅黑" pitchFamily="34" charset="-122"/>
                          <a:cs typeface="微软雅黑" pitchFamily="34" charset="-120"/>
                        </a:rPr>
                        <a:t>Silhouette Score</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ctr"/>
                      <a:r>
                        <a:rPr lang="en-US" sz="1400" b="1" u="none" dirty="0">
                          <a:solidFill>
                            <a:srgbClr val="FFFFFF"/>
                          </a:solidFill>
                          <a:latin typeface="微软雅黑" pitchFamily="34" charset="0"/>
                          <a:ea typeface="微软雅黑" pitchFamily="34" charset="-122"/>
                          <a:cs typeface="微软雅黑" pitchFamily="34" charset="-120"/>
                        </a:rPr>
                        <a:t>Calinski-Harabasz</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ctr"/>
                      <a:r>
                        <a:rPr lang="en-US" sz="1400" b="1" u="none" dirty="0">
                          <a:solidFill>
                            <a:srgbClr val="FFFFFF"/>
                          </a:solidFill>
                          <a:latin typeface="微软雅黑" pitchFamily="34" charset="0"/>
                          <a:ea typeface="微软雅黑" pitchFamily="34" charset="-122"/>
                          <a:cs typeface="微软雅黑" pitchFamily="34" charset="-120"/>
                        </a:rPr>
                        <a:t>Davies-Bouldin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extLst>
                  <a:ext uri="{0D108BD9-81ED-4DB2-BD59-A6C34878D82A}">
                    <a16:rowId xmlns:a16="http://schemas.microsoft.com/office/drawing/2014/main" val="10000"/>
                  </a:ext>
                </a:extLst>
              </a:tr>
              <a:tr h="516840">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0.399</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106,942</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400" u="none" dirty="0">
                          <a:solidFill>
                            <a:srgbClr val="2D2D2D"/>
                          </a:solidFill>
                          <a:latin typeface="微软雅黑" pitchFamily="34" charset="0"/>
                          <a:ea typeface="微软雅黑" pitchFamily="34" charset="-122"/>
                          <a:cs typeface="微软雅黑" pitchFamily="34" charset="-120"/>
                        </a:rPr>
                        <a:t>1.078</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30" name="Text 27"/>
          <p:cNvSpPr/>
          <p:nvPr/>
        </p:nvSpPr>
        <p:spPr>
          <a:xfrm>
            <a:off x="2540000" y="6771274"/>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INTERPRETATION</a:t>
            </a:r>
            <a:endParaRPr lang="en-US" sz="1600" dirty="0"/>
          </a:p>
        </p:txBody>
      </p:sp>
      <p:sp>
        <p:nvSpPr>
          <p:cNvPr id="31" name="Text 28"/>
          <p:cNvSpPr/>
          <p:nvPr/>
        </p:nvSpPr>
        <p:spPr>
          <a:xfrm>
            <a:off x="2540001" y="6680200"/>
            <a:ext cx="8788400" cy="2349500"/>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600" dirty="0">
                <a:solidFill>
                  <a:srgbClr val="2D2D2D"/>
                </a:solidFill>
                <a:latin typeface="Aptos" panose="020B0004020202020204" pitchFamily="34" charset="0"/>
                <a:ea typeface="QuattrocentoSans" pitchFamily="34" charset="-122"/>
                <a:cs typeface="QuattrocentoSans" pitchFamily="34" charset="-120"/>
              </a:rPr>
              <a:t>Cluster 2 represents the most profitable customer segment.</a:t>
            </a:r>
          </a:p>
          <a:p>
            <a:pPr marL="285750" indent="-285750">
              <a:lnSpc>
                <a:spcPct val="150000"/>
              </a:lnSpc>
              <a:buFont typeface="Arial" panose="020B0604020202020204" pitchFamily="34" charset="0"/>
              <a:buChar char="•"/>
            </a:pPr>
            <a:r>
              <a:rPr lang="en-US" sz="1600" dirty="0">
                <a:solidFill>
                  <a:srgbClr val="2D2D2D"/>
                </a:solidFill>
                <a:latin typeface="Aptos" panose="020B0004020202020204" pitchFamily="34" charset="0"/>
                <a:ea typeface="QuattrocentoSans" pitchFamily="34" charset="-122"/>
                <a:cs typeface="QuattrocentoSans" pitchFamily="34" charset="-120"/>
              </a:rPr>
              <a:t>Cluster 0 is the largest stable customer segment with low profitability but high positive reviews.</a:t>
            </a:r>
            <a:endParaRPr lang="en-US" sz="2000" dirty="0"/>
          </a:p>
          <a:p>
            <a:pPr marL="285750" indent="-285750">
              <a:lnSpc>
                <a:spcPct val="150000"/>
              </a:lnSpc>
              <a:spcBef>
                <a:spcPts val="400"/>
              </a:spcBef>
              <a:buFont typeface="Arial" panose="020B0604020202020204" pitchFamily="34" charset="0"/>
              <a:buChar char="•"/>
            </a:pPr>
            <a:r>
              <a:rPr lang="en-US" sz="1600" dirty="0">
                <a:solidFill>
                  <a:srgbClr val="2D2D2D"/>
                </a:solidFill>
                <a:latin typeface="Aptos" panose="020B0004020202020204" pitchFamily="34" charset="0"/>
                <a:ea typeface="QuattrocentoSans" pitchFamily="34" charset="-122"/>
                <a:cs typeface="QuattrocentoSans" pitchFamily="34" charset="-120"/>
              </a:rPr>
              <a:t>Cluster 1 shows weaker customer satisfaction despite moderate profitability.</a:t>
            </a:r>
            <a:endParaRPr lang="en-US" sz="2000" dirty="0"/>
          </a:p>
          <a:p>
            <a:pPr marL="285750" indent="-285750">
              <a:lnSpc>
                <a:spcPct val="150000"/>
              </a:lnSpc>
              <a:spcBef>
                <a:spcPts val="400"/>
              </a:spcBef>
              <a:buFont typeface="Arial" panose="020B0604020202020204" pitchFamily="34" charset="0"/>
              <a:buChar char="•"/>
            </a:pPr>
            <a:r>
              <a:rPr lang="en-US" sz="1600" dirty="0">
                <a:solidFill>
                  <a:srgbClr val="2D2D2D"/>
                </a:solidFill>
                <a:latin typeface="Aptos" panose="020B0004020202020204" pitchFamily="34" charset="0"/>
                <a:ea typeface="QuattrocentoSans" pitchFamily="34" charset="-122"/>
                <a:cs typeface="QuattrocentoSans" pitchFamily="34" charset="-120"/>
              </a:rPr>
              <a:t>K=3 was selected because it provided meaningful and actionable customer segments.</a:t>
            </a:r>
            <a:endParaRPr lang="en-US" sz="2000" dirty="0"/>
          </a:p>
        </p:txBody>
      </p:sp>
      <p:sp>
        <p:nvSpPr>
          <p:cNvPr id="32" name="Shape 22">
            <a:extLst>
              <a:ext uri="{FF2B5EF4-FFF2-40B4-BE49-F238E27FC236}">
                <a16:creationId xmlns:a16="http://schemas.microsoft.com/office/drawing/2014/main" id="{AB7AEA68-FADE-BDCB-935B-AE5145D5C684}"/>
              </a:ext>
            </a:extLst>
          </p:cNvPr>
          <p:cNvSpPr/>
          <p:nvPr/>
        </p:nvSpPr>
        <p:spPr>
          <a:xfrm>
            <a:off x="11328401" y="6319001"/>
            <a:ext cx="4419599" cy="2614934"/>
          </a:xfrm>
          <a:prstGeom prst="rect">
            <a:avLst/>
          </a:prstGeom>
          <a:solidFill>
            <a:schemeClr val="tx2">
              <a:lumMod val="60000"/>
              <a:lumOff val="40000"/>
            </a:schemeClr>
          </a:solidFill>
          <a:ln/>
        </p:spPr>
        <p:txBody>
          <a:bodyPr/>
          <a:lstStyle/>
          <a:p>
            <a:r>
              <a:rPr lang="en-IN" sz="1500" b="1" dirty="0">
                <a:solidFill>
                  <a:srgbClr val="FFFFFF"/>
                </a:solidFill>
                <a:latin typeface="Quattrocento Sans" pitchFamily="34" charset="0"/>
              </a:rPr>
              <a:t>Cluster 0 – Value Customers</a:t>
            </a:r>
          </a:p>
          <a:p>
            <a:pPr marL="285750" indent="-285750">
              <a:buFont typeface="Arial" panose="020B0604020202020204" pitchFamily="34" charset="0"/>
              <a:buChar char="•"/>
            </a:pPr>
            <a:r>
              <a:rPr lang="en-IN" sz="1500" dirty="0">
                <a:solidFill>
                  <a:srgbClr val="FFFFFF"/>
                </a:solidFill>
                <a:latin typeface="Quattrocento Sans" pitchFamily="34" charset="0"/>
              </a:rPr>
              <a:t>Retain through loyalty programs and consistent service. </a:t>
            </a:r>
          </a:p>
          <a:p>
            <a:pPr marL="285750" indent="-285750">
              <a:buFont typeface="Arial" panose="020B0604020202020204" pitchFamily="34" charset="0"/>
              <a:buChar char="•"/>
            </a:pPr>
            <a:endParaRPr lang="en-IN" sz="1500" dirty="0">
              <a:solidFill>
                <a:srgbClr val="FFFFFF"/>
              </a:solidFill>
              <a:latin typeface="Quattrocento Sans" pitchFamily="34" charset="0"/>
            </a:endParaRPr>
          </a:p>
          <a:p>
            <a:r>
              <a:rPr lang="en-IN" sz="1500" b="1" dirty="0">
                <a:solidFill>
                  <a:srgbClr val="FFFFFF"/>
                </a:solidFill>
                <a:latin typeface="Quattrocento Sans" pitchFamily="34" charset="0"/>
              </a:rPr>
              <a:t>Cluster 1 – At-Risk Customers</a:t>
            </a:r>
          </a:p>
          <a:p>
            <a:pPr marL="285750" indent="-285750">
              <a:buFont typeface="Arial" panose="020B0604020202020204" pitchFamily="34" charset="0"/>
              <a:buChar char="•"/>
            </a:pPr>
            <a:r>
              <a:rPr lang="en-IN" sz="1500" dirty="0">
                <a:solidFill>
                  <a:srgbClr val="FFFFFF"/>
                </a:solidFill>
                <a:latin typeface="Quattrocento Sans" pitchFamily="34" charset="0"/>
              </a:rPr>
              <a:t>Improve customer experience and investigate low review scores. </a:t>
            </a:r>
          </a:p>
          <a:p>
            <a:pPr marL="285750" indent="-285750">
              <a:buFont typeface="Arial" panose="020B0604020202020204" pitchFamily="34" charset="0"/>
              <a:buChar char="•"/>
            </a:pPr>
            <a:endParaRPr lang="en-IN" sz="1500" dirty="0">
              <a:solidFill>
                <a:srgbClr val="FFFFFF"/>
              </a:solidFill>
              <a:latin typeface="Quattrocento Sans" pitchFamily="34" charset="0"/>
            </a:endParaRPr>
          </a:p>
          <a:p>
            <a:r>
              <a:rPr lang="en-IN" sz="1500" b="1" dirty="0">
                <a:solidFill>
                  <a:srgbClr val="FFFFFF"/>
                </a:solidFill>
                <a:latin typeface="Quattrocento Sans" pitchFamily="34" charset="0"/>
              </a:rPr>
              <a:t>Cluster 2 – High-Value Premium</a:t>
            </a:r>
          </a:p>
          <a:p>
            <a:pPr marL="285750" indent="-285750">
              <a:buFont typeface="Arial" panose="020B0604020202020204" pitchFamily="34" charset="0"/>
              <a:buChar char="•"/>
            </a:pPr>
            <a:r>
              <a:rPr lang="en-IN" sz="1500" dirty="0">
                <a:solidFill>
                  <a:srgbClr val="FFFFFF"/>
                </a:solidFill>
                <a:latin typeface="Quattrocento Sans" pitchFamily="34" charset="0"/>
              </a:rPr>
              <a:t>Focus upselling and premium offers on this segment.</a:t>
            </a:r>
          </a:p>
        </p:txBody>
      </p:sp>
      <p:sp>
        <p:nvSpPr>
          <p:cNvPr id="33" name="Text 27">
            <a:extLst>
              <a:ext uri="{FF2B5EF4-FFF2-40B4-BE49-F238E27FC236}">
                <a16:creationId xmlns:a16="http://schemas.microsoft.com/office/drawing/2014/main" id="{D6E27068-3820-0EDB-380C-E3DAF6998C1B}"/>
              </a:ext>
            </a:extLst>
          </p:cNvPr>
          <p:cNvSpPr/>
          <p:nvPr/>
        </p:nvSpPr>
        <p:spPr>
          <a:xfrm>
            <a:off x="11328401" y="5893887"/>
            <a:ext cx="254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BUSINESS RECOMMENDATIONS</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45212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04 Machine Learning &gt; </a:t>
            </a:r>
            <a:r>
              <a:rPr lang="en-US" sz="2800" b="1" dirty="0">
                <a:solidFill>
                  <a:srgbClr val="0B3C3D"/>
                </a:solidFill>
                <a:latin typeface="Quattrocento Sans" pitchFamily="34" charset="0"/>
                <a:ea typeface="Quattrocento Sans" pitchFamily="34" charset="-122"/>
                <a:cs typeface="Quattrocento Sans" pitchFamily="34" charset="-120"/>
              </a:rPr>
              <a:t>Clustering Visualization</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28</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KMeans clustering visualization</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sp>
        <p:nvSpPr>
          <p:cNvPr id="16" name="Shape 14"/>
          <p:cNvSpPr/>
          <p:nvPr/>
        </p:nvSpPr>
        <p:spPr>
          <a:xfrm>
            <a:off x="2540000" y="1524000"/>
            <a:ext cx="13208000" cy="7294516"/>
          </a:xfrm>
          <a:prstGeom prst="rect">
            <a:avLst/>
          </a:prstGeom>
          <a:solidFill>
            <a:srgbClr val="D4E5E5"/>
          </a:solidFill>
          <a:ln w="12700">
            <a:solidFill>
              <a:srgbClr val="B0BEC5"/>
            </a:solidFill>
            <a:prstDash val="solid"/>
          </a:ln>
        </p:spPr>
        <p:txBody>
          <a:bodyPr/>
          <a:lstStyle/>
          <a:p>
            <a:endParaRPr lang="en-IN"/>
          </a:p>
        </p:txBody>
      </p:sp>
      <p:pic>
        <p:nvPicPr>
          <p:cNvPr id="19" name="Picture 18">
            <a:extLst>
              <a:ext uri="{FF2B5EF4-FFF2-40B4-BE49-F238E27FC236}">
                <a16:creationId xmlns:a16="http://schemas.microsoft.com/office/drawing/2014/main" id="{63FD9714-5E3E-6D93-50C8-72EC589F0174}"/>
              </a:ext>
            </a:extLst>
          </p:cNvPr>
          <p:cNvPicPr>
            <a:picLocks noChangeAspect="1"/>
          </p:cNvPicPr>
          <p:nvPr/>
        </p:nvPicPr>
        <p:blipFill>
          <a:blip r:embed="rId3"/>
          <a:stretch>
            <a:fillRect/>
          </a:stretch>
        </p:blipFill>
        <p:spPr>
          <a:xfrm>
            <a:off x="3352799" y="1536337"/>
            <a:ext cx="11630297" cy="7269116"/>
          </a:xfrm>
          <a:prstGeom prst="rect">
            <a:avLst/>
          </a:prstGeom>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B3C3D">
              <a:alpha val="3922"/>
            </a:srgbClr>
          </a:solidFill>
          <a:ln w="12700">
            <a:solidFill>
              <a:srgbClr val="0B3C3D">
                <a:alpha val="18824"/>
              </a:srgbClr>
            </a:solidFill>
            <a:prstDash val="solid"/>
          </a:ln>
        </p:spPr>
        <p:txBody>
          <a:bodyPr/>
          <a:lstStyle/>
          <a:p>
            <a:endParaRPr lang="en-IN"/>
          </a:p>
        </p:txBody>
      </p:sp>
      <p:sp>
        <p:nvSpPr>
          <p:cNvPr id="3" name="Shape 1"/>
          <p:cNvSpPr/>
          <p:nvPr/>
        </p:nvSpPr>
        <p:spPr>
          <a:xfrm>
            <a:off x="2540000" y="2286000"/>
            <a:ext cx="3810000" cy="3810000"/>
          </a:xfrm>
          <a:prstGeom prst="rect">
            <a:avLst/>
          </a:prstGeom>
          <a:solidFill>
            <a:srgbClr val="0B3C3D">
              <a:alpha val="3922"/>
            </a:srgbClr>
          </a:solidFill>
          <a:ln w="25400">
            <a:solidFill>
              <a:srgbClr val="0B3C3D">
                <a:alpha val="31373"/>
              </a:srgbClr>
            </a:solidFill>
            <a:prstDash val="solid"/>
          </a:ln>
        </p:spPr>
        <p:txBody>
          <a:bodyPr/>
          <a:lstStyle/>
          <a:p>
            <a:endParaRPr lang="en-IN"/>
          </a:p>
        </p:txBody>
      </p:sp>
      <p:sp>
        <p:nvSpPr>
          <p:cNvPr id="4" name="Shape 2"/>
          <p:cNvSpPr/>
          <p:nvPr/>
        </p:nvSpPr>
        <p:spPr>
          <a:xfrm>
            <a:off x="3048000" y="2794000"/>
            <a:ext cx="2794000" cy="2794000"/>
          </a:xfrm>
          <a:prstGeom prst="rect">
            <a:avLst/>
          </a:prstGeom>
          <a:solidFill>
            <a:srgbClr val="FFFFFF"/>
          </a:solidFill>
          <a:ln w="25400">
            <a:solidFill>
              <a:srgbClr val="0B3C3D"/>
            </a:solidFill>
            <a:prstDash val="solid"/>
          </a:ln>
        </p:spPr>
        <p:txBody>
          <a:bodyPr/>
          <a:lstStyle/>
          <a:p>
            <a:endParaRPr lang="en-IN"/>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00000"/>
              </a:lnSpc>
            </a:pPr>
            <a:r>
              <a:rPr lang="en-US" sz="8000" b="1" dirty="0">
                <a:solidFill>
                  <a:srgbClr val="0B3C3D"/>
                </a:solidFill>
                <a:latin typeface="Quattrocento Sans" pitchFamily="34" charset="0"/>
                <a:ea typeface="Quattrocento Sans" pitchFamily="34" charset="-122"/>
                <a:cs typeface="Quattrocento Sans" pitchFamily="34" charset="-120"/>
              </a:rPr>
              <a:t>05</a:t>
            </a:r>
            <a:endParaRPr lang="en-US" sz="1600" dirty="0"/>
          </a:p>
        </p:txBody>
      </p:sp>
      <p:sp>
        <p:nvSpPr>
          <p:cNvPr id="6" name="Shape 4"/>
          <p:cNvSpPr/>
          <p:nvPr/>
        </p:nvSpPr>
        <p:spPr>
          <a:xfrm>
            <a:off x="7620000" y="2794000"/>
            <a:ext cx="12700" cy="2794000"/>
          </a:xfrm>
          <a:prstGeom prst="rect">
            <a:avLst/>
          </a:prstGeom>
          <a:solidFill>
            <a:srgbClr val="B0BEC5"/>
          </a:solidFill>
          <a:ln/>
        </p:spPr>
        <p:txBody>
          <a:bodyPr/>
          <a:lstStyle/>
          <a:p>
            <a:endParaRPr lang="en-IN"/>
          </a:p>
        </p:txBody>
      </p:sp>
      <p:sp>
        <p:nvSpPr>
          <p:cNvPr id="7" name="Text 5"/>
          <p:cNvSpPr/>
          <p:nvPr/>
        </p:nvSpPr>
        <p:spPr>
          <a:xfrm>
            <a:off x="8128000" y="2921000"/>
            <a:ext cx="7112000" cy="304800"/>
          </a:xfrm>
          <a:prstGeom prst="rect">
            <a:avLst/>
          </a:prstGeom>
          <a:noFill/>
          <a:ln/>
        </p:spPr>
        <p:txBody>
          <a:bodyPr wrap="none" lIns="0" tIns="0" rIns="0" bIns="0" rtlCol="0" anchor="ctr"/>
          <a:lstStyle/>
          <a:p>
            <a:pPr>
              <a:lnSpc>
                <a:spcPct val="100000"/>
              </a:lnSpc>
            </a:pPr>
            <a:r>
              <a:rPr lang="en-US" sz="1400" kern="0" spc="400" dirty="0">
                <a:solidFill>
                  <a:srgbClr val="C58940"/>
                </a:solidFill>
                <a:latin typeface="Quattrocento Sans" pitchFamily="34" charset="0"/>
                <a:ea typeface="Quattrocento Sans" pitchFamily="34" charset="-122"/>
                <a:cs typeface="Quattrocento Sans" pitchFamily="34" charset="-120"/>
              </a:rPr>
              <a:t>CHAPTER FIVE</a:t>
            </a:r>
            <a:endParaRPr lang="en-US" sz="16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nSpc>
                <a:spcPct val="100000"/>
              </a:lnSpc>
            </a:pPr>
            <a:r>
              <a:rPr lang="en-US" sz="3600" b="1" dirty="0">
                <a:solidFill>
                  <a:srgbClr val="0B3C3D"/>
                </a:solidFill>
                <a:latin typeface="Quattrocento Sans" pitchFamily="34" charset="0"/>
                <a:ea typeface="Quattrocento Sans" pitchFamily="34" charset="-122"/>
                <a:cs typeface="Quattrocento Sans" pitchFamily="34" charset="-120"/>
              </a:rPr>
              <a:t>Recommendations &amp; Conclusion</a:t>
            </a:r>
            <a:endParaRPr lang="en-US" sz="1600" dirty="0"/>
          </a:p>
        </p:txBody>
      </p:sp>
      <p:sp>
        <p:nvSpPr>
          <p:cNvPr id="9" name="Text 7"/>
          <p:cNvSpPr/>
          <p:nvPr/>
        </p:nvSpPr>
        <p:spPr>
          <a:xfrm>
            <a:off x="8128000" y="4419600"/>
            <a:ext cx="7366000" cy="355600"/>
          </a:xfrm>
          <a:prstGeom prst="rect">
            <a:avLst/>
          </a:prstGeom>
          <a:noFill/>
          <a:ln/>
        </p:spPr>
        <p:txBody>
          <a:bodyPr wrap="none" lIns="0" tIns="0" rIns="0" bIns="0" rtlCol="0" anchor="ctr"/>
          <a:lstStyle/>
          <a:p>
            <a:pPr>
              <a:lnSpc>
                <a:spcPct val="100000"/>
              </a:lnSpc>
            </a:pPr>
            <a:r>
              <a:rPr lang="en-US" sz="1600" dirty="0">
                <a:solidFill>
                  <a:srgbClr val="8A8A8A"/>
                </a:solidFill>
                <a:latin typeface="Quattrocento Sans" pitchFamily="34" charset="0"/>
                <a:ea typeface="Quattrocento Sans" pitchFamily="34" charset="-122"/>
                <a:cs typeface="Quattrocento Sans" pitchFamily="34" charset="-120"/>
              </a:rPr>
              <a:t>Strategic recommendations and project summary</a:t>
            </a:r>
            <a:endParaRPr lang="en-US" sz="1600" dirty="0"/>
          </a:p>
        </p:txBody>
      </p:sp>
      <p:sp>
        <p:nvSpPr>
          <p:cNvPr id="10" name="Shape 8"/>
          <p:cNvSpPr/>
          <p:nvPr/>
        </p:nvSpPr>
        <p:spPr>
          <a:xfrm>
            <a:off x="8128000" y="5029200"/>
            <a:ext cx="2540000" cy="25400"/>
          </a:xfrm>
          <a:prstGeom prst="rect">
            <a:avLst/>
          </a:prstGeom>
          <a:solidFill>
            <a:srgbClr val="C58940"/>
          </a:solidFill>
          <a:ln/>
        </p:spPr>
        <p:txBody>
          <a:bodyPr/>
          <a:lstStyle/>
          <a:p>
            <a:endParaRPr lang="en-IN"/>
          </a:p>
        </p:txBody>
      </p:sp>
      <p:sp>
        <p:nvSpPr>
          <p:cNvPr id="11" name="Text 9"/>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0B3C3D"/>
                </a:solidFill>
                <a:latin typeface="Quattrocento Sans" pitchFamily="34" charset="0"/>
                <a:ea typeface="Quattrocento Sans" pitchFamily="34" charset="-122"/>
                <a:cs typeface="Quattrocento Sans" pitchFamily="34" charset="-120"/>
              </a:rPr>
              <a:t>29</a:t>
            </a:r>
            <a:endParaRPr lang="en-US" sz="16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56896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05 Recommendations &gt; </a:t>
            </a:r>
            <a:r>
              <a:rPr lang="en-US" sz="2800" b="1" dirty="0">
                <a:solidFill>
                  <a:srgbClr val="0B3C3D"/>
                </a:solidFill>
                <a:latin typeface="Quattrocento Sans" pitchFamily="34" charset="0"/>
                <a:ea typeface="Quattrocento Sans" pitchFamily="34" charset="-122"/>
                <a:cs typeface="Quattrocento Sans" pitchFamily="34" charset="-120"/>
              </a:rPr>
              <a:t>Strategic Priorities</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rPr>
              <a:t>30</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000" b="1" dirty="0">
                <a:solidFill>
                  <a:srgbClr val="0B3C3D"/>
                </a:solidFill>
                <a:latin typeface="Aptos" panose="020B0004020202020204" pitchFamily="34" charset="0"/>
                <a:ea typeface="QuattrocentoSans" pitchFamily="34" charset="-122"/>
                <a:cs typeface="QuattrocentoSans" pitchFamily="34" charset="-120"/>
              </a:rPr>
              <a:t>Five strategic priorities to drive retention, efficiency, and profitability</a:t>
            </a:r>
            <a:endParaRPr lang="en-US" sz="20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sp>
        <p:nvSpPr>
          <p:cNvPr id="16" name="Shape 14"/>
          <p:cNvSpPr/>
          <p:nvPr/>
        </p:nvSpPr>
        <p:spPr>
          <a:xfrm>
            <a:off x="2540000" y="1757682"/>
            <a:ext cx="355600" cy="355600"/>
          </a:xfrm>
          <a:prstGeom prst="rect">
            <a:avLst/>
          </a:prstGeom>
          <a:solidFill>
            <a:srgbClr val="0B3C3D"/>
          </a:solidFill>
          <a:ln/>
        </p:spPr>
        <p:txBody>
          <a:bodyPr/>
          <a:lstStyle/>
          <a:p>
            <a:endParaRPr lang="en-IN"/>
          </a:p>
        </p:txBody>
      </p:sp>
      <p:sp>
        <p:nvSpPr>
          <p:cNvPr id="17" name="Text 15"/>
          <p:cNvSpPr/>
          <p:nvPr/>
        </p:nvSpPr>
        <p:spPr>
          <a:xfrm>
            <a:off x="2540000" y="1757682"/>
            <a:ext cx="355600" cy="3556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8" name="Text 16"/>
          <p:cNvSpPr/>
          <p:nvPr/>
        </p:nvSpPr>
        <p:spPr>
          <a:xfrm>
            <a:off x="3022600" y="1757682"/>
            <a:ext cx="5867400" cy="355600"/>
          </a:xfrm>
          <a:prstGeom prst="rect">
            <a:avLst/>
          </a:prstGeom>
          <a:noFill/>
          <a:ln/>
        </p:spPr>
        <p:txBody>
          <a:bodyPr wrap="none" lIns="0" tIns="0" rIns="0" bIns="0" rtlCol="0" anchor="ctr"/>
          <a:lstStyle/>
          <a:p>
            <a:pP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Strengthen Early Customer Retention</a:t>
            </a:r>
            <a:endParaRPr lang="en-US" sz="1600" dirty="0"/>
          </a:p>
        </p:txBody>
      </p:sp>
      <p:sp>
        <p:nvSpPr>
          <p:cNvPr id="19" name="Text 17"/>
          <p:cNvSpPr/>
          <p:nvPr/>
        </p:nvSpPr>
        <p:spPr>
          <a:xfrm>
            <a:off x="3022600" y="2073367"/>
            <a:ext cx="5867400" cy="889000"/>
          </a:xfrm>
          <a:prstGeom prst="rect">
            <a:avLst/>
          </a:prstGeom>
          <a:noFill/>
          <a:ln/>
        </p:spPr>
        <p:txBody>
          <a:bodyPr wrap="square" lIns="0" tIns="0" rIns="0" bIns="0" rtlCol="0" anchor="ctr"/>
          <a:lstStyle/>
          <a:p>
            <a:pPr>
              <a:lnSpc>
                <a:spcPct val="140000"/>
              </a:lnSpc>
            </a:pPr>
            <a:r>
              <a:rPr lang="en-US" sz="1400" dirty="0">
                <a:solidFill>
                  <a:srgbClr val="2D2D2D"/>
                </a:solidFill>
                <a:latin typeface="Quattrocento Sans" pitchFamily="34" charset="0"/>
                <a:ea typeface="Quattrocento Sans" pitchFamily="34" charset="-122"/>
                <a:cs typeface="Quattrocento Sans" pitchFamily="34" charset="-120"/>
              </a:rPr>
              <a:t>Most repeat purchases occur during the early customer lifecycle. Deploy personalized onboarding, loyalty incentives, and post-purchase engagement campaigns.</a:t>
            </a:r>
            <a:endParaRPr lang="en-US" dirty="0"/>
          </a:p>
        </p:txBody>
      </p:sp>
      <p:sp>
        <p:nvSpPr>
          <p:cNvPr id="20" name="Shape 18"/>
          <p:cNvSpPr/>
          <p:nvPr/>
        </p:nvSpPr>
        <p:spPr>
          <a:xfrm>
            <a:off x="9144000" y="1757682"/>
            <a:ext cx="355600" cy="355600"/>
          </a:xfrm>
          <a:prstGeom prst="rect">
            <a:avLst/>
          </a:prstGeom>
          <a:solidFill>
            <a:srgbClr val="0B3C3D"/>
          </a:solidFill>
          <a:ln/>
        </p:spPr>
        <p:txBody>
          <a:bodyPr/>
          <a:lstStyle/>
          <a:p>
            <a:endParaRPr lang="en-IN"/>
          </a:p>
        </p:txBody>
      </p:sp>
      <p:sp>
        <p:nvSpPr>
          <p:cNvPr id="21" name="Text 19"/>
          <p:cNvSpPr/>
          <p:nvPr/>
        </p:nvSpPr>
        <p:spPr>
          <a:xfrm>
            <a:off x="9144000" y="1770745"/>
            <a:ext cx="355600" cy="3556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2" name="Text 20"/>
          <p:cNvSpPr/>
          <p:nvPr/>
        </p:nvSpPr>
        <p:spPr>
          <a:xfrm>
            <a:off x="9626600" y="1757682"/>
            <a:ext cx="6121400" cy="355600"/>
          </a:xfrm>
          <a:prstGeom prst="rect">
            <a:avLst/>
          </a:prstGeom>
          <a:noFill/>
          <a:ln/>
        </p:spPr>
        <p:txBody>
          <a:bodyPr wrap="none" lIns="0" tIns="0" rIns="0" bIns="0" rtlCol="0" anchor="ctr"/>
          <a:lstStyle/>
          <a:p>
            <a:pP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Optimize Delivery &amp; Fulfillment</a:t>
            </a:r>
            <a:endParaRPr lang="en-US" sz="1600" dirty="0"/>
          </a:p>
        </p:txBody>
      </p:sp>
      <p:sp>
        <p:nvSpPr>
          <p:cNvPr id="23" name="Text 21"/>
          <p:cNvSpPr/>
          <p:nvPr/>
        </p:nvSpPr>
        <p:spPr>
          <a:xfrm>
            <a:off x="9626600" y="2073367"/>
            <a:ext cx="6121400" cy="762000"/>
          </a:xfrm>
          <a:prstGeom prst="rect">
            <a:avLst/>
          </a:prstGeom>
          <a:noFill/>
          <a:ln/>
        </p:spPr>
        <p:txBody>
          <a:bodyPr wrap="square" lIns="0" tIns="0" rIns="0" bIns="0" rtlCol="0" anchor="ctr"/>
          <a:lstStyle/>
          <a:p>
            <a:pPr>
              <a:lnSpc>
                <a:spcPct val="140000"/>
              </a:lnSpc>
            </a:pPr>
            <a:r>
              <a:rPr lang="en-US" sz="1400" dirty="0">
                <a:solidFill>
                  <a:srgbClr val="2D2D2D"/>
                </a:solidFill>
                <a:latin typeface="Quattrocento Sans" pitchFamily="34" charset="0"/>
                <a:ea typeface="Quattrocento Sans" pitchFamily="34" charset="-122"/>
                <a:cs typeface="Quattrocento Sans" pitchFamily="34" charset="-120"/>
              </a:rPr>
              <a:t>With 67% delivery delays across all regions, improve logistics coordination, warehouse allocation, and delivery tracking systems.</a:t>
            </a:r>
            <a:endParaRPr lang="en-US" dirty="0"/>
          </a:p>
        </p:txBody>
      </p:sp>
      <p:sp>
        <p:nvSpPr>
          <p:cNvPr id="24" name="Shape 22"/>
          <p:cNvSpPr/>
          <p:nvPr/>
        </p:nvSpPr>
        <p:spPr>
          <a:xfrm>
            <a:off x="2540000" y="3276880"/>
            <a:ext cx="355600" cy="355600"/>
          </a:xfrm>
          <a:prstGeom prst="rect">
            <a:avLst/>
          </a:prstGeom>
          <a:solidFill>
            <a:srgbClr val="1A5C5C"/>
          </a:solidFill>
          <a:ln/>
        </p:spPr>
        <p:txBody>
          <a:bodyPr/>
          <a:lstStyle/>
          <a:p>
            <a:endParaRPr lang="en-IN"/>
          </a:p>
        </p:txBody>
      </p:sp>
      <p:sp>
        <p:nvSpPr>
          <p:cNvPr id="25" name="Text 23"/>
          <p:cNvSpPr/>
          <p:nvPr/>
        </p:nvSpPr>
        <p:spPr>
          <a:xfrm>
            <a:off x="2540000" y="3276880"/>
            <a:ext cx="355600" cy="3556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26" name="Text 24"/>
          <p:cNvSpPr/>
          <p:nvPr/>
        </p:nvSpPr>
        <p:spPr>
          <a:xfrm>
            <a:off x="3022600" y="3276880"/>
            <a:ext cx="5867400" cy="355600"/>
          </a:xfrm>
          <a:prstGeom prst="rect">
            <a:avLst/>
          </a:prstGeom>
          <a:noFill/>
          <a:ln/>
        </p:spPr>
        <p:txBody>
          <a:bodyPr wrap="none" lIns="0" tIns="0" rIns="0" bIns="0" rtlCol="0" anchor="ctr"/>
          <a:lstStyle/>
          <a:p>
            <a:pP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Focus on Medium Discount Strategies</a:t>
            </a:r>
            <a:endParaRPr lang="en-US" sz="1600" dirty="0"/>
          </a:p>
        </p:txBody>
      </p:sp>
      <p:sp>
        <p:nvSpPr>
          <p:cNvPr id="27" name="Text 25"/>
          <p:cNvSpPr/>
          <p:nvPr/>
        </p:nvSpPr>
        <p:spPr>
          <a:xfrm>
            <a:off x="3022600" y="3751537"/>
            <a:ext cx="5867400" cy="603028"/>
          </a:xfrm>
          <a:prstGeom prst="rect">
            <a:avLst/>
          </a:prstGeom>
          <a:noFill/>
          <a:ln/>
        </p:spPr>
        <p:txBody>
          <a:bodyPr wrap="square" lIns="0" tIns="0" rIns="0" bIns="0" rtlCol="0" anchor="ctr"/>
          <a:lstStyle/>
          <a:p>
            <a:pPr>
              <a:lnSpc>
                <a:spcPct val="140000"/>
              </a:lnSpc>
            </a:pPr>
            <a:r>
              <a:rPr lang="en-US" sz="1400" dirty="0">
                <a:solidFill>
                  <a:srgbClr val="2D2D2D"/>
                </a:solidFill>
                <a:latin typeface="Quattrocento Sans" pitchFamily="34" charset="0"/>
                <a:ea typeface="Quattrocento Sans" pitchFamily="34" charset="-122"/>
                <a:cs typeface="Quattrocento Sans" pitchFamily="34" charset="-120"/>
              </a:rPr>
              <a:t>Medium discounts (11–25%) generate strong revenue performance while maintaining profitability. Avoid excessive deep discounting that increases promotional dependence.</a:t>
            </a:r>
            <a:endParaRPr lang="en-US" dirty="0"/>
          </a:p>
        </p:txBody>
      </p:sp>
      <p:sp>
        <p:nvSpPr>
          <p:cNvPr id="28" name="Shape 26"/>
          <p:cNvSpPr/>
          <p:nvPr/>
        </p:nvSpPr>
        <p:spPr>
          <a:xfrm>
            <a:off x="9144000" y="3263817"/>
            <a:ext cx="355600" cy="355600"/>
          </a:xfrm>
          <a:prstGeom prst="rect">
            <a:avLst/>
          </a:prstGeom>
          <a:solidFill>
            <a:srgbClr val="1A5C5C"/>
          </a:solidFill>
          <a:ln/>
        </p:spPr>
        <p:txBody>
          <a:bodyPr/>
          <a:lstStyle/>
          <a:p>
            <a:endParaRPr lang="en-IN"/>
          </a:p>
        </p:txBody>
      </p:sp>
      <p:sp>
        <p:nvSpPr>
          <p:cNvPr id="29" name="Text 27"/>
          <p:cNvSpPr/>
          <p:nvPr/>
        </p:nvSpPr>
        <p:spPr>
          <a:xfrm>
            <a:off x="9144000" y="3276880"/>
            <a:ext cx="355600" cy="3556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30" name="Text 28"/>
          <p:cNvSpPr/>
          <p:nvPr/>
        </p:nvSpPr>
        <p:spPr>
          <a:xfrm>
            <a:off x="9626600" y="3276880"/>
            <a:ext cx="6121400" cy="355600"/>
          </a:xfrm>
          <a:prstGeom prst="rect">
            <a:avLst/>
          </a:prstGeom>
          <a:noFill/>
          <a:ln/>
        </p:spPr>
        <p:txBody>
          <a:bodyPr wrap="none" lIns="0" tIns="0" rIns="0" bIns="0" rtlCol="0" anchor="ctr"/>
          <a:lstStyle/>
          <a:p>
            <a:pP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Expand High-Performing Categories</a:t>
            </a:r>
            <a:endParaRPr lang="en-US" sz="1600" dirty="0"/>
          </a:p>
        </p:txBody>
      </p:sp>
      <p:sp>
        <p:nvSpPr>
          <p:cNvPr id="31" name="Text 29"/>
          <p:cNvSpPr/>
          <p:nvPr/>
        </p:nvSpPr>
        <p:spPr>
          <a:xfrm>
            <a:off x="9626600" y="3751537"/>
            <a:ext cx="6121400" cy="762000"/>
          </a:xfrm>
          <a:prstGeom prst="rect">
            <a:avLst/>
          </a:prstGeom>
          <a:noFill/>
          <a:ln/>
        </p:spPr>
        <p:txBody>
          <a:bodyPr wrap="square" lIns="0" tIns="0" rIns="0" bIns="0" rtlCol="0" anchor="ctr"/>
          <a:lstStyle/>
          <a:p>
            <a:pPr>
              <a:lnSpc>
                <a:spcPct val="140000"/>
              </a:lnSpc>
            </a:pPr>
            <a:r>
              <a:rPr lang="en-US" sz="1400" dirty="0">
                <a:solidFill>
                  <a:srgbClr val="2D2D2D"/>
                </a:solidFill>
                <a:latin typeface="Quattrocento Sans" pitchFamily="34" charset="0"/>
                <a:ea typeface="Quattrocento Sans" pitchFamily="34" charset="-122"/>
                <a:cs typeface="Quattrocento Sans" pitchFamily="34" charset="-120"/>
              </a:rPr>
              <a:t>Expand high-performing categories such as Bed Bath Table, Sports Leisure, Health Beauty, and Furniture Decor through targeted marketing and inventory optimization.</a:t>
            </a:r>
            <a:endParaRPr lang="en-US" dirty="0"/>
          </a:p>
        </p:txBody>
      </p:sp>
      <p:sp>
        <p:nvSpPr>
          <p:cNvPr id="32" name="Shape 30"/>
          <p:cNvSpPr/>
          <p:nvPr/>
        </p:nvSpPr>
        <p:spPr>
          <a:xfrm>
            <a:off x="2540000" y="4660150"/>
            <a:ext cx="355600" cy="355600"/>
          </a:xfrm>
          <a:prstGeom prst="rect">
            <a:avLst/>
          </a:prstGeom>
          <a:solidFill>
            <a:srgbClr val="C58940"/>
          </a:solidFill>
          <a:ln/>
        </p:spPr>
        <p:txBody>
          <a:bodyPr/>
          <a:lstStyle/>
          <a:p>
            <a:endParaRPr lang="en-IN"/>
          </a:p>
        </p:txBody>
      </p:sp>
      <p:sp>
        <p:nvSpPr>
          <p:cNvPr id="33" name="Text 31"/>
          <p:cNvSpPr/>
          <p:nvPr/>
        </p:nvSpPr>
        <p:spPr>
          <a:xfrm>
            <a:off x="2540000" y="4660150"/>
            <a:ext cx="355600" cy="3556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5</a:t>
            </a:r>
            <a:endParaRPr lang="en-US" sz="1600" dirty="0"/>
          </a:p>
        </p:txBody>
      </p:sp>
      <p:sp>
        <p:nvSpPr>
          <p:cNvPr id="34" name="Text 32"/>
          <p:cNvSpPr/>
          <p:nvPr/>
        </p:nvSpPr>
        <p:spPr>
          <a:xfrm>
            <a:off x="3022600" y="4672508"/>
            <a:ext cx="12725400" cy="355600"/>
          </a:xfrm>
          <a:prstGeom prst="rect">
            <a:avLst/>
          </a:prstGeom>
          <a:noFill/>
          <a:ln/>
        </p:spPr>
        <p:txBody>
          <a:bodyPr wrap="none" lIns="0" tIns="0" rIns="0" bIns="0" rtlCol="0" anchor="ctr"/>
          <a:lstStyle/>
          <a:p>
            <a:pPr>
              <a:lnSpc>
                <a:spcPct val="100000"/>
              </a:lnSpc>
            </a:pPr>
            <a:r>
              <a:rPr lang="en-US" sz="1600" b="1" dirty="0">
                <a:solidFill>
                  <a:srgbClr val="0B3C3D"/>
                </a:solidFill>
                <a:latin typeface="Quattrocento Sans" pitchFamily="34" charset="0"/>
                <a:ea typeface="Quattrocento Sans" pitchFamily="34" charset="-122"/>
                <a:cs typeface="Quattrocento Sans" pitchFamily="34" charset="-120"/>
              </a:rPr>
              <a:t>Focus on Different Customer Groups</a:t>
            </a:r>
            <a:endParaRPr lang="en-US" sz="1600" dirty="0"/>
          </a:p>
        </p:txBody>
      </p:sp>
      <p:sp>
        <p:nvSpPr>
          <p:cNvPr id="35" name="Text 33"/>
          <p:cNvSpPr/>
          <p:nvPr/>
        </p:nvSpPr>
        <p:spPr>
          <a:xfrm>
            <a:off x="3022600" y="5187079"/>
            <a:ext cx="12725400" cy="309113"/>
          </a:xfrm>
          <a:prstGeom prst="rect">
            <a:avLst/>
          </a:prstGeom>
          <a:noFill/>
          <a:ln/>
        </p:spPr>
        <p:txBody>
          <a:bodyPr wrap="square" lIns="0" tIns="0" rIns="0" bIns="0" rtlCol="0" anchor="ctr"/>
          <a:lstStyle/>
          <a:p>
            <a:pPr>
              <a:lnSpc>
                <a:spcPct val="140000"/>
              </a:lnSpc>
            </a:pPr>
            <a:r>
              <a:rPr lang="en-US" sz="1400" dirty="0">
                <a:solidFill>
                  <a:srgbClr val="2D2D2D"/>
                </a:solidFill>
                <a:latin typeface="Quattrocento Sans" pitchFamily="34" charset="0"/>
                <a:ea typeface="Quattrocento Sans" pitchFamily="34" charset="-122"/>
                <a:cs typeface="Quattrocento Sans" pitchFamily="34" charset="-120"/>
              </a:rPr>
              <a:t>Use targeted strategies for different customer groups. Improve the experience of dissatisfied customers, retain loyal customers through engagement programs, and offer personalized promotions to high-value customers to increase revenue.</a:t>
            </a:r>
            <a:endParaRPr lang="en-US" dirty="0"/>
          </a:p>
        </p:txBody>
      </p:sp>
      <p:sp>
        <p:nvSpPr>
          <p:cNvPr id="36" name="Text 34"/>
          <p:cNvSpPr/>
          <p:nvPr/>
        </p:nvSpPr>
        <p:spPr>
          <a:xfrm>
            <a:off x="2540000" y="6126600"/>
            <a:ext cx="3810000" cy="279400"/>
          </a:xfrm>
          <a:prstGeom prst="rect">
            <a:avLst/>
          </a:prstGeom>
          <a:noFill/>
          <a:ln/>
        </p:spPr>
        <p:txBody>
          <a:bodyPr wrap="none" lIns="0" tIns="0" rIns="0" bIns="0" rtlCol="0" anchor="ctr"/>
          <a:lstStyle/>
          <a:p>
            <a:pPr>
              <a:lnSpc>
                <a:spcPct val="100000"/>
              </a:lnSpc>
            </a:pPr>
            <a:r>
              <a:rPr lang="en-US" sz="1400" kern="0" spc="300" dirty="0">
                <a:solidFill>
                  <a:srgbClr val="C58940"/>
                </a:solidFill>
                <a:latin typeface="Quattrocento Sans" pitchFamily="34" charset="0"/>
                <a:ea typeface="Quattrocento Sans" pitchFamily="34" charset="-122"/>
                <a:cs typeface="Quattrocento Sans" pitchFamily="34" charset="-120"/>
              </a:rPr>
              <a:t>IMPACT vs EFFORT MATRIX</a:t>
            </a:r>
            <a:endParaRPr lang="en-US" sz="1600" dirty="0"/>
          </a:p>
        </p:txBody>
      </p:sp>
      <p:graphicFrame>
        <p:nvGraphicFramePr>
          <p:cNvPr id="37" name="Table 0"/>
          <p:cNvGraphicFramePr>
            <a:graphicFrameLocks noGrp="1"/>
          </p:cNvGraphicFramePr>
          <p:nvPr>
            <p:extLst>
              <p:ext uri="{D42A27DB-BD31-4B8C-83A1-F6EECF244321}">
                <p14:modId xmlns:p14="http://schemas.microsoft.com/office/powerpoint/2010/main" val="1883982511"/>
              </p:ext>
            </p:extLst>
          </p:nvPr>
        </p:nvGraphicFramePr>
        <p:xfrm>
          <a:off x="2540000" y="6482200"/>
          <a:ext cx="13208000" cy="1651000"/>
        </p:xfrm>
        <a:graphic>
          <a:graphicData uri="http://schemas.openxmlformats.org/drawingml/2006/table">
            <a:tbl>
              <a:tblPr/>
              <a:tblGrid>
                <a:gridCol w="3962400">
                  <a:extLst>
                    <a:ext uri="{9D8B030D-6E8A-4147-A177-3AD203B41FA5}">
                      <a16:colId xmlns:a16="http://schemas.microsoft.com/office/drawing/2014/main" val="20000"/>
                    </a:ext>
                  </a:extLst>
                </a:gridCol>
                <a:gridCol w="2641600">
                  <a:extLst>
                    <a:ext uri="{9D8B030D-6E8A-4147-A177-3AD203B41FA5}">
                      <a16:colId xmlns:a16="http://schemas.microsoft.com/office/drawing/2014/main" val="20001"/>
                    </a:ext>
                  </a:extLst>
                </a:gridCol>
                <a:gridCol w="2641600">
                  <a:extLst>
                    <a:ext uri="{9D8B030D-6E8A-4147-A177-3AD203B41FA5}">
                      <a16:colId xmlns:a16="http://schemas.microsoft.com/office/drawing/2014/main" val="20002"/>
                    </a:ext>
                  </a:extLst>
                </a:gridCol>
                <a:gridCol w="3962400">
                  <a:extLst>
                    <a:ext uri="{9D8B030D-6E8A-4147-A177-3AD203B41FA5}">
                      <a16:colId xmlns:a16="http://schemas.microsoft.com/office/drawing/2014/main" val="20003"/>
                    </a:ext>
                  </a:extLst>
                </a:gridCol>
              </a:tblGrid>
              <a:tr h="412750">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Priority</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Impact</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Effort</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Expected Outcome</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B3C3D"/>
                    </a:solidFill>
                  </a:tcPr>
                </a:tc>
                <a:extLst>
                  <a:ext uri="{0D108BD9-81ED-4DB2-BD59-A6C34878D82A}">
                    <a16:rowId xmlns:a16="http://schemas.microsoft.com/office/drawing/2014/main" val="10000"/>
                  </a:ext>
                </a:extLst>
              </a:tr>
              <a:tr h="412750">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1. Early Retention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High</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Medium</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Improved repeat purchase potential</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2750">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2. Delivery Optimization</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High</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High</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Reduced delivery delays</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4E5E5"/>
                    </a:solidFill>
                  </a:tcPr>
                </a:tc>
                <a:extLst>
                  <a:ext uri="{0D108BD9-81ED-4DB2-BD59-A6C34878D82A}">
                    <a16:rowId xmlns:a16="http://schemas.microsoft.com/office/drawing/2014/main" val="10002"/>
                  </a:ext>
                </a:extLst>
              </a:tr>
              <a:tr h="412750">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3. Medium Discounts</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Medium</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Low</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400" u="none" dirty="0">
                          <a:solidFill>
                            <a:srgbClr val="2D2D2D"/>
                          </a:solidFill>
                          <a:latin typeface="微软雅黑" pitchFamily="34" charset="0"/>
                          <a:ea typeface="微软雅黑" pitchFamily="34" charset="-122"/>
                          <a:cs typeface="微软雅黑" pitchFamily="34" charset="-120"/>
                        </a:rPr>
                        <a:t>Improved profitability potential</a:t>
                      </a:r>
                      <a:endParaRPr lang="en-US" sz="1400" dirty="0">
                        <a:latin typeface="微软雅黑" charset="0"/>
                        <a:ea typeface="微软雅黑" charset="0"/>
                        <a:cs typeface="微软雅黑" charset="0"/>
                      </a:endParaRPr>
                    </a:p>
                  </a:txBody>
                  <a:tcPr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B3C3D"/>
          </a:solidFill>
          <a:ln/>
        </p:spPr>
        <p:txBody>
          <a:bodyPr/>
          <a:lstStyle/>
          <a:p>
            <a:endParaRPr lang="en-IN"/>
          </a:p>
        </p:txBody>
      </p:sp>
      <p:sp>
        <p:nvSpPr>
          <p:cNvPr id="3" name="Shape 1"/>
          <p:cNvSpPr/>
          <p:nvPr/>
        </p:nvSpPr>
        <p:spPr>
          <a:xfrm>
            <a:off x="177800" y="177800"/>
            <a:ext cx="457200" cy="457200"/>
          </a:xfrm>
          <a:prstGeom prst="ellipse">
            <a:avLst/>
          </a:prstGeom>
          <a:solidFill>
            <a:srgbClr val="FFFFFF">
              <a:alpha val="12549"/>
            </a:srgbClr>
          </a:solidFill>
          <a:ln w="12700">
            <a:solidFill>
              <a:srgbClr val="C58940"/>
            </a:solidFill>
            <a:prstDash val="solid"/>
          </a:ln>
        </p:spPr>
        <p:txBody>
          <a:bodyPr/>
          <a:lstStyle/>
          <a:p>
            <a:endParaRPr lang="en-IN"/>
          </a:p>
        </p:txBody>
      </p:sp>
      <p:sp>
        <p:nvSpPr>
          <p:cNvPr id="4" name="Shape 2"/>
          <p:cNvSpPr/>
          <p:nvPr/>
        </p:nvSpPr>
        <p:spPr>
          <a:xfrm>
            <a:off x="0" y="5689600"/>
            <a:ext cx="2286000" cy="1168400"/>
          </a:xfrm>
          <a:prstGeom prst="rect">
            <a:avLst/>
          </a:prstGeom>
          <a:solidFill>
            <a:srgbClr val="0B3C3D"/>
          </a:solidFill>
          <a:ln/>
        </p:spPr>
        <p:txBody>
          <a:bodyPr/>
          <a:lstStyle/>
          <a:p>
            <a:endParaRPr lang="en-IN"/>
          </a:p>
        </p:txBody>
      </p:sp>
      <p:sp>
        <p:nvSpPr>
          <p:cNvPr id="5" name="Text 3"/>
          <p:cNvSpPr/>
          <p:nvPr/>
        </p:nvSpPr>
        <p:spPr>
          <a:xfrm>
            <a:off x="101600" y="10160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01 Project Overview</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02 Business Analytics</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03 Automation</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nSpc>
                <a:spcPct val="10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04 Machine Learning</a:t>
            </a:r>
            <a:endParaRPr lang="en-US" sz="1600" dirty="0"/>
          </a:p>
        </p:txBody>
      </p:sp>
      <p:sp>
        <p:nvSpPr>
          <p:cNvPr id="9" name="Text 7"/>
          <p:cNvSpPr/>
          <p:nvPr/>
        </p:nvSpPr>
        <p:spPr>
          <a:xfrm>
            <a:off x="101600" y="5689600"/>
            <a:ext cx="2184400" cy="11684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05 Recommendations</a:t>
            </a:r>
            <a:endParaRPr lang="en-US" sz="1600" dirty="0"/>
          </a:p>
        </p:txBody>
      </p:sp>
      <p:sp>
        <p:nvSpPr>
          <p:cNvPr id="10" name="Shape 8"/>
          <p:cNvSpPr/>
          <p:nvPr/>
        </p:nvSpPr>
        <p:spPr>
          <a:xfrm>
            <a:off x="1066800" y="7493000"/>
            <a:ext cx="152400" cy="152400"/>
          </a:xfrm>
          <a:prstGeom prst="diamond">
            <a:avLst/>
          </a:prstGeom>
          <a:solidFill>
            <a:srgbClr val="C58940"/>
          </a:solidFill>
          <a:ln/>
        </p:spPr>
        <p:txBody>
          <a:bodyPr/>
          <a:lstStyle/>
          <a:p>
            <a:endParaRPr lang="en-IN"/>
          </a:p>
        </p:txBody>
      </p:sp>
      <p:sp>
        <p:nvSpPr>
          <p:cNvPr id="11" name="Shape 9"/>
          <p:cNvSpPr/>
          <p:nvPr/>
        </p:nvSpPr>
        <p:spPr>
          <a:xfrm>
            <a:off x="2286000" y="0"/>
            <a:ext cx="13970000" cy="635000"/>
          </a:xfrm>
          <a:prstGeom prst="rect">
            <a:avLst/>
          </a:prstGeom>
          <a:solidFill>
            <a:srgbClr val="D4E5E5"/>
          </a:solidFill>
          <a:ln/>
        </p:spPr>
        <p:txBody>
          <a:bodyPr/>
          <a:lstStyle/>
          <a:p>
            <a:endParaRPr lang="en-IN"/>
          </a:p>
        </p:txBody>
      </p:sp>
      <p:sp>
        <p:nvSpPr>
          <p:cNvPr id="12" name="Text 10"/>
          <p:cNvSpPr/>
          <p:nvPr/>
        </p:nvSpPr>
        <p:spPr>
          <a:xfrm>
            <a:off x="2540000" y="0"/>
            <a:ext cx="12827000" cy="635000"/>
          </a:xfrm>
          <a:prstGeom prst="rect">
            <a:avLst/>
          </a:prstGeom>
          <a:noFill/>
          <a:ln/>
        </p:spPr>
        <p:txBody>
          <a:bodyPr wrap="none" lIns="0" tIns="0" rIns="0" bIns="0" rtlCol="0" anchor="ctr"/>
          <a:lstStyle/>
          <a:p>
            <a:pPr>
              <a:lnSpc>
                <a:spcPct val="100000"/>
              </a:lnSpc>
            </a:pPr>
            <a:r>
              <a:rPr lang="en-US" sz="2800" dirty="0">
                <a:solidFill>
                  <a:srgbClr val="0B3C3D"/>
                </a:solidFill>
                <a:latin typeface="Quattrocento Sans" pitchFamily="34" charset="0"/>
                <a:ea typeface="Quattrocento Sans" pitchFamily="34" charset="-122"/>
                <a:cs typeface="Quattrocento Sans" pitchFamily="34" charset="-120"/>
              </a:rPr>
              <a:t>05 Recommendations &gt; </a:t>
            </a:r>
            <a:r>
              <a:rPr lang="en-US" sz="2800" b="1" dirty="0">
                <a:solidFill>
                  <a:srgbClr val="0B3C3D"/>
                </a:solidFill>
                <a:latin typeface="Quattrocento Sans" pitchFamily="34" charset="0"/>
                <a:ea typeface="Quattrocento Sans" pitchFamily="34" charset="-122"/>
                <a:cs typeface="Quattrocento Sans" pitchFamily="34" charset="-120"/>
              </a:rPr>
              <a:t>Project Summary</a:t>
            </a:r>
            <a:endParaRPr lang="en-US" sz="2800" b="1" dirty="0"/>
          </a:p>
        </p:txBody>
      </p:sp>
      <p:sp>
        <p:nvSpPr>
          <p:cNvPr id="13" name="Text 11"/>
          <p:cNvSpPr/>
          <p:nvPr/>
        </p:nvSpPr>
        <p:spPr>
          <a:xfrm>
            <a:off x="15621000" y="0"/>
            <a:ext cx="635000" cy="635000"/>
          </a:xfrm>
          <a:prstGeom prst="rect">
            <a:avLst/>
          </a:prstGeom>
          <a:noFill/>
          <a:ln/>
        </p:spPr>
        <p:txBody>
          <a:bodyPr wrap="none" lIns="0" tIns="0" rIns="0" bIns="0" rtlCol="0" anchor="ctr"/>
          <a:lstStyle/>
          <a:p>
            <a:pPr algn="r">
              <a:lnSpc>
                <a:spcPct val="100000"/>
              </a:lnSpc>
            </a:pPr>
            <a:r>
              <a:rPr lang="en-US" sz="1300" dirty="0">
                <a:solidFill>
                  <a:srgbClr val="0B3C3D"/>
                </a:solidFill>
                <a:latin typeface="Quattrocento Sans" pitchFamily="34" charset="0"/>
                <a:ea typeface="Quattrocento Sans" pitchFamily="34" charset="-122"/>
                <a:cs typeface="Quattrocento Sans" pitchFamily="34" charset="-120"/>
              </a:rPr>
              <a:t>31</a:t>
            </a:r>
            <a:endParaRPr lang="en-US" sz="1600" dirty="0"/>
          </a:p>
        </p:txBody>
      </p:sp>
      <p:sp>
        <p:nvSpPr>
          <p:cNvPr id="14" name="Text 12"/>
          <p:cNvSpPr/>
          <p:nvPr/>
        </p:nvSpPr>
        <p:spPr>
          <a:xfrm>
            <a:off x="2540000" y="863600"/>
            <a:ext cx="13208000" cy="457200"/>
          </a:xfrm>
          <a:prstGeom prst="rect">
            <a:avLst/>
          </a:prstGeom>
          <a:noFill/>
          <a:ln/>
        </p:spPr>
        <p:txBody>
          <a:bodyPr wrap="none" lIns="0" tIns="0" rIns="0" bIns="0" rtlCol="0" anchor="ctr"/>
          <a:lstStyle/>
          <a:p>
            <a:pPr>
              <a:lnSpc>
                <a:spcPct val="100000"/>
              </a:lnSpc>
            </a:pPr>
            <a:r>
              <a:rPr lang="en-US" sz="2400" b="1" dirty="0">
                <a:solidFill>
                  <a:srgbClr val="0B3C3D"/>
                </a:solidFill>
                <a:latin typeface="Aptos" panose="020B0004020202020204" pitchFamily="34" charset="0"/>
                <a:ea typeface="QuattrocentoSans" pitchFamily="34" charset="-122"/>
                <a:cs typeface="QuattrocentoSans" pitchFamily="34" charset="-120"/>
              </a:rPr>
              <a:t>Strong retention patterns, operational gaps, and clear growth opportunities identified</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lang="en-IN"/>
          </a:p>
        </p:txBody>
      </p:sp>
      <p:sp>
        <p:nvSpPr>
          <p:cNvPr id="16" name="Shape 14"/>
          <p:cNvSpPr/>
          <p:nvPr/>
        </p:nvSpPr>
        <p:spPr>
          <a:xfrm>
            <a:off x="2540000" y="1744619"/>
            <a:ext cx="6350000" cy="2032000"/>
          </a:xfrm>
          <a:prstGeom prst="rect">
            <a:avLst/>
          </a:prstGeom>
          <a:solidFill>
            <a:srgbClr val="0B3C3D"/>
          </a:solidFill>
          <a:ln/>
        </p:spPr>
        <p:txBody>
          <a:bodyPr/>
          <a:lstStyle/>
          <a:p>
            <a:endParaRPr lang="en-IN"/>
          </a:p>
        </p:txBody>
      </p:sp>
      <p:sp>
        <p:nvSpPr>
          <p:cNvPr id="17" name="Text 15"/>
          <p:cNvSpPr/>
          <p:nvPr/>
        </p:nvSpPr>
        <p:spPr>
          <a:xfrm>
            <a:off x="2692400" y="1846219"/>
            <a:ext cx="6045200" cy="304800"/>
          </a:xfrm>
          <a:prstGeom prst="rect">
            <a:avLst/>
          </a:prstGeom>
          <a:noFill/>
          <a:ln/>
        </p:spPr>
        <p:txBody>
          <a:bodyPr wrap="none" lIns="0" tIns="0" rIns="0" bIns="0" rtlCol="0" anchor="ctr"/>
          <a:lstStyle/>
          <a:p>
            <a:pPr>
              <a:lnSpc>
                <a:spcPct val="100000"/>
              </a:lnSpc>
            </a:pPr>
            <a:r>
              <a:rPr lang="en-US" sz="1400" b="1" dirty="0">
                <a:solidFill>
                  <a:srgbClr val="C58940"/>
                </a:solidFill>
                <a:latin typeface="Quattrocento Sans" pitchFamily="34" charset="0"/>
                <a:ea typeface="Quattrocento Sans" pitchFamily="34" charset="-122"/>
                <a:cs typeface="Quattrocento Sans" pitchFamily="34" charset="-120"/>
              </a:rPr>
              <a:t>CUSTOMER BEHAVIOR INSIGHTS</a:t>
            </a:r>
            <a:endParaRPr lang="en-US" sz="1600" dirty="0"/>
          </a:p>
        </p:txBody>
      </p:sp>
      <p:sp>
        <p:nvSpPr>
          <p:cNvPr id="18" name="Text 16"/>
          <p:cNvSpPr/>
          <p:nvPr/>
        </p:nvSpPr>
        <p:spPr>
          <a:xfrm>
            <a:off x="2692400" y="2201819"/>
            <a:ext cx="6045200" cy="1473200"/>
          </a:xfrm>
          <a:prstGeom prst="rect">
            <a:avLst/>
          </a:prstGeom>
          <a:noFill/>
          <a:ln/>
        </p:spPr>
        <p:txBody>
          <a:bodyPr wrap="square" lIns="0" tIns="0" rIns="0" bIns="0" rtlCol="0" anchor="ctr"/>
          <a:lstStyle/>
          <a:p>
            <a:pPr>
              <a:lnSpc>
                <a:spcPct val="15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Strong early retention patterns with 50.44% repeat purchase rate. Repeat purchase behavior contributes significantly to recurring business activity. Lifestyle categories dominate acquisition and retention.</a:t>
            </a:r>
            <a:endParaRPr lang="en-US" sz="1500" dirty="0"/>
          </a:p>
        </p:txBody>
      </p:sp>
      <p:sp>
        <p:nvSpPr>
          <p:cNvPr id="19" name="Shape 17"/>
          <p:cNvSpPr/>
          <p:nvPr/>
        </p:nvSpPr>
        <p:spPr>
          <a:xfrm>
            <a:off x="9144000" y="1744619"/>
            <a:ext cx="6604000" cy="2032000"/>
          </a:xfrm>
          <a:prstGeom prst="rect">
            <a:avLst/>
          </a:prstGeom>
          <a:solidFill>
            <a:srgbClr val="1A5C5C"/>
          </a:solidFill>
          <a:ln/>
        </p:spPr>
        <p:txBody>
          <a:bodyPr/>
          <a:lstStyle/>
          <a:p>
            <a:endParaRPr lang="en-IN"/>
          </a:p>
        </p:txBody>
      </p:sp>
      <p:sp>
        <p:nvSpPr>
          <p:cNvPr id="20" name="Text 18"/>
          <p:cNvSpPr/>
          <p:nvPr/>
        </p:nvSpPr>
        <p:spPr>
          <a:xfrm>
            <a:off x="9296400" y="1846219"/>
            <a:ext cx="6299200" cy="304800"/>
          </a:xfrm>
          <a:prstGeom prst="rect">
            <a:avLst/>
          </a:prstGeom>
          <a:noFill/>
          <a:ln/>
        </p:spPr>
        <p:txBody>
          <a:bodyPr wrap="none" lIns="0" tIns="0" rIns="0" bIns="0" rtlCol="0" anchor="ctr"/>
          <a:lstStyle/>
          <a:p>
            <a:pPr>
              <a:lnSpc>
                <a:spcPct val="100000"/>
              </a:lnSpc>
            </a:pPr>
            <a:r>
              <a:rPr lang="en-US" sz="1400" b="1" dirty="0">
                <a:solidFill>
                  <a:srgbClr val="C58940"/>
                </a:solidFill>
                <a:latin typeface="Quattrocento Sans" pitchFamily="34" charset="0"/>
                <a:ea typeface="Quattrocento Sans" pitchFamily="34" charset="-122"/>
                <a:cs typeface="Quattrocento Sans" pitchFamily="34" charset="-120"/>
              </a:rPr>
              <a:t>OPERATIONAL FINDINGS</a:t>
            </a:r>
            <a:endParaRPr lang="en-US" sz="1600" dirty="0"/>
          </a:p>
        </p:txBody>
      </p:sp>
      <p:sp>
        <p:nvSpPr>
          <p:cNvPr id="21" name="Text 19"/>
          <p:cNvSpPr/>
          <p:nvPr/>
        </p:nvSpPr>
        <p:spPr>
          <a:xfrm>
            <a:off x="9296400" y="2201819"/>
            <a:ext cx="6299200" cy="1473200"/>
          </a:xfrm>
          <a:prstGeom prst="rect">
            <a:avLst/>
          </a:prstGeom>
          <a:noFill/>
          <a:ln/>
        </p:spPr>
        <p:txBody>
          <a:bodyPr wrap="square" lIns="0" tIns="0" rIns="0" bIns="0" rtlCol="0" anchor="ctr"/>
          <a:lstStyle/>
          <a:p>
            <a:pPr>
              <a:lnSpc>
                <a:spcPct val="15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Delivery delays (67%) are the most critical challenge, yet customer satisfaction remains stable (4.09 rating). Systemic logistics improvements are the top priority.</a:t>
            </a:r>
            <a:endParaRPr lang="en-US" sz="1500" dirty="0"/>
          </a:p>
        </p:txBody>
      </p:sp>
      <p:sp>
        <p:nvSpPr>
          <p:cNvPr id="22" name="Shape 20"/>
          <p:cNvSpPr/>
          <p:nvPr/>
        </p:nvSpPr>
        <p:spPr>
          <a:xfrm>
            <a:off x="2540000" y="3979819"/>
            <a:ext cx="6350000" cy="2032000"/>
          </a:xfrm>
          <a:prstGeom prst="rect">
            <a:avLst/>
          </a:prstGeom>
          <a:solidFill>
            <a:srgbClr val="C58940"/>
          </a:solidFill>
          <a:ln/>
        </p:spPr>
        <p:txBody>
          <a:bodyPr/>
          <a:lstStyle/>
          <a:p>
            <a:endParaRPr lang="en-IN"/>
          </a:p>
        </p:txBody>
      </p:sp>
      <p:sp>
        <p:nvSpPr>
          <p:cNvPr id="23" name="Text 21"/>
          <p:cNvSpPr/>
          <p:nvPr/>
        </p:nvSpPr>
        <p:spPr>
          <a:xfrm>
            <a:off x="2692400" y="4081419"/>
            <a:ext cx="6045200" cy="304800"/>
          </a:xfrm>
          <a:prstGeom prst="rect">
            <a:avLst/>
          </a:prstGeom>
          <a:noFill/>
          <a:ln/>
        </p:spPr>
        <p:txBody>
          <a:bodyPr wrap="none" lIns="0" tIns="0" rIns="0" bIns="0" rtlCol="0" anchor="ctr"/>
          <a:lstStyle/>
          <a:p>
            <a:pP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REVENUE &amp; PRICING INSIGHTS</a:t>
            </a:r>
            <a:endParaRPr lang="en-US" sz="1600" dirty="0"/>
          </a:p>
        </p:txBody>
      </p:sp>
      <p:sp>
        <p:nvSpPr>
          <p:cNvPr id="24" name="Text 22"/>
          <p:cNvSpPr/>
          <p:nvPr/>
        </p:nvSpPr>
        <p:spPr>
          <a:xfrm>
            <a:off x="2692400" y="4437019"/>
            <a:ext cx="6045200" cy="1473200"/>
          </a:xfrm>
          <a:prstGeom prst="rect">
            <a:avLst/>
          </a:prstGeom>
          <a:noFill/>
          <a:ln/>
        </p:spPr>
        <p:txBody>
          <a:bodyPr wrap="square" lIns="0" tIns="0" rIns="0" bIns="0" rtlCol="0" anchor="ctr"/>
          <a:lstStyle/>
          <a:p>
            <a:pPr>
              <a:lnSpc>
                <a:spcPct val="15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Mid-range and premium products generate the strongest revenue. Moderate discounts (11-25%) prove most effective. Revenue trends indicate recurring high-demand sales periods.</a:t>
            </a:r>
            <a:endParaRPr lang="en-US" sz="1500" dirty="0"/>
          </a:p>
        </p:txBody>
      </p:sp>
      <p:sp>
        <p:nvSpPr>
          <p:cNvPr id="25" name="Shape 23"/>
          <p:cNvSpPr/>
          <p:nvPr/>
        </p:nvSpPr>
        <p:spPr>
          <a:xfrm>
            <a:off x="9144000" y="3979819"/>
            <a:ext cx="6604000" cy="2032000"/>
          </a:xfrm>
          <a:prstGeom prst="rect">
            <a:avLst/>
          </a:prstGeom>
          <a:solidFill>
            <a:srgbClr val="1A7A7A"/>
          </a:solidFill>
          <a:ln/>
        </p:spPr>
        <p:txBody>
          <a:bodyPr/>
          <a:lstStyle/>
          <a:p>
            <a:endParaRPr lang="en-IN"/>
          </a:p>
        </p:txBody>
      </p:sp>
      <p:sp>
        <p:nvSpPr>
          <p:cNvPr id="26" name="Text 24"/>
          <p:cNvSpPr/>
          <p:nvPr/>
        </p:nvSpPr>
        <p:spPr>
          <a:xfrm>
            <a:off x="9296400" y="4081419"/>
            <a:ext cx="6299200" cy="304800"/>
          </a:xfrm>
          <a:prstGeom prst="rect">
            <a:avLst/>
          </a:prstGeom>
          <a:noFill/>
          <a:ln/>
        </p:spPr>
        <p:txBody>
          <a:bodyPr wrap="none" lIns="0" tIns="0" rIns="0" bIns="0" rtlCol="0" anchor="ctr"/>
          <a:lstStyle/>
          <a:p>
            <a:pP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ML &amp; SEGMENTATION</a:t>
            </a:r>
            <a:endParaRPr lang="en-US" sz="1600" dirty="0"/>
          </a:p>
        </p:txBody>
      </p:sp>
      <p:sp>
        <p:nvSpPr>
          <p:cNvPr id="27" name="Text 25"/>
          <p:cNvSpPr/>
          <p:nvPr/>
        </p:nvSpPr>
        <p:spPr>
          <a:xfrm>
            <a:off x="9296400" y="4437019"/>
            <a:ext cx="6299200" cy="1473200"/>
          </a:xfrm>
          <a:prstGeom prst="rect">
            <a:avLst/>
          </a:prstGeom>
          <a:noFill/>
          <a:ln/>
        </p:spPr>
        <p:txBody>
          <a:bodyPr wrap="square" lIns="0" tIns="0" rIns="0" bIns="0" rtlCol="0" anchor="ctr"/>
          <a:lstStyle/>
          <a:p>
            <a:pPr>
              <a:lnSpc>
                <a:spcPct val="15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Regression models showed weak predictive power due to missing operational drivers, while classification models achieved moderate performance in identifying repeat purchase and profitability patterns. Customer clustering successfully identified meaningful customer segments.</a:t>
            </a:r>
            <a:endParaRPr lang="en-US" sz="1500" dirty="0"/>
          </a:p>
        </p:txBody>
      </p:sp>
      <p:sp>
        <p:nvSpPr>
          <p:cNvPr id="28" name="Shape 26"/>
          <p:cNvSpPr/>
          <p:nvPr/>
        </p:nvSpPr>
        <p:spPr>
          <a:xfrm>
            <a:off x="2540000" y="7146329"/>
            <a:ext cx="13208000" cy="762000"/>
          </a:xfrm>
          <a:prstGeom prst="rect">
            <a:avLst/>
          </a:prstGeom>
          <a:solidFill>
            <a:srgbClr val="D4E5E5"/>
          </a:solidFill>
          <a:ln/>
        </p:spPr>
        <p:txBody>
          <a:bodyPr/>
          <a:lstStyle/>
          <a:p>
            <a:endParaRPr lang="en-IN"/>
          </a:p>
        </p:txBody>
      </p:sp>
      <p:sp>
        <p:nvSpPr>
          <p:cNvPr id="29" name="Text 27"/>
          <p:cNvSpPr/>
          <p:nvPr/>
        </p:nvSpPr>
        <p:spPr>
          <a:xfrm>
            <a:off x="2743200" y="7146329"/>
            <a:ext cx="12801600" cy="762000"/>
          </a:xfrm>
          <a:prstGeom prst="rect">
            <a:avLst/>
          </a:prstGeom>
          <a:noFill/>
          <a:ln/>
        </p:spPr>
        <p:txBody>
          <a:bodyPr wrap="square" lIns="0" tIns="0" rIns="0" bIns="0" rtlCol="0" anchor="ctr"/>
          <a:lstStyle/>
          <a:p>
            <a:pPr>
              <a:lnSpc>
                <a:spcPct val="100000"/>
              </a:lnSpc>
            </a:pPr>
            <a:r>
              <a:rPr lang="en-US" sz="1600" b="1" dirty="0">
                <a:solidFill>
                  <a:srgbClr val="2D2D2D"/>
                </a:solidFill>
                <a:latin typeface="Quattrocento Sans" pitchFamily="34" charset="0"/>
                <a:ea typeface="Quattrocento Sans" pitchFamily="34" charset="-122"/>
                <a:cs typeface="Quattrocento Sans" pitchFamily="34" charset="-120"/>
              </a:rPr>
              <a:t>Project Summary:</a:t>
            </a:r>
            <a:r>
              <a:rPr lang="en-US" sz="1600" dirty="0">
                <a:solidFill>
                  <a:srgbClr val="2D2D2D"/>
                </a:solidFill>
                <a:latin typeface="Quattrocento Sans" pitchFamily="34" charset="0"/>
                <a:ea typeface="Quattrocento Sans" pitchFamily="34" charset="-122"/>
                <a:cs typeface="Quattrocento Sans" pitchFamily="34" charset="-120"/>
              </a:rPr>
              <a:t> The project successfully combined business analytics, statistical validation, SQL automation, and machine learning techniques to generate actionable e-commerce insights and identify key opportunities for retention, operational improvement, and customer-focused growth.</a:t>
            </a:r>
            <a:endParaRPr lang="en-US"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0" y="1371600"/>
            <a:ext cx="16256000" cy="3810000"/>
          </a:xfrm>
          <a:prstGeom prst="rect">
            <a:avLst/>
          </a:prstGeom>
          <a:gradFill flip="none" rotWithShape="1">
            <a:gsLst>
              <a:gs pos="0">
                <a:srgbClr val="082828"/>
              </a:gs>
              <a:gs pos="50000">
                <a:srgbClr val="0B3C3D"/>
              </a:gs>
              <a:gs pos="100000">
                <a:srgbClr val="1A5C5C"/>
              </a:gs>
            </a:gsLst>
            <a:lin ang="5400000" scaled="1"/>
          </a:gradFill>
          <a:ln/>
        </p:spPr>
        <p:txBody>
          <a:bodyPr/>
          <a:lstStyle/>
          <a:p>
            <a:endParaRPr lang="en-IN"/>
          </a:p>
        </p:txBody>
      </p:sp>
      <p:sp>
        <p:nvSpPr>
          <p:cNvPr id="3" name="Text 1"/>
          <p:cNvSpPr/>
          <p:nvPr/>
        </p:nvSpPr>
        <p:spPr>
          <a:xfrm>
            <a:off x="1016000" y="1879600"/>
            <a:ext cx="11430000" cy="1016000"/>
          </a:xfrm>
          <a:prstGeom prst="rect">
            <a:avLst/>
          </a:prstGeom>
          <a:noFill/>
          <a:ln/>
        </p:spPr>
        <p:txBody>
          <a:bodyPr wrap="none" lIns="0" tIns="0" rIns="0" bIns="0" rtlCol="0" anchor="ctr"/>
          <a:lstStyle/>
          <a:p>
            <a:pPr>
              <a:lnSpc>
                <a:spcPct val="100000"/>
              </a:lnSpc>
            </a:pPr>
            <a:r>
              <a:rPr lang="en-US" sz="6400" b="1" dirty="0">
                <a:solidFill>
                  <a:srgbClr val="FFFFFF"/>
                </a:solidFill>
                <a:latin typeface="Quattrocento Sans" pitchFamily="34" charset="0"/>
                <a:ea typeface="Quattrocento Sans" pitchFamily="34" charset="-122"/>
                <a:cs typeface="Quattrocento Sans" pitchFamily="34" charset="-120"/>
              </a:rPr>
              <a:t>THANK YOU</a:t>
            </a:r>
            <a:endParaRPr lang="en-US" sz="1600" dirty="0"/>
          </a:p>
        </p:txBody>
      </p:sp>
      <p:sp>
        <p:nvSpPr>
          <p:cNvPr id="4" name="Text 2"/>
          <p:cNvSpPr/>
          <p:nvPr/>
        </p:nvSpPr>
        <p:spPr>
          <a:xfrm>
            <a:off x="1016000" y="3022600"/>
            <a:ext cx="11430000" cy="457200"/>
          </a:xfrm>
          <a:prstGeom prst="rect">
            <a:avLst/>
          </a:prstGeom>
          <a:noFill/>
          <a:ln/>
        </p:spPr>
        <p:txBody>
          <a:bodyPr wrap="none" lIns="0" tIns="0" rIns="0" bIns="0" rtlCol="0" anchor="ctr"/>
          <a:lstStyle/>
          <a:p>
            <a:pPr>
              <a:lnSpc>
                <a:spcPct val="100000"/>
              </a:lnSpc>
            </a:pPr>
            <a:r>
              <a:rPr lang="en-US" sz="1800" kern="0" spc="400" dirty="0">
                <a:solidFill>
                  <a:srgbClr val="FFFFFF">
                    <a:alpha val="66667"/>
                  </a:srgbClr>
                </a:solidFill>
                <a:latin typeface="Quattrocento Sans" pitchFamily="34" charset="0"/>
                <a:ea typeface="Quattrocento Sans" pitchFamily="34" charset="-122"/>
                <a:cs typeface="Quattrocento Sans" pitchFamily="34" charset="-120"/>
              </a:rPr>
              <a:t>QUESTIONS &amp; DISCUSSION</a:t>
            </a:r>
            <a:endParaRPr lang="en-US" sz="1600" dirty="0"/>
          </a:p>
        </p:txBody>
      </p:sp>
      <p:sp>
        <p:nvSpPr>
          <p:cNvPr id="11" name="Shape 9"/>
          <p:cNvSpPr/>
          <p:nvPr/>
        </p:nvSpPr>
        <p:spPr>
          <a:xfrm>
            <a:off x="12065000" y="5461000"/>
            <a:ext cx="3556000" cy="3175000"/>
          </a:xfrm>
          <a:prstGeom prst="rect">
            <a:avLst/>
          </a:prstGeom>
          <a:solidFill>
            <a:srgbClr val="0B3C3D">
              <a:alpha val="3922"/>
            </a:srgbClr>
          </a:solidFill>
          <a:ln w="12700">
            <a:solidFill>
              <a:srgbClr val="0B3C3D">
                <a:alpha val="14510"/>
              </a:srgbClr>
            </a:solidFill>
            <a:prstDash val="solid"/>
          </a:ln>
        </p:spPr>
        <p:txBody>
          <a:bodyPr/>
          <a:lstStyle/>
          <a:p>
            <a:endParaRPr lang="en-IN"/>
          </a:p>
        </p:txBody>
      </p:sp>
      <p:sp>
        <p:nvSpPr>
          <p:cNvPr id="12" name="Shape 10"/>
          <p:cNvSpPr/>
          <p:nvPr/>
        </p:nvSpPr>
        <p:spPr>
          <a:xfrm>
            <a:off x="12573000" y="5969000"/>
            <a:ext cx="2540000" cy="2159000"/>
          </a:xfrm>
          <a:prstGeom prst="rect">
            <a:avLst/>
          </a:prstGeom>
          <a:solidFill>
            <a:srgbClr val="0B3C3D">
              <a:alpha val="3137"/>
            </a:srgbClr>
          </a:solidFill>
          <a:ln w="12700">
            <a:solidFill>
              <a:srgbClr val="0B3C3D">
                <a:alpha val="25098"/>
              </a:srgbClr>
            </a:solidFill>
            <a:prstDash val="solid"/>
          </a:ln>
        </p:spPr>
        <p:txBody>
          <a:bodyPr/>
          <a:lstStyle/>
          <a:p>
            <a:endParaRPr lang="en-IN"/>
          </a:p>
        </p:txBody>
      </p:sp>
      <p:sp>
        <p:nvSpPr>
          <p:cNvPr id="13" name="Shape 11"/>
          <p:cNvSpPr/>
          <p:nvPr/>
        </p:nvSpPr>
        <p:spPr>
          <a:xfrm>
            <a:off x="13081000" y="6477000"/>
            <a:ext cx="1524000" cy="1143000"/>
          </a:xfrm>
          <a:prstGeom prst="rect">
            <a:avLst/>
          </a:prstGeom>
          <a:solidFill>
            <a:srgbClr val="0B3C3D">
              <a:alpha val="1961"/>
            </a:srgbClr>
          </a:solidFill>
          <a:ln w="25400">
            <a:solidFill>
              <a:srgbClr val="0B3C3D">
                <a:alpha val="33333"/>
              </a:srgbClr>
            </a:solidFill>
            <a:prstDash val="solid"/>
          </a:ln>
        </p:spPr>
        <p:txBody>
          <a:bodyPr/>
          <a:lstStyle/>
          <a:p>
            <a:endParaRPr lang="en-IN"/>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7998</TotalTime>
  <Words>3477</Words>
  <Application>Microsoft Office PowerPoint</Application>
  <PresentationFormat>Custom</PresentationFormat>
  <Paragraphs>653</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Aptos</vt:lpstr>
      <vt:lpstr>Calibri</vt:lpstr>
      <vt:lpstr>Quattrocento Sans</vt:lpstr>
      <vt:lpstr>微软雅黑</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Customer Behavior &amp; Retention Analysis</dc:title>
  <dc:subject>E-Commerce Customer Behavior &amp; Retention Analysis</dc:subject>
  <dc:creator>Kimi</dc:creator>
  <cp:lastModifiedBy>Shahnawaz Nawaz</cp:lastModifiedBy>
  <cp:revision>30</cp:revision>
  <dcterms:created xsi:type="dcterms:W3CDTF">2026-06-03T06:17:19Z</dcterms:created>
  <dcterms:modified xsi:type="dcterms:W3CDTF">2026-07-01T19:27:25Z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{"Label":"E-Commerce Customer Behavior &amp; Retention Analysis","ContentProducer":"001191110108MACG2KBH8F10000","ProduceID":"19e8c183-1dc2-8c96-8000-000042dcb57a","ReservedCode1":"","ContentPropagator":"001191110108MACG2KBH8F20000","PropagateID":"19e8c183-1d</vt:lpwstr>
  </property>
</Properties>
</file>